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여기서 본인의 실제 장애 경험담을 넣어 주십시오 — 날짜와 서비스명이 구체적일수록 좋습니다.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모든 페이지·리소스 즉시 검색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(로컬 7종은 현재 비활성 — 표준 라우팅 대응)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 경로는 현재 설계 원칙(ADR-001/010)에 따라 비활성이며 해당 질문은 표준 라우팅이 대응합니다.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섹션은 알람과 변경 이력을 자동 수집해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1691640"/>
            <a:ext cx="7772400" cy="777240"/>
          </a:xfrm>
          <a:prstGeom prst="rect">
            <a:avLst/>
          </a:prstGeom>
          <a:noFill/>
          <a:ln/>
        </p:spPr>
        <p:txBody>
          <a:bodyPr wrap="square" lIns="0" tIns="0" rIns="0" bIns="0" rtlCol="0" anchor="ctr"/>
          <a:lstStyle/>
          <a:p>
            <a:pPr indent="0" marL="0">
              <a:buNone/>
            </a:pPr>
            <a:r>
              <a:rPr lang="en-US" sz="4400" b="1" spc="-150" kern="0" dirty="0">
                <a:solidFill>
                  <a:srgbClr val="FFFFFF"/>
                </a:solidFill>
                <a:latin typeface="Pretendard" pitchFamily="34" charset="0"/>
                <a:ea typeface="Pretendard" pitchFamily="34" charset="-122"/>
                <a:cs typeface="Pretendard" pitchFamily="34" charset="-120"/>
              </a:rPr>
              <a:t>AWSops</a:t>
            </a:r>
            <a:endParaRPr lang="en-US" sz="4400" dirty="0"/>
          </a:p>
        </p:txBody>
      </p:sp>
      <p:sp>
        <p:nvSpPr>
          <p:cNvPr id="3" name="Text 1"/>
          <p:cNvSpPr/>
          <p:nvPr/>
        </p:nvSpPr>
        <p:spPr>
          <a:xfrm>
            <a:off x="384048" y="2423160"/>
            <a:ext cx="7772400" cy="502920"/>
          </a:xfrm>
          <a:prstGeom prst="rect">
            <a:avLst/>
          </a:prstGeom>
          <a:noFill/>
          <a:ln/>
        </p:spPr>
        <p:txBody>
          <a:bodyPr wrap="square" lIns="0" tIns="0" rIns="0" bIns="0" rtlCol="0" anchor="ctr"/>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AI 기반 AWS · Kubernetes 통합 운영 대시보드</a:t>
            </a:r>
            <a:endParaRPr lang="en-US" sz="2600" dirty="0"/>
          </a:p>
        </p:txBody>
      </p:sp>
      <p:sp>
        <p:nvSpPr>
          <p:cNvPr id="4" name="Text 2"/>
          <p:cNvSpPr/>
          <p:nvPr/>
        </p:nvSpPr>
        <p:spPr>
          <a:xfrm>
            <a:off x="384048" y="3703320"/>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오준석</a:t>
            </a:r>
            <a:endParaRPr lang="en-US" sz="1400" dirty="0"/>
          </a:p>
        </p:txBody>
      </p:sp>
      <p:sp>
        <p:nvSpPr>
          <p:cNvPr id="5" name="Text 3"/>
          <p:cNvSpPr/>
          <p:nvPr/>
        </p:nvSpPr>
        <p:spPr>
          <a:xfrm>
            <a:off x="384048" y="3950208"/>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Solutions Architect</a:t>
            </a:r>
            <a:endParaRPr lang="en-US" sz="1400" dirty="0"/>
          </a:p>
        </p:txBody>
      </p:sp>
      <p:sp>
        <p:nvSpPr>
          <p:cNvPr id="6" name="Text 4"/>
          <p:cNvSpPr/>
          <p:nvPr/>
        </p:nvSpPr>
        <p:spPr>
          <a:xfrm>
            <a:off x="384048" y="4197096"/>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AWS</a:t>
            </a:r>
            <a:endParaRPr lang="en-US" sz="1400" dirty="0"/>
          </a:p>
        </p:txBody>
      </p:sp>
      <p:sp>
        <p:nvSpPr>
          <p:cNvPr id="7" name="Text 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Agenda</a:t>
            </a:r>
            <a:endParaRPr lang="en-US" sz="2600" dirty="0"/>
          </a:p>
        </p:txBody>
      </p:sp>
      <p:sp>
        <p:nvSpPr>
          <p:cNvPr id="3" name="Text 1"/>
          <p:cNvSpPr/>
          <p:nvPr/>
        </p:nvSpPr>
        <p:spPr>
          <a:xfrm>
            <a:off x="658368" y="1097280"/>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01</a:t>
            </a:r>
            <a:endParaRPr lang="en-US" sz="2200" dirty="0"/>
          </a:p>
        </p:txBody>
      </p:sp>
      <p:sp>
        <p:nvSpPr>
          <p:cNvPr id="4" name="Text 2"/>
          <p:cNvSpPr/>
          <p:nvPr/>
        </p:nvSpPr>
        <p:spPr>
          <a:xfrm>
            <a:off x="1252728" y="1207008"/>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Why AWSops</a:t>
            </a:r>
            <a:endParaRPr lang="en-US" sz="1400" dirty="0"/>
          </a:p>
        </p:txBody>
      </p:sp>
      <p:sp>
        <p:nvSpPr>
          <p:cNvPr id="5" name="Text 3"/>
          <p:cNvSpPr/>
          <p:nvPr/>
        </p:nvSpPr>
        <p:spPr>
          <a:xfrm>
            <a:off x="1252728" y="1481328"/>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새벽 3시의 장애 대응 · 운영팀 공통의 4대 페인</a:t>
            </a:r>
            <a:endParaRPr lang="en-US" sz="900" dirty="0"/>
          </a:p>
        </p:txBody>
      </p:sp>
      <p:sp>
        <p:nvSpPr>
          <p:cNvPr id="6" name="Text 4"/>
          <p:cNvSpPr/>
          <p:nvPr/>
        </p:nvSpPr>
        <p:spPr>
          <a:xfrm>
            <a:off x="658368" y="1755648"/>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02</a:t>
            </a:r>
            <a:endParaRPr lang="en-US" sz="2200" dirty="0"/>
          </a:p>
        </p:txBody>
      </p:sp>
      <p:sp>
        <p:nvSpPr>
          <p:cNvPr id="7" name="Text 5"/>
          <p:cNvSpPr/>
          <p:nvPr/>
        </p:nvSpPr>
        <p:spPr>
          <a:xfrm>
            <a:off x="1252728" y="1865376"/>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AWSops 개요</a:t>
            </a:r>
            <a:endParaRPr lang="en-US" sz="1400" dirty="0"/>
          </a:p>
        </p:txBody>
      </p:sp>
      <p:sp>
        <p:nvSpPr>
          <p:cNvPr id="8" name="Text 6"/>
          <p:cNvSpPr/>
          <p:nvPr/>
        </p:nvSpPr>
        <p:spPr>
          <a:xfrm>
            <a:off x="1252728" y="2139696"/>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읽기 전용 통합 대시보드 · 운영 동선 그대로의 기능 맵</a:t>
            </a:r>
            <a:endParaRPr lang="en-US" sz="900" dirty="0"/>
          </a:p>
        </p:txBody>
      </p:sp>
      <p:sp>
        <p:nvSpPr>
          <p:cNvPr id="9" name="Text 7"/>
          <p:cNvSpPr/>
          <p:nvPr/>
        </p:nvSpPr>
        <p:spPr>
          <a:xfrm>
            <a:off x="658368" y="2414016"/>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03</a:t>
            </a:r>
            <a:endParaRPr lang="en-US" sz="2200" dirty="0"/>
          </a:p>
        </p:txBody>
      </p:sp>
      <p:sp>
        <p:nvSpPr>
          <p:cNvPr id="10" name="Text 8"/>
          <p:cNvSpPr/>
          <p:nvPr/>
        </p:nvSpPr>
        <p:spPr>
          <a:xfrm>
            <a:off x="1252728" y="2523744"/>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Architecture Deep Dive</a:t>
            </a:r>
            <a:endParaRPr lang="en-US" sz="1400" dirty="0"/>
          </a:p>
        </p:txBody>
      </p:sp>
      <p:sp>
        <p:nvSpPr>
          <p:cNvPr id="11" name="Text 9"/>
          <p:cNvSpPr/>
          <p:nvPr/>
        </p:nvSpPr>
        <p:spPr>
          <a:xfrm>
            <a:off x="1252728" y="2798064"/>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프라이빗 엣지 · Bedrock AgentCore · 비동기 워커 · 안전 설계</a:t>
            </a:r>
            <a:endParaRPr lang="en-US" sz="900" dirty="0"/>
          </a:p>
        </p:txBody>
      </p:sp>
      <p:sp>
        <p:nvSpPr>
          <p:cNvPr id="12" name="Text 10"/>
          <p:cNvSpPr/>
          <p:nvPr/>
        </p:nvSpPr>
        <p:spPr>
          <a:xfrm>
            <a:off x="658368" y="3072384"/>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04</a:t>
            </a:r>
            <a:endParaRPr lang="en-US" sz="2200" dirty="0"/>
          </a:p>
        </p:txBody>
      </p:sp>
      <p:sp>
        <p:nvSpPr>
          <p:cNvPr id="13" name="Text 11"/>
          <p:cNvSpPr/>
          <p:nvPr/>
        </p:nvSpPr>
        <p:spPr>
          <a:xfrm>
            <a:off x="1252728" y="3182112"/>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핵심 가치 4</a:t>
            </a:r>
            <a:endParaRPr lang="en-US" sz="1400" dirty="0"/>
          </a:p>
        </p:txBody>
      </p:sp>
      <p:sp>
        <p:nvSpPr>
          <p:cNvPr id="14" name="Text 12"/>
          <p:cNvSpPr/>
          <p:nvPr/>
        </p:nvSpPr>
        <p:spPr>
          <a:xfrm>
            <a:off x="1252728" y="3456432"/>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멀티계정 가시성 · 장애 RCA · 비용 원인 분석 · WA 자동 진단</a:t>
            </a:r>
            <a:endParaRPr lang="en-US" sz="900" dirty="0"/>
          </a:p>
        </p:txBody>
      </p:sp>
      <p:sp>
        <p:nvSpPr>
          <p:cNvPr id="15" name="Text 13"/>
          <p:cNvSpPr/>
          <p:nvPr/>
        </p:nvSpPr>
        <p:spPr>
          <a:xfrm>
            <a:off x="658368" y="3730752"/>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05</a:t>
            </a:r>
            <a:endParaRPr lang="en-US" sz="2200" dirty="0"/>
          </a:p>
        </p:txBody>
      </p:sp>
      <p:sp>
        <p:nvSpPr>
          <p:cNvPr id="16" name="Text 14"/>
          <p:cNvSpPr/>
          <p:nvPr/>
        </p:nvSpPr>
        <p:spPr>
          <a:xfrm>
            <a:off x="1252728" y="3840480"/>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Live Demo &amp; Q&amp;A</a:t>
            </a:r>
            <a:endParaRPr lang="en-US" sz="1400" dirty="0"/>
          </a:p>
        </p:txBody>
      </p:sp>
      <p:sp>
        <p:nvSpPr>
          <p:cNvPr id="17" name="Text 15"/>
          <p:cNvSpPr/>
          <p:nvPr/>
        </p:nvSpPr>
        <p:spPr>
          <a:xfrm>
            <a:off x="1252728" y="4114800"/>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실운영 환경 시나리오 4종 · 예상 질문 선답변</a:t>
            </a:r>
            <a:endParaRPr lang="en-US" sz="900" dirty="0"/>
          </a:p>
        </p:txBody>
      </p:sp>
      <p:sp>
        <p:nvSpPr>
          <p:cNvPr id="18" name="Text 1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19" name="Text 1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01. Why AWSops</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새벽 3시의 운영 현장</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장애의 절반은 '이동 시간'이다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200" dirty="0"/>
          </a:p>
        </p:txBody>
      </p:sp>
      <p:sp>
        <p:nvSpPr>
          <p:cNvPr id="4" name="Shape 2"/>
          <p:cNvSpPr/>
          <p:nvPr/>
        </p:nvSpPr>
        <p:spPr>
          <a:xfrm>
            <a:off x="384048" y="1371600"/>
            <a:ext cx="1170432" cy="841248"/>
          </a:xfrm>
          <a:prstGeom prst="rect">
            <a:avLst/>
          </a:prstGeom>
          <a:solidFill>
            <a:srgbClr val="1C1F30"/>
          </a:solidFill>
          <a:ln w="9525">
            <a:solidFill>
              <a:srgbClr val="2A2F44"/>
            </a:solidFill>
            <a:prstDash val="solid"/>
          </a:ln>
        </p:spPr>
      </p:sp>
      <p:sp>
        <p:nvSpPr>
          <p:cNvPr id="5" name="Shape 3"/>
          <p:cNvSpPr/>
          <p:nvPr/>
        </p:nvSpPr>
        <p:spPr>
          <a:xfrm>
            <a:off x="384048" y="1371600"/>
            <a:ext cx="1170432" cy="54864"/>
          </a:xfrm>
          <a:prstGeom prst="rect">
            <a:avLst/>
          </a:prstGeom>
          <a:solidFill>
            <a:srgbClr val="FF693C"/>
          </a:solidFill>
          <a:ln/>
        </p:spPr>
      </p:sp>
      <p:sp>
        <p:nvSpPr>
          <p:cNvPr id="6" name="Text 4"/>
          <p:cNvSpPr/>
          <p:nvPr/>
        </p:nvSpPr>
        <p:spPr>
          <a:xfrm>
            <a:off x="43891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CloudWatch</a:t>
            </a:r>
            <a:endParaRPr lang="en-US" sz="1050" dirty="0"/>
          </a:p>
        </p:txBody>
      </p:sp>
      <p:sp>
        <p:nvSpPr>
          <p:cNvPr id="7" name="Text 5"/>
          <p:cNvSpPr/>
          <p:nvPr/>
        </p:nvSpPr>
        <p:spPr>
          <a:xfrm>
            <a:off x="43891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알람 수신</a:t>
            </a:r>
            <a:endParaRPr lang="en-US" sz="750" dirty="0"/>
          </a:p>
        </p:txBody>
      </p:sp>
      <p:sp>
        <p:nvSpPr>
          <p:cNvPr id="8" name="Shape 6"/>
          <p:cNvSpPr/>
          <p:nvPr/>
        </p:nvSpPr>
        <p:spPr>
          <a:xfrm>
            <a:off x="1591056" y="1719072"/>
            <a:ext cx="201168" cy="146304"/>
          </a:xfrm>
          <a:prstGeom prst="rightArrow">
            <a:avLst/>
          </a:prstGeom>
          <a:solidFill>
            <a:srgbClr val="7B8198"/>
          </a:solidFill>
          <a:ln/>
        </p:spPr>
      </p:sp>
      <p:sp>
        <p:nvSpPr>
          <p:cNvPr id="9" name="Shape 7"/>
          <p:cNvSpPr/>
          <p:nvPr/>
        </p:nvSpPr>
        <p:spPr>
          <a:xfrm>
            <a:off x="1828800" y="1371600"/>
            <a:ext cx="1170432" cy="841248"/>
          </a:xfrm>
          <a:prstGeom prst="rect">
            <a:avLst/>
          </a:prstGeom>
          <a:solidFill>
            <a:srgbClr val="1C1F30"/>
          </a:solidFill>
          <a:ln w="9525">
            <a:solidFill>
              <a:srgbClr val="2A2F44"/>
            </a:solidFill>
            <a:prstDash val="solid"/>
          </a:ln>
        </p:spPr>
      </p:sp>
      <p:sp>
        <p:nvSpPr>
          <p:cNvPr id="10" name="Shape 8"/>
          <p:cNvSpPr/>
          <p:nvPr/>
        </p:nvSpPr>
        <p:spPr>
          <a:xfrm>
            <a:off x="1828800" y="1371600"/>
            <a:ext cx="1170432" cy="54864"/>
          </a:xfrm>
          <a:prstGeom prst="rect">
            <a:avLst/>
          </a:prstGeom>
          <a:solidFill>
            <a:srgbClr val="5A9CFF"/>
          </a:solidFill>
          <a:ln/>
        </p:spPr>
      </p:sp>
      <p:sp>
        <p:nvSpPr>
          <p:cNvPr id="11" name="Text 9"/>
          <p:cNvSpPr/>
          <p:nvPr/>
        </p:nvSpPr>
        <p:spPr>
          <a:xfrm>
            <a:off x="1883664"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EC2 · VPC 콘솔</a:t>
            </a:r>
            <a:endParaRPr lang="en-US" sz="1050" dirty="0"/>
          </a:p>
        </p:txBody>
      </p:sp>
      <p:sp>
        <p:nvSpPr>
          <p:cNvPr id="12" name="Text 10"/>
          <p:cNvSpPr/>
          <p:nvPr/>
        </p:nvSpPr>
        <p:spPr>
          <a:xfrm>
            <a:off x="1883664"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리소스 상태</a:t>
            </a:r>
            <a:endParaRPr lang="en-US" sz="750" dirty="0"/>
          </a:p>
        </p:txBody>
      </p:sp>
      <p:sp>
        <p:nvSpPr>
          <p:cNvPr id="13" name="Shape 11"/>
          <p:cNvSpPr/>
          <p:nvPr/>
        </p:nvSpPr>
        <p:spPr>
          <a:xfrm>
            <a:off x="3035808" y="1719072"/>
            <a:ext cx="201168" cy="146304"/>
          </a:xfrm>
          <a:prstGeom prst="rightArrow">
            <a:avLst/>
          </a:prstGeom>
          <a:solidFill>
            <a:srgbClr val="7B8198"/>
          </a:solidFill>
          <a:ln/>
        </p:spPr>
      </p:sp>
      <p:sp>
        <p:nvSpPr>
          <p:cNvPr id="14" name="Shape 12"/>
          <p:cNvSpPr/>
          <p:nvPr/>
        </p:nvSpPr>
        <p:spPr>
          <a:xfrm>
            <a:off x="3273552" y="1371600"/>
            <a:ext cx="1170432" cy="841248"/>
          </a:xfrm>
          <a:prstGeom prst="rect">
            <a:avLst/>
          </a:prstGeom>
          <a:solidFill>
            <a:srgbClr val="1C1F30"/>
          </a:solidFill>
          <a:ln w="9525">
            <a:solidFill>
              <a:srgbClr val="2A2F44"/>
            </a:solidFill>
            <a:prstDash val="solid"/>
          </a:ln>
        </p:spPr>
      </p:sp>
      <p:sp>
        <p:nvSpPr>
          <p:cNvPr id="15" name="Shape 13"/>
          <p:cNvSpPr/>
          <p:nvPr/>
        </p:nvSpPr>
        <p:spPr>
          <a:xfrm>
            <a:off x="3273552" y="1371600"/>
            <a:ext cx="1170432" cy="54864"/>
          </a:xfrm>
          <a:prstGeom prst="rect">
            <a:avLst/>
          </a:prstGeom>
          <a:solidFill>
            <a:srgbClr val="5A9CFF"/>
          </a:solidFill>
          <a:ln/>
        </p:spPr>
      </p:sp>
      <p:sp>
        <p:nvSpPr>
          <p:cNvPr id="16" name="Text 14"/>
          <p:cNvSpPr/>
          <p:nvPr/>
        </p:nvSpPr>
        <p:spPr>
          <a:xfrm>
            <a:off x="3328416"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LB · TG 콘솔</a:t>
            </a:r>
            <a:endParaRPr lang="en-US" sz="1050" dirty="0"/>
          </a:p>
        </p:txBody>
      </p:sp>
      <p:sp>
        <p:nvSpPr>
          <p:cNvPr id="17" name="Text 15"/>
          <p:cNvSpPr/>
          <p:nvPr/>
        </p:nvSpPr>
        <p:spPr>
          <a:xfrm>
            <a:off x="3328416"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타깃 health</a:t>
            </a:r>
            <a:endParaRPr lang="en-US" sz="750" dirty="0"/>
          </a:p>
        </p:txBody>
      </p:sp>
      <p:sp>
        <p:nvSpPr>
          <p:cNvPr id="18" name="Shape 16"/>
          <p:cNvSpPr/>
          <p:nvPr/>
        </p:nvSpPr>
        <p:spPr>
          <a:xfrm>
            <a:off x="4480560" y="1719072"/>
            <a:ext cx="201168" cy="146304"/>
          </a:xfrm>
          <a:prstGeom prst="rightArrow">
            <a:avLst/>
          </a:prstGeom>
          <a:solidFill>
            <a:srgbClr val="7B8198"/>
          </a:solidFill>
          <a:ln/>
        </p:spPr>
      </p:sp>
      <p:sp>
        <p:nvSpPr>
          <p:cNvPr id="19" name="Shape 17"/>
          <p:cNvSpPr/>
          <p:nvPr/>
        </p:nvSpPr>
        <p:spPr>
          <a:xfrm>
            <a:off x="4718304" y="1371600"/>
            <a:ext cx="1170432" cy="841248"/>
          </a:xfrm>
          <a:prstGeom prst="rect">
            <a:avLst/>
          </a:prstGeom>
          <a:solidFill>
            <a:srgbClr val="1C1F30"/>
          </a:solidFill>
          <a:ln w="9525">
            <a:solidFill>
              <a:srgbClr val="2A2F44"/>
            </a:solidFill>
            <a:prstDash val="solid"/>
          </a:ln>
        </p:spPr>
      </p:sp>
      <p:sp>
        <p:nvSpPr>
          <p:cNvPr id="20" name="Shape 18"/>
          <p:cNvSpPr/>
          <p:nvPr/>
        </p:nvSpPr>
        <p:spPr>
          <a:xfrm>
            <a:off x="4718304" y="1371600"/>
            <a:ext cx="1170432" cy="54864"/>
          </a:xfrm>
          <a:prstGeom prst="rect">
            <a:avLst/>
          </a:prstGeom>
          <a:solidFill>
            <a:srgbClr val="5A9CFF"/>
          </a:solidFill>
          <a:ln/>
        </p:spPr>
      </p:sp>
      <p:sp>
        <p:nvSpPr>
          <p:cNvPr id="21" name="Text 19"/>
          <p:cNvSpPr/>
          <p:nvPr/>
        </p:nvSpPr>
        <p:spPr>
          <a:xfrm>
            <a:off x="4773168"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kubectl / K9s</a:t>
            </a:r>
            <a:endParaRPr lang="en-US" sz="1050" dirty="0"/>
          </a:p>
        </p:txBody>
      </p:sp>
      <p:sp>
        <p:nvSpPr>
          <p:cNvPr id="22" name="Text 20"/>
          <p:cNvSpPr/>
          <p:nvPr/>
        </p:nvSpPr>
        <p:spPr>
          <a:xfrm>
            <a:off x="4773168"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파드 · 이벤트</a:t>
            </a:r>
            <a:endParaRPr lang="en-US" sz="750" dirty="0"/>
          </a:p>
        </p:txBody>
      </p:sp>
      <p:sp>
        <p:nvSpPr>
          <p:cNvPr id="23" name="Shape 21"/>
          <p:cNvSpPr/>
          <p:nvPr/>
        </p:nvSpPr>
        <p:spPr>
          <a:xfrm>
            <a:off x="5925312" y="1719072"/>
            <a:ext cx="201168" cy="146304"/>
          </a:xfrm>
          <a:prstGeom prst="rightArrow">
            <a:avLst/>
          </a:prstGeom>
          <a:solidFill>
            <a:srgbClr val="7B8198"/>
          </a:solidFill>
          <a:ln/>
        </p:spPr>
      </p:sp>
      <p:sp>
        <p:nvSpPr>
          <p:cNvPr id="24" name="Shape 22"/>
          <p:cNvSpPr/>
          <p:nvPr/>
        </p:nvSpPr>
        <p:spPr>
          <a:xfrm>
            <a:off x="6163056" y="1371600"/>
            <a:ext cx="1170432" cy="841248"/>
          </a:xfrm>
          <a:prstGeom prst="rect">
            <a:avLst/>
          </a:prstGeom>
          <a:solidFill>
            <a:srgbClr val="1C1F30"/>
          </a:solidFill>
          <a:ln w="9525">
            <a:solidFill>
              <a:srgbClr val="2A2F44"/>
            </a:solidFill>
            <a:prstDash val="solid"/>
          </a:ln>
        </p:spPr>
      </p:sp>
      <p:sp>
        <p:nvSpPr>
          <p:cNvPr id="25" name="Shape 23"/>
          <p:cNvSpPr/>
          <p:nvPr/>
        </p:nvSpPr>
        <p:spPr>
          <a:xfrm>
            <a:off x="6163056" y="1371600"/>
            <a:ext cx="1170432" cy="54864"/>
          </a:xfrm>
          <a:prstGeom prst="rect">
            <a:avLst/>
          </a:prstGeom>
          <a:solidFill>
            <a:srgbClr val="5A9CFF"/>
          </a:solidFill>
          <a:ln/>
        </p:spPr>
      </p:sp>
      <p:sp>
        <p:nvSpPr>
          <p:cNvPr id="26" name="Text 24"/>
          <p:cNvSpPr/>
          <p:nvPr/>
        </p:nvSpPr>
        <p:spPr>
          <a:xfrm>
            <a:off x="6217920"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Grafana</a:t>
            </a:r>
            <a:endParaRPr lang="en-US" sz="1050" dirty="0"/>
          </a:p>
        </p:txBody>
      </p:sp>
      <p:sp>
        <p:nvSpPr>
          <p:cNvPr id="27" name="Text 25"/>
          <p:cNvSpPr/>
          <p:nvPr/>
        </p:nvSpPr>
        <p:spPr>
          <a:xfrm>
            <a:off x="6217920"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메트릭 대조</a:t>
            </a:r>
            <a:endParaRPr lang="en-US" sz="750" dirty="0"/>
          </a:p>
        </p:txBody>
      </p:sp>
      <p:sp>
        <p:nvSpPr>
          <p:cNvPr id="28" name="Shape 26"/>
          <p:cNvSpPr/>
          <p:nvPr/>
        </p:nvSpPr>
        <p:spPr>
          <a:xfrm>
            <a:off x="7370064" y="1719072"/>
            <a:ext cx="201168" cy="146304"/>
          </a:xfrm>
          <a:prstGeom prst="rightArrow">
            <a:avLst/>
          </a:prstGeom>
          <a:solidFill>
            <a:srgbClr val="7B8198"/>
          </a:solidFill>
          <a:ln/>
        </p:spPr>
      </p:sp>
      <p:sp>
        <p:nvSpPr>
          <p:cNvPr id="29" name="Shape 27"/>
          <p:cNvSpPr/>
          <p:nvPr/>
        </p:nvSpPr>
        <p:spPr>
          <a:xfrm>
            <a:off x="7607808" y="1371600"/>
            <a:ext cx="1170432" cy="841248"/>
          </a:xfrm>
          <a:prstGeom prst="rect">
            <a:avLst/>
          </a:prstGeom>
          <a:solidFill>
            <a:srgbClr val="1C1F30"/>
          </a:solidFill>
          <a:ln w="9525">
            <a:solidFill>
              <a:srgbClr val="2A2F44"/>
            </a:solidFill>
            <a:prstDash val="solid"/>
          </a:ln>
        </p:spPr>
      </p:sp>
      <p:sp>
        <p:nvSpPr>
          <p:cNvPr id="30" name="Shape 28"/>
          <p:cNvSpPr/>
          <p:nvPr/>
        </p:nvSpPr>
        <p:spPr>
          <a:xfrm>
            <a:off x="7607808" y="1371600"/>
            <a:ext cx="1170432" cy="54864"/>
          </a:xfrm>
          <a:prstGeom prst="rect">
            <a:avLst/>
          </a:prstGeom>
          <a:solidFill>
            <a:srgbClr val="5A9CFF"/>
          </a:solidFill>
          <a:ln/>
        </p:spPr>
      </p:sp>
      <p:sp>
        <p:nvSpPr>
          <p:cNvPr id="31" name="Text 29"/>
          <p:cNvSpPr/>
          <p:nvPr/>
        </p:nvSpPr>
        <p:spPr>
          <a:xfrm>
            <a:off x="766267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Cost Explorer</a:t>
            </a:r>
            <a:endParaRPr lang="en-US" sz="1050" dirty="0"/>
          </a:p>
        </p:txBody>
      </p:sp>
      <p:sp>
        <p:nvSpPr>
          <p:cNvPr id="32" name="Text 30"/>
          <p:cNvSpPr/>
          <p:nvPr/>
        </p:nvSpPr>
        <p:spPr>
          <a:xfrm>
            <a:off x="766267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비용 영향</a:t>
            </a:r>
            <a:endParaRPr lang="en-US" sz="750" dirty="0"/>
          </a:p>
        </p:txBody>
      </p:sp>
      <p:sp>
        <p:nvSpPr>
          <p:cNvPr id="33" name="Shape 31"/>
          <p:cNvSpPr/>
          <p:nvPr/>
        </p:nvSpPr>
        <p:spPr>
          <a:xfrm>
            <a:off x="384048" y="2542032"/>
            <a:ext cx="8375904" cy="1481328"/>
          </a:xfrm>
          <a:prstGeom prst="rect">
            <a:avLst/>
          </a:prstGeom>
          <a:solidFill>
            <a:srgbClr val="1C1F30"/>
          </a:solidFill>
          <a:ln w="9525">
            <a:solidFill>
              <a:srgbClr val="2A2F44"/>
            </a:solidFill>
            <a:prstDash val="solid"/>
          </a:ln>
        </p:spPr>
      </p:sp>
      <p:sp>
        <p:nvSpPr>
          <p:cNvPr id="34" name="Text 32"/>
          <p:cNvSpPr/>
          <p:nvPr/>
        </p:nvSpPr>
        <p:spPr>
          <a:xfrm>
            <a:off x="566928" y="2706624"/>
            <a:ext cx="8010144" cy="1188720"/>
          </a:xfrm>
          <a:prstGeom prst="rect">
            <a:avLst/>
          </a:prstGeom>
          <a:noFill/>
          <a:ln/>
        </p:spPr>
        <p:txBody>
          <a:bodyPr wrap="square" lIns="0" tIns="0" rIns="0" bIns="0" rtlCol="0" anchor="t"/>
          <a:lstStyle/>
          <a:p>
            <a:pPr indent="0" marL="0">
              <a:lnSpc>
                <a:spcPct val="125000"/>
              </a:lnSpc>
              <a:buNone/>
            </a:pPr>
            <a:r>
              <a:rPr lang="en-US" sz="1300" b="1" dirty="0">
                <a:solidFill>
                  <a:srgbClr val="FFFFFF"/>
                </a:solidFill>
                <a:latin typeface="Pretendard" pitchFamily="34" charset="0"/>
                <a:ea typeface="Pretendard" pitchFamily="34" charset="-122"/>
                <a:cs typeface="Pretendard" pitchFamily="34" charset="-120"/>
              </a:rPr>
              <a:t>운영자가 매번 반복하는 질문 — "어디부터 봐야 하지?"
</a:t>
            </a:r>
            <a:endParaRPr lang="en-US" sz="1300" dirty="0"/>
          </a:p>
          <a:p>
            <a:pPr indent="0" marL="0">
              <a:lnSpc>
                <a:spcPct val="125000"/>
              </a:lnSpc>
              <a:buNone/>
            </a:pPr>
            <a:r>
              <a:rPr lang="en-US" sz="1150" dirty="0">
                <a:solidFill>
                  <a:srgbClr val="E2E4EC"/>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30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6+</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장애 1건에 오가는 콘솔 수 (현장 경험치)</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30분+</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원인이 있는 화면에 도달하기까지</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90%</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'어디를 볼까'에 쓰는 대응 시간 비중</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정작 필요했던 것 — 통합 상황판</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도구는 늘었는데, 상황판은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1243584"/>
          </a:xfrm>
          <a:prstGeom prst="rect">
            <a:avLst/>
          </a:prstGeom>
          <a:solidFill>
            <a:srgbClr val="1C1F30"/>
          </a:solidFill>
          <a:ln w="9525">
            <a:solidFill>
              <a:srgbClr val="2A2F44"/>
            </a:solidFill>
            <a:prstDash val="solid"/>
          </a:ln>
        </p:spPr>
      </p:sp>
      <p:sp>
        <p:nvSpPr>
          <p:cNvPr id="6" name="Text 4"/>
          <p:cNvSpPr/>
          <p:nvPr/>
        </p:nvSpPr>
        <p:spPr>
          <a:xfrm>
            <a:off x="530352"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도구 파편화</a:t>
            </a:r>
            <a:endParaRPr lang="en-US" sz="1400" dirty="0"/>
          </a:p>
        </p:txBody>
      </p:sp>
      <p:sp>
        <p:nvSpPr>
          <p:cNvPr id="7" name="Text 5"/>
          <p:cNvSpPr/>
          <p:nvPr/>
        </p:nvSpPr>
        <p:spPr>
          <a:xfrm>
            <a:off x="530352"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000" dirty="0"/>
          </a:p>
        </p:txBody>
      </p:sp>
      <p:sp>
        <p:nvSpPr>
          <p:cNvPr id="8" name="Shape 6"/>
          <p:cNvSpPr/>
          <p:nvPr/>
        </p:nvSpPr>
        <p:spPr>
          <a:xfrm>
            <a:off x="4617720" y="1298448"/>
            <a:ext cx="4142232" cy="54864"/>
          </a:xfrm>
          <a:prstGeom prst="rect">
            <a:avLst/>
          </a:prstGeom>
          <a:solidFill>
            <a:srgbClr val="E8825D"/>
          </a:solidFill>
          <a:ln/>
        </p:spPr>
      </p:sp>
      <p:sp>
        <p:nvSpPr>
          <p:cNvPr id="9" name="Shape 7"/>
          <p:cNvSpPr/>
          <p:nvPr/>
        </p:nvSpPr>
        <p:spPr>
          <a:xfrm>
            <a:off x="4617720" y="1353312"/>
            <a:ext cx="4142232" cy="1243584"/>
          </a:xfrm>
          <a:prstGeom prst="rect">
            <a:avLst/>
          </a:prstGeom>
          <a:solidFill>
            <a:srgbClr val="1C1F30"/>
          </a:solidFill>
          <a:ln w="9525">
            <a:solidFill>
              <a:srgbClr val="2A2F44"/>
            </a:solidFill>
            <a:prstDash val="solid"/>
          </a:ln>
        </p:spPr>
      </p:sp>
      <p:sp>
        <p:nvSpPr>
          <p:cNvPr id="10" name="Text 8"/>
          <p:cNvSpPr/>
          <p:nvPr/>
        </p:nvSpPr>
        <p:spPr>
          <a:xfrm>
            <a:off x="4764024"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장애 원인 파악 지연</a:t>
            </a:r>
            <a:endParaRPr lang="en-US" sz="1400" dirty="0"/>
          </a:p>
        </p:txBody>
      </p:sp>
      <p:sp>
        <p:nvSpPr>
          <p:cNvPr id="11" name="Text 9"/>
          <p:cNvSpPr/>
          <p:nvPr/>
        </p:nvSpPr>
        <p:spPr>
          <a:xfrm>
            <a:off x="4764024"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000" dirty="0"/>
          </a:p>
        </p:txBody>
      </p:sp>
      <p:sp>
        <p:nvSpPr>
          <p:cNvPr id="12" name="Shape 10"/>
          <p:cNvSpPr/>
          <p:nvPr/>
        </p:nvSpPr>
        <p:spPr>
          <a:xfrm>
            <a:off x="384048" y="2706624"/>
            <a:ext cx="4142232" cy="54864"/>
          </a:xfrm>
          <a:prstGeom prst="rect">
            <a:avLst/>
          </a:prstGeom>
          <a:solidFill>
            <a:srgbClr val="1FBA8C"/>
          </a:solidFill>
          <a:ln/>
        </p:spPr>
      </p:sp>
      <p:sp>
        <p:nvSpPr>
          <p:cNvPr id="13" name="Shape 11"/>
          <p:cNvSpPr/>
          <p:nvPr/>
        </p:nvSpPr>
        <p:spPr>
          <a:xfrm>
            <a:off x="384048" y="2761488"/>
            <a:ext cx="4142232" cy="1243584"/>
          </a:xfrm>
          <a:prstGeom prst="rect">
            <a:avLst/>
          </a:prstGeom>
          <a:solidFill>
            <a:srgbClr val="1C1F30"/>
          </a:solidFill>
          <a:ln w="9525">
            <a:solidFill>
              <a:srgbClr val="2A2F44"/>
            </a:solidFill>
            <a:prstDash val="solid"/>
          </a:ln>
        </p:spPr>
      </p:sp>
      <p:sp>
        <p:nvSpPr>
          <p:cNvPr id="14" name="Text 12"/>
          <p:cNvSpPr/>
          <p:nvPr/>
        </p:nvSpPr>
        <p:spPr>
          <a:xfrm>
            <a:off x="530352"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비용 급증 원인 불명</a:t>
            </a:r>
            <a:endParaRPr lang="en-US" sz="1400" dirty="0"/>
          </a:p>
        </p:txBody>
      </p:sp>
      <p:sp>
        <p:nvSpPr>
          <p:cNvPr id="15" name="Text 13"/>
          <p:cNvSpPr/>
          <p:nvPr/>
        </p:nvSpPr>
        <p:spPr>
          <a:xfrm>
            <a:off x="530352"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000" dirty="0"/>
          </a:p>
        </p:txBody>
      </p:sp>
      <p:sp>
        <p:nvSpPr>
          <p:cNvPr id="16" name="Shape 14"/>
          <p:cNvSpPr/>
          <p:nvPr/>
        </p:nvSpPr>
        <p:spPr>
          <a:xfrm>
            <a:off x="4617720" y="2706624"/>
            <a:ext cx="4142232" cy="54864"/>
          </a:xfrm>
          <a:prstGeom prst="rect">
            <a:avLst/>
          </a:prstGeom>
          <a:solidFill>
            <a:srgbClr val="5A9CFF"/>
          </a:solidFill>
          <a:ln/>
        </p:spPr>
      </p:sp>
      <p:sp>
        <p:nvSpPr>
          <p:cNvPr id="17" name="Shape 15"/>
          <p:cNvSpPr/>
          <p:nvPr/>
        </p:nvSpPr>
        <p:spPr>
          <a:xfrm>
            <a:off x="4617720" y="2761488"/>
            <a:ext cx="4142232" cy="1243584"/>
          </a:xfrm>
          <a:prstGeom prst="rect">
            <a:avLst/>
          </a:prstGeom>
          <a:solidFill>
            <a:srgbClr val="1C1F30"/>
          </a:solidFill>
          <a:ln w="9525">
            <a:solidFill>
              <a:srgbClr val="2A2F44"/>
            </a:solidFill>
            <a:prstDash val="solid"/>
          </a:ln>
        </p:spPr>
      </p:sp>
      <p:sp>
        <p:nvSpPr>
          <p:cNvPr id="18" name="Text 16"/>
          <p:cNvSpPr/>
          <p:nvPr/>
        </p:nvSpPr>
        <p:spPr>
          <a:xfrm>
            <a:off x="4764024"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멀티계정 · 대량 워크로드</a:t>
            </a:r>
            <a:endParaRPr lang="en-US" sz="1400" dirty="0"/>
          </a:p>
        </p:txBody>
      </p:sp>
      <p:sp>
        <p:nvSpPr>
          <p:cNvPr id="19" name="Text 17"/>
          <p:cNvSpPr/>
          <p:nvPr/>
        </p:nvSpPr>
        <p:spPr>
          <a:xfrm>
            <a:off x="4764024"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000" dirty="0"/>
          </a:p>
        </p:txBody>
      </p:sp>
      <p:sp>
        <p:nvSpPr>
          <p:cNvPr id="20" name="Text 18"/>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4/4</a:t>
            </a:r>
            <a:endParaRPr lang="en-US" sz="1600" dirty="0"/>
          </a:p>
        </p:txBody>
      </p:sp>
      <p:sp>
        <p:nvSpPr>
          <p:cNvPr id="21" name="Text 19"/>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오늘 화면으로 답할 페인의 수</a:t>
            </a:r>
            <a:endParaRPr lang="en-US" sz="750" dirty="0"/>
          </a:p>
        </p:txBody>
      </p:sp>
      <p:sp>
        <p:nvSpPr>
          <p:cNvPr id="22" name="Text 20"/>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a:t>
            </a:r>
            <a:endParaRPr lang="en-US" sz="1600" dirty="0"/>
          </a:p>
        </p:txBody>
      </p:sp>
      <p:sp>
        <p:nvSpPr>
          <p:cNvPr id="23" name="Text 21"/>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운영팀이 병행하는 관측 도구 (통상)</a:t>
            </a:r>
            <a:endParaRPr lang="en-US" sz="750" dirty="0"/>
          </a:p>
        </p:txBody>
      </p:sp>
      <p:sp>
        <p:nvSpPr>
          <p:cNvPr id="24" name="Text 22"/>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25" name="Text 23"/>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엔터프라이즈 평균 AWS 계정 규모</a:t>
            </a:r>
            <a:endParaRPr lang="en-US" sz="750" dirty="0"/>
          </a:p>
        </p:txBody>
      </p:sp>
      <p:sp>
        <p:nvSpPr>
          <p:cNvPr id="26" name="Text 24"/>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이 넷을 한 화면에 모은 기존 도구</a:t>
            </a:r>
            <a:endParaRPr lang="en-US" sz="750" dirty="0"/>
          </a:p>
        </p:txBody>
      </p:sp>
      <p:sp>
        <p:nvSpPr>
          <p:cNvPr id="28" name="Text 2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9" name="Text 2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02. AWSops 개요</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읽기 전용 통합 대시보드</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흩어진 계정과 도구를, 한 화면으로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200" dirty="0"/>
          </a:p>
        </p:txBody>
      </p:sp>
      <p:sp>
        <p:nvSpPr>
          <p:cNvPr id="4" name="Shape 2"/>
          <p:cNvSpPr/>
          <p:nvPr/>
        </p:nvSpPr>
        <p:spPr>
          <a:xfrm>
            <a:off x="384048" y="1261872"/>
            <a:ext cx="8375904" cy="841248"/>
          </a:xfrm>
          <a:prstGeom prst="rect">
            <a:avLst/>
          </a:prstGeom>
          <a:solidFill>
            <a:srgbClr val="1C1F30"/>
          </a:solidFill>
          <a:ln w="9525">
            <a:solidFill>
              <a:srgbClr val="2A2F44"/>
            </a:solidFill>
            <a:prstDash val="solid"/>
          </a:ln>
        </p:spPr>
      </p:sp>
      <p:sp>
        <p:nvSpPr>
          <p:cNvPr id="5" name="Text 3"/>
          <p:cNvSpPr/>
          <p:nvPr/>
        </p:nvSpPr>
        <p:spPr>
          <a:xfrm>
            <a:off x="603504" y="1371600"/>
            <a:ext cx="7936992" cy="640080"/>
          </a:xfrm>
          <a:prstGeom prst="rect">
            <a:avLst/>
          </a:prstGeom>
          <a:noFill/>
          <a:ln/>
        </p:spPr>
        <p:txBody>
          <a:bodyPr wrap="square" lIns="0" tIns="0" rIns="0" bIns="0" rtlCol="0" anchor="ctr"/>
          <a:lstStyle/>
          <a:p>
            <a:pPr indent="0" marL="0">
              <a:lnSpc>
                <a:spcPct val="120000"/>
              </a:lnSpc>
              <a:buNone/>
            </a:pPr>
            <a:r>
              <a:rPr lang="en-US" sz="1300" b="1" i="1" dirty="0">
                <a:solidFill>
                  <a:srgbClr val="FFFFFF"/>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00" dirty="0"/>
          </a:p>
        </p:txBody>
      </p:sp>
      <p:sp>
        <p:nvSpPr>
          <p:cNvPr id="6" name="Shape 4"/>
          <p:cNvSpPr/>
          <p:nvPr/>
        </p:nvSpPr>
        <p:spPr>
          <a:xfrm>
            <a:off x="384048" y="2249424"/>
            <a:ext cx="2731008" cy="54864"/>
          </a:xfrm>
          <a:prstGeom prst="rect">
            <a:avLst/>
          </a:prstGeom>
          <a:solidFill>
            <a:srgbClr val="5A9CFF"/>
          </a:solidFill>
          <a:ln/>
        </p:spPr>
      </p:sp>
      <p:sp>
        <p:nvSpPr>
          <p:cNvPr id="7" name="Shape 5"/>
          <p:cNvSpPr/>
          <p:nvPr/>
        </p:nvSpPr>
        <p:spPr>
          <a:xfrm>
            <a:off x="384048" y="2304288"/>
            <a:ext cx="2731008" cy="1737360"/>
          </a:xfrm>
          <a:prstGeom prst="rect">
            <a:avLst/>
          </a:prstGeom>
          <a:solidFill>
            <a:srgbClr val="1C1F30"/>
          </a:solidFill>
          <a:ln w="9525">
            <a:solidFill>
              <a:srgbClr val="2A2F44"/>
            </a:solidFill>
            <a:prstDash val="solid"/>
          </a:ln>
        </p:spPr>
      </p:sp>
      <p:sp>
        <p:nvSpPr>
          <p:cNvPr id="8" name="Text 6"/>
          <p:cNvSpPr/>
          <p:nvPr/>
        </p:nvSpPr>
        <p:spPr>
          <a:xfrm>
            <a:off x="512064"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INTEGRATION</a:t>
            </a:r>
            <a:endParaRPr lang="en-US" sz="800" dirty="0"/>
          </a:p>
        </p:txBody>
      </p:sp>
      <p:sp>
        <p:nvSpPr>
          <p:cNvPr id="9" name="Text 7"/>
          <p:cNvSpPr/>
          <p:nvPr/>
        </p:nvSpPr>
        <p:spPr>
          <a:xfrm>
            <a:off x="512064"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통합</a:t>
            </a:r>
            <a:endParaRPr lang="en-US" sz="1500" dirty="0"/>
          </a:p>
        </p:txBody>
      </p:sp>
      <p:sp>
        <p:nvSpPr>
          <p:cNvPr id="10" name="Text 8"/>
          <p:cNvSpPr/>
          <p:nvPr/>
        </p:nvSpPr>
        <p:spPr>
          <a:xfrm>
            <a:off x="512064"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950" dirty="0"/>
          </a:p>
        </p:txBody>
      </p:sp>
      <p:sp>
        <p:nvSpPr>
          <p:cNvPr id="11" name="Shape 9"/>
          <p:cNvSpPr/>
          <p:nvPr/>
        </p:nvSpPr>
        <p:spPr>
          <a:xfrm>
            <a:off x="3206496" y="2249424"/>
            <a:ext cx="2731008" cy="54864"/>
          </a:xfrm>
          <a:prstGeom prst="rect">
            <a:avLst/>
          </a:prstGeom>
          <a:solidFill>
            <a:srgbClr val="FF693C"/>
          </a:solidFill>
          <a:ln/>
        </p:spPr>
      </p:sp>
      <p:sp>
        <p:nvSpPr>
          <p:cNvPr id="12" name="Shape 10"/>
          <p:cNvSpPr/>
          <p:nvPr/>
        </p:nvSpPr>
        <p:spPr>
          <a:xfrm>
            <a:off x="3206496" y="2304288"/>
            <a:ext cx="2731008" cy="1737360"/>
          </a:xfrm>
          <a:prstGeom prst="rect">
            <a:avLst/>
          </a:prstGeom>
          <a:solidFill>
            <a:srgbClr val="1C1F30"/>
          </a:solidFill>
          <a:ln w="9525">
            <a:solidFill>
              <a:srgbClr val="2A2F44"/>
            </a:solidFill>
            <a:prstDash val="solid"/>
          </a:ln>
        </p:spPr>
      </p:sp>
      <p:sp>
        <p:nvSpPr>
          <p:cNvPr id="13" name="Text 11"/>
          <p:cNvSpPr/>
          <p:nvPr/>
        </p:nvSpPr>
        <p:spPr>
          <a:xfrm>
            <a:off x="3334512"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DIAGNOSIS</a:t>
            </a:r>
            <a:endParaRPr lang="en-US" sz="800" dirty="0"/>
          </a:p>
        </p:txBody>
      </p:sp>
      <p:sp>
        <p:nvSpPr>
          <p:cNvPr id="14" name="Text 12"/>
          <p:cNvSpPr/>
          <p:nvPr/>
        </p:nvSpPr>
        <p:spPr>
          <a:xfrm>
            <a:off x="3334512"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AI 진단</a:t>
            </a:r>
            <a:endParaRPr lang="en-US" sz="1500" dirty="0"/>
          </a:p>
        </p:txBody>
      </p:sp>
      <p:sp>
        <p:nvSpPr>
          <p:cNvPr id="15" name="Text 13"/>
          <p:cNvSpPr/>
          <p:nvPr/>
        </p:nvSpPr>
        <p:spPr>
          <a:xfrm>
            <a:off x="3334512"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950" dirty="0"/>
          </a:p>
        </p:txBody>
      </p:sp>
      <p:sp>
        <p:nvSpPr>
          <p:cNvPr id="16" name="Shape 14"/>
          <p:cNvSpPr/>
          <p:nvPr/>
        </p:nvSpPr>
        <p:spPr>
          <a:xfrm>
            <a:off x="6028944" y="2249424"/>
            <a:ext cx="2731008" cy="54864"/>
          </a:xfrm>
          <a:prstGeom prst="rect">
            <a:avLst/>
          </a:prstGeom>
          <a:solidFill>
            <a:srgbClr val="1FBA8C"/>
          </a:solidFill>
          <a:ln/>
        </p:spPr>
      </p:sp>
      <p:sp>
        <p:nvSpPr>
          <p:cNvPr id="17" name="Shape 15"/>
          <p:cNvSpPr/>
          <p:nvPr/>
        </p:nvSpPr>
        <p:spPr>
          <a:xfrm>
            <a:off x="6028944" y="2304288"/>
            <a:ext cx="2731008" cy="1737360"/>
          </a:xfrm>
          <a:prstGeom prst="rect">
            <a:avLst/>
          </a:prstGeom>
          <a:solidFill>
            <a:srgbClr val="1C1F30"/>
          </a:solidFill>
          <a:ln w="9525">
            <a:solidFill>
              <a:srgbClr val="2A2F44"/>
            </a:solidFill>
            <a:prstDash val="solid"/>
          </a:ln>
        </p:spPr>
      </p:sp>
      <p:sp>
        <p:nvSpPr>
          <p:cNvPr id="18" name="Text 16"/>
          <p:cNvSpPr/>
          <p:nvPr/>
        </p:nvSpPr>
        <p:spPr>
          <a:xfrm>
            <a:off x="6156960"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TRUST</a:t>
            </a:r>
            <a:endParaRPr lang="en-US" sz="800" dirty="0"/>
          </a:p>
        </p:txBody>
      </p:sp>
      <p:sp>
        <p:nvSpPr>
          <p:cNvPr id="19" name="Text 17"/>
          <p:cNvSpPr/>
          <p:nvPr/>
        </p:nvSpPr>
        <p:spPr>
          <a:xfrm>
            <a:off x="6156960"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읽기 전용</a:t>
            </a:r>
            <a:endParaRPr lang="en-US" sz="1500" dirty="0"/>
          </a:p>
        </p:txBody>
      </p:sp>
      <p:sp>
        <p:nvSpPr>
          <p:cNvPr id="20" name="Text 18"/>
          <p:cNvSpPr/>
          <p:nvPr/>
        </p:nvSpPr>
        <p:spPr>
          <a:xfrm>
            <a:off x="6156960"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950" dirty="0"/>
          </a:p>
        </p:txBody>
      </p:sp>
      <p:sp>
        <p:nvSpPr>
          <p:cNvPr id="21" name="Text 1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2" name="Text 2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챗 섹션 키 (정의 기준 — 게이트/플래그 의존)</a:t>
            </a:r>
            <a:endParaRPr lang="en-US" sz="750" dirty="0"/>
          </a:p>
        </p:txBody>
      </p:sp>
      <p:sp>
        <p:nvSpPr>
          <p:cNvPr id="23" name="Text 2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24" name="Text 2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도메인 전문 에이전트 게이트웨이</a:t>
            </a:r>
            <a:endParaRPr lang="en-US" sz="750" dirty="0"/>
          </a:p>
        </p:txBody>
      </p:sp>
      <p:sp>
        <p:nvSpPr>
          <p:cNvPr id="25" name="Text 2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6" name="Text 2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(등록 기준)</a:t>
            </a:r>
            <a:endParaRPr lang="en-US" sz="750" dirty="0"/>
          </a:p>
        </p:txBody>
      </p:sp>
      <p:sp>
        <p:nvSpPr>
          <p:cNvPr id="27" name="Text 2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8" name="Text 2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모니터링 대상 계정 조회 원칙</a:t>
            </a:r>
            <a:endParaRPr lang="en-US" sz="750" dirty="0"/>
          </a:p>
        </p:txBody>
      </p:sp>
      <p:sp>
        <p:nvSpPr>
          <p:cNvPr id="29" name="Text 2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0" name="Text 2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새벽 3시에 여는 화면만 모았다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개요부터 EKS 드릴다운까지 — 운영 동선 그대로의 메뉴 구성</a:t>
            </a:r>
            <a:endParaRPr lang="en-US" sz="1200" dirty="0"/>
          </a:p>
        </p:txBody>
      </p:sp>
      <p:sp>
        <p:nvSpPr>
          <p:cNvPr id="4" name="Shape 2"/>
          <p:cNvSpPr/>
          <p:nvPr/>
        </p:nvSpPr>
        <p:spPr>
          <a:xfrm>
            <a:off x="384048" y="1243584"/>
            <a:ext cx="2731008" cy="640080"/>
          </a:xfrm>
          <a:prstGeom prst="rect">
            <a:avLst/>
          </a:prstGeom>
          <a:solidFill>
            <a:srgbClr val="1C1F30"/>
          </a:solidFill>
          <a:ln w="9525">
            <a:solidFill>
              <a:srgbClr val="2A2F44"/>
            </a:solidFill>
            <a:prstDash val="solid"/>
          </a:ln>
        </p:spPr>
      </p:sp>
      <p:sp>
        <p:nvSpPr>
          <p:cNvPr id="5" name="Shape 3"/>
          <p:cNvSpPr/>
          <p:nvPr/>
        </p:nvSpPr>
        <p:spPr>
          <a:xfrm>
            <a:off x="384048" y="1243584"/>
            <a:ext cx="45720" cy="640080"/>
          </a:xfrm>
          <a:prstGeom prst="rect">
            <a:avLst/>
          </a:prstGeom>
          <a:solidFill>
            <a:srgbClr val="FF693C"/>
          </a:solidFill>
          <a:ln/>
        </p:spPr>
      </p:sp>
      <p:sp>
        <p:nvSpPr>
          <p:cNvPr id="6" name="Text 4"/>
          <p:cNvSpPr/>
          <p:nvPr/>
        </p:nvSpPr>
        <p:spPr>
          <a:xfrm>
            <a:off x="530352"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개요</a:t>
            </a:r>
            <a:endParaRPr lang="en-US" sz="1050" dirty="0"/>
          </a:p>
        </p:txBody>
      </p:sp>
      <p:sp>
        <p:nvSpPr>
          <p:cNvPr id="7" name="Text 5"/>
          <p:cNvSpPr/>
          <p:nvPr/>
        </p:nvSpPr>
        <p:spPr>
          <a:xfrm>
            <a:off x="530352"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AI 인사이트 · 보안 히어로 · 비용 KPI</a:t>
            </a:r>
            <a:endParaRPr lang="en-US" sz="800" dirty="0"/>
          </a:p>
        </p:txBody>
      </p:sp>
      <p:sp>
        <p:nvSpPr>
          <p:cNvPr id="8" name="Shape 6"/>
          <p:cNvSpPr/>
          <p:nvPr/>
        </p:nvSpPr>
        <p:spPr>
          <a:xfrm>
            <a:off x="3206496" y="1243584"/>
            <a:ext cx="2731008" cy="640080"/>
          </a:xfrm>
          <a:prstGeom prst="rect">
            <a:avLst/>
          </a:prstGeom>
          <a:solidFill>
            <a:srgbClr val="1C1F30"/>
          </a:solidFill>
          <a:ln w="9525">
            <a:solidFill>
              <a:srgbClr val="2A2F44"/>
            </a:solidFill>
            <a:prstDash val="solid"/>
          </a:ln>
        </p:spPr>
      </p:sp>
      <p:sp>
        <p:nvSpPr>
          <p:cNvPr id="9" name="Shape 7"/>
          <p:cNvSpPr/>
          <p:nvPr/>
        </p:nvSpPr>
        <p:spPr>
          <a:xfrm>
            <a:off x="3206496" y="1243584"/>
            <a:ext cx="45720" cy="640080"/>
          </a:xfrm>
          <a:prstGeom prst="rect">
            <a:avLst/>
          </a:prstGeom>
          <a:solidFill>
            <a:srgbClr val="FF693C"/>
          </a:solidFill>
          <a:ln/>
        </p:spPr>
      </p:sp>
      <p:sp>
        <p:nvSpPr>
          <p:cNvPr id="10" name="Text 8"/>
          <p:cNvSpPr/>
          <p:nvPr/>
        </p:nvSpPr>
        <p:spPr>
          <a:xfrm>
            <a:off x="3352800"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AI 진단</a:t>
            </a:r>
            <a:endParaRPr lang="en-US" sz="1050" dirty="0"/>
          </a:p>
        </p:txBody>
      </p:sp>
      <p:sp>
        <p:nvSpPr>
          <p:cNvPr id="11" name="Text 9"/>
          <p:cNvSpPr/>
          <p:nvPr/>
        </p:nvSpPr>
        <p:spPr>
          <a:xfrm>
            <a:off x="3352800"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WA 6기둥 리포트 · 건강 점수</a:t>
            </a:r>
            <a:endParaRPr lang="en-US" sz="800" dirty="0"/>
          </a:p>
        </p:txBody>
      </p:sp>
      <p:sp>
        <p:nvSpPr>
          <p:cNvPr id="12" name="Shape 10"/>
          <p:cNvSpPr/>
          <p:nvPr/>
        </p:nvSpPr>
        <p:spPr>
          <a:xfrm>
            <a:off x="6028944" y="1243584"/>
            <a:ext cx="2731008" cy="640080"/>
          </a:xfrm>
          <a:prstGeom prst="rect">
            <a:avLst/>
          </a:prstGeom>
          <a:solidFill>
            <a:srgbClr val="1C1F30"/>
          </a:solidFill>
          <a:ln w="9525">
            <a:solidFill>
              <a:srgbClr val="2A2F44"/>
            </a:solidFill>
            <a:prstDash val="solid"/>
          </a:ln>
        </p:spPr>
      </p:sp>
      <p:sp>
        <p:nvSpPr>
          <p:cNvPr id="13" name="Shape 11"/>
          <p:cNvSpPr/>
          <p:nvPr/>
        </p:nvSpPr>
        <p:spPr>
          <a:xfrm>
            <a:off x="6028944" y="1243584"/>
            <a:ext cx="45720" cy="640080"/>
          </a:xfrm>
          <a:prstGeom prst="rect">
            <a:avLst/>
          </a:prstGeom>
          <a:solidFill>
            <a:srgbClr val="FF693C"/>
          </a:solidFill>
          <a:ln/>
        </p:spPr>
      </p:sp>
      <p:sp>
        <p:nvSpPr>
          <p:cNvPr id="14" name="Text 12"/>
          <p:cNvSpPr/>
          <p:nvPr/>
        </p:nvSpPr>
        <p:spPr>
          <a:xfrm>
            <a:off x="6175248"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어시스턴트</a:t>
            </a:r>
            <a:endParaRPr lang="en-US" sz="1050" dirty="0"/>
          </a:p>
        </p:txBody>
      </p:sp>
      <p:sp>
        <p:nvSpPr>
          <p:cNvPr id="15" name="Text 13"/>
          <p:cNvSpPr/>
          <p:nvPr/>
        </p:nvSpPr>
        <p:spPr>
          <a:xfrm>
            <a:off x="6175248"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16개 섹션 AI 챗 · 슬래시 라우팅</a:t>
            </a:r>
            <a:endParaRPr lang="en-US" sz="800" dirty="0"/>
          </a:p>
        </p:txBody>
      </p:sp>
      <p:sp>
        <p:nvSpPr>
          <p:cNvPr id="16" name="Shape 14"/>
          <p:cNvSpPr/>
          <p:nvPr/>
        </p:nvSpPr>
        <p:spPr>
          <a:xfrm>
            <a:off x="384048" y="1956816"/>
            <a:ext cx="2731008" cy="640080"/>
          </a:xfrm>
          <a:prstGeom prst="rect">
            <a:avLst/>
          </a:prstGeom>
          <a:solidFill>
            <a:srgbClr val="1C1F30"/>
          </a:solidFill>
          <a:ln w="9525">
            <a:solidFill>
              <a:srgbClr val="2A2F44"/>
            </a:solidFill>
            <a:prstDash val="solid"/>
          </a:ln>
        </p:spPr>
      </p:sp>
      <p:sp>
        <p:nvSpPr>
          <p:cNvPr id="17" name="Shape 15"/>
          <p:cNvSpPr/>
          <p:nvPr/>
        </p:nvSpPr>
        <p:spPr>
          <a:xfrm>
            <a:off x="384048" y="1956816"/>
            <a:ext cx="45720" cy="640080"/>
          </a:xfrm>
          <a:prstGeom prst="rect">
            <a:avLst/>
          </a:prstGeom>
          <a:solidFill>
            <a:srgbClr val="1FBA8C"/>
          </a:solidFill>
          <a:ln/>
        </p:spPr>
      </p:sp>
      <p:sp>
        <p:nvSpPr>
          <p:cNvPr id="18" name="Text 16"/>
          <p:cNvSpPr/>
          <p:nvPr/>
        </p:nvSpPr>
        <p:spPr>
          <a:xfrm>
            <a:off x="530352"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비용</a:t>
            </a:r>
            <a:endParaRPr lang="en-US" sz="1050" dirty="0"/>
          </a:p>
        </p:txBody>
      </p:sp>
      <p:sp>
        <p:nvSpPr>
          <p:cNvPr id="19" name="Text 17"/>
          <p:cNvSpPr/>
          <p:nvPr/>
        </p:nvSpPr>
        <p:spPr>
          <a:xfrm>
            <a:off x="530352"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MoM · 서비스/usage-type 드릴다운</a:t>
            </a:r>
            <a:endParaRPr lang="en-US" sz="800" dirty="0"/>
          </a:p>
        </p:txBody>
      </p:sp>
      <p:sp>
        <p:nvSpPr>
          <p:cNvPr id="20" name="Shape 18"/>
          <p:cNvSpPr/>
          <p:nvPr/>
        </p:nvSpPr>
        <p:spPr>
          <a:xfrm>
            <a:off x="3206496" y="1956816"/>
            <a:ext cx="2731008" cy="640080"/>
          </a:xfrm>
          <a:prstGeom prst="rect">
            <a:avLst/>
          </a:prstGeom>
          <a:solidFill>
            <a:srgbClr val="1C1F30"/>
          </a:solidFill>
          <a:ln w="9525">
            <a:solidFill>
              <a:srgbClr val="2A2F44"/>
            </a:solidFill>
            <a:prstDash val="solid"/>
          </a:ln>
        </p:spPr>
      </p:sp>
      <p:sp>
        <p:nvSpPr>
          <p:cNvPr id="21" name="Shape 19"/>
          <p:cNvSpPr/>
          <p:nvPr/>
        </p:nvSpPr>
        <p:spPr>
          <a:xfrm>
            <a:off x="3206496" y="1956816"/>
            <a:ext cx="45720" cy="640080"/>
          </a:xfrm>
          <a:prstGeom prst="rect">
            <a:avLst/>
          </a:prstGeom>
          <a:solidFill>
            <a:srgbClr val="5A9CFF"/>
          </a:solidFill>
          <a:ln/>
        </p:spPr>
      </p:sp>
      <p:sp>
        <p:nvSpPr>
          <p:cNvPr id="22" name="Text 20"/>
          <p:cNvSpPr/>
          <p:nvPr/>
        </p:nvSpPr>
        <p:spPr>
          <a:xfrm>
            <a:off x="3352800"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토폴로지</a:t>
            </a:r>
            <a:endParaRPr lang="en-US" sz="1050" dirty="0"/>
          </a:p>
        </p:txBody>
      </p:sp>
      <p:sp>
        <p:nvSpPr>
          <p:cNvPr id="23" name="Text 21"/>
          <p:cNvSpPr/>
          <p:nvPr/>
        </p:nvSpPr>
        <p:spPr>
          <a:xfrm>
            <a:off x="3352800"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요청 흐름 · 인프라 배치 · 서비스 맵</a:t>
            </a:r>
            <a:endParaRPr lang="en-US" sz="800" dirty="0"/>
          </a:p>
        </p:txBody>
      </p:sp>
      <p:sp>
        <p:nvSpPr>
          <p:cNvPr id="24" name="Shape 22"/>
          <p:cNvSpPr/>
          <p:nvPr/>
        </p:nvSpPr>
        <p:spPr>
          <a:xfrm>
            <a:off x="6028944" y="1956816"/>
            <a:ext cx="2731008" cy="640080"/>
          </a:xfrm>
          <a:prstGeom prst="rect">
            <a:avLst/>
          </a:prstGeom>
          <a:solidFill>
            <a:srgbClr val="1C1F30"/>
          </a:solidFill>
          <a:ln w="9525">
            <a:solidFill>
              <a:srgbClr val="2A2F44"/>
            </a:solidFill>
            <a:prstDash val="solid"/>
          </a:ln>
        </p:spPr>
      </p:sp>
      <p:sp>
        <p:nvSpPr>
          <p:cNvPr id="25" name="Shape 23"/>
          <p:cNvSpPr/>
          <p:nvPr/>
        </p:nvSpPr>
        <p:spPr>
          <a:xfrm>
            <a:off x="6028944" y="1956816"/>
            <a:ext cx="45720" cy="640080"/>
          </a:xfrm>
          <a:prstGeom prst="rect">
            <a:avLst/>
          </a:prstGeom>
          <a:solidFill>
            <a:srgbClr val="5A9CFF"/>
          </a:solidFill>
          <a:ln/>
        </p:spPr>
      </p:sp>
      <p:sp>
        <p:nvSpPr>
          <p:cNvPr id="26" name="Text 24"/>
          <p:cNvSpPr/>
          <p:nvPr/>
        </p:nvSpPr>
        <p:spPr>
          <a:xfrm>
            <a:off x="6175248"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네트워크 플로우</a:t>
            </a:r>
            <a:endParaRPr lang="en-US" sz="1050" dirty="0"/>
          </a:p>
        </p:txBody>
      </p:sp>
      <p:sp>
        <p:nvSpPr>
          <p:cNvPr id="27" name="Text 25"/>
          <p:cNvSpPr/>
          <p:nvPr/>
        </p:nvSpPr>
        <p:spPr>
          <a:xfrm>
            <a:off x="6175248"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NFM top-contributor · E2E 홉 경로</a:t>
            </a:r>
            <a:endParaRPr lang="en-US" sz="800" dirty="0"/>
          </a:p>
        </p:txBody>
      </p:sp>
      <p:sp>
        <p:nvSpPr>
          <p:cNvPr id="28" name="Shape 26"/>
          <p:cNvSpPr/>
          <p:nvPr/>
        </p:nvSpPr>
        <p:spPr>
          <a:xfrm>
            <a:off x="384048" y="2670048"/>
            <a:ext cx="2731008" cy="640080"/>
          </a:xfrm>
          <a:prstGeom prst="rect">
            <a:avLst/>
          </a:prstGeom>
          <a:solidFill>
            <a:srgbClr val="1C1F30"/>
          </a:solidFill>
          <a:ln w="9525">
            <a:solidFill>
              <a:srgbClr val="2A2F44"/>
            </a:solidFill>
            <a:prstDash val="solid"/>
          </a:ln>
        </p:spPr>
      </p:sp>
      <p:sp>
        <p:nvSpPr>
          <p:cNvPr id="29" name="Shape 27"/>
          <p:cNvSpPr/>
          <p:nvPr/>
        </p:nvSpPr>
        <p:spPr>
          <a:xfrm>
            <a:off x="384048" y="2670048"/>
            <a:ext cx="45720" cy="640080"/>
          </a:xfrm>
          <a:prstGeom prst="rect">
            <a:avLst/>
          </a:prstGeom>
          <a:solidFill>
            <a:srgbClr val="E8825D"/>
          </a:solidFill>
          <a:ln/>
        </p:spPr>
      </p:sp>
      <p:sp>
        <p:nvSpPr>
          <p:cNvPr id="30" name="Text 28"/>
          <p:cNvSpPr/>
          <p:nvPr/>
        </p:nvSpPr>
        <p:spPr>
          <a:xfrm>
            <a:off x="530352"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보안</a:t>
            </a:r>
            <a:endParaRPr lang="en-US" sz="1050" dirty="0"/>
          </a:p>
        </p:txBody>
      </p:sp>
      <p:sp>
        <p:nvSpPr>
          <p:cNvPr id="31" name="Text 29"/>
          <p:cNvSpPr/>
          <p:nvPr/>
        </p:nvSpPr>
        <p:spPr>
          <a:xfrm>
            <a:off x="530352"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Public S3 · Open SG · CVE · MFA</a:t>
            </a:r>
            <a:endParaRPr lang="en-US" sz="800" dirty="0"/>
          </a:p>
        </p:txBody>
      </p:sp>
      <p:sp>
        <p:nvSpPr>
          <p:cNvPr id="32" name="Shape 30"/>
          <p:cNvSpPr/>
          <p:nvPr/>
        </p:nvSpPr>
        <p:spPr>
          <a:xfrm>
            <a:off x="3206496" y="2670048"/>
            <a:ext cx="2731008" cy="640080"/>
          </a:xfrm>
          <a:prstGeom prst="rect">
            <a:avLst/>
          </a:prstGeom>
          <a:solidFill>
            <a:srgbClr val="1C1F30"/>
          </a:solidFill>
          <a:ln w="9525">
            <a:solidFill>
              <a:srgbClr val="2A2F44"/>
            </a:solidFill>
            <a:prstDash val="solid"/>
          </a:ln>
        </p:spPr>
      </p:sp>
      <p:sp>
        <p:nvSpPr>
          <p:cNvPr id="33" name="Shape 31"/>
          <p:cNvSpPr/>
          <p:nvPr/>
        </p:nvSpPr>
        <p:spPr>
          <a:xfrm>
            <a:off x="3206496" y="2670048"/>
            <a:ext cx="45720" cy="640080"/>
          </a:xfrm>
          <a:prstGeom prst="rect">
            <a:avLst/>
          </a:prstGeom>
          <a:solidFill>
            <a:srgbClr val="E8825D"/>
          </a:solidFill>
          <a:ln/>
        </p:spPr>
      </p:sp>
      <p:sp>
        <p:nvSpPr>
          <p:cNvPr id="34" name="Text 32"/>
          <p:cNvSpPr/>
          <p:nvPr/>
        </p:nvSpPr>
        <p:spPr>
          <a:xfrm>
            <a:off x="3352800"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컴플라이언스</a:t>
            </a:r>
            <a:endParaRPr lang="en-US" sz="1050" dirty="0"/>
          </a:p>
        </p:txBody>
      </p:sp>
      <p:sp>
        <p:nvSpPr>
          <p:cNvPr id="35" name="Text 33"/>
          <p:cNvSpPr/>
          <p:nvPr/>
        </p:nvSpPr>
        <p:spPr>
          <a:xfrm>
            <a:off x="3352800"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CIS 벤치마크 실행 · 이력 관리</a:t>
            </a:r>
            <a:endParaRPr lang="en-US" sz="800" dirty="0"/>
          </a:p>
        </p:txBody>
      </p:sp>
      <p:sp>
        <p:nvSpPr>
          <p:cNvPr id="36" name="Shape 34"/>
          <p:cNvSpPr/>
          <p:nvPr/>
        </p:nvSpPr>
        <p:spPr>
          <a:xfrm>
            <a:off x="6028944" y="2670048"/>
            <a:ext cx="2731008" cy="640080"/>
          </a:xfrm>
          <a:prstGeom prst="rect">
            <a:avLst/>
          </a:prstGeom>
          <a:solidFill>
            <a:srgbClr val="1C1F30"/>
          </a:solidFill>
          <a:ln w="9525">
            <a:solidFill>
              <a:srgbClr val="2A2F44"/>
            </a:solidFill>
            <a:prstDash val="solid"/>
          </a:ln>
        </p:spPr>
      </p:sp>
      <p:sp>
        <p:nvSpPr>
          <p:cNvPr id="37" name="Shape 35"/>
          <p:cNvSpPr/>
          <p:nvPr/>
        </p:nvSpPr>
        <p:spPr>
          <a:xfrm>
            <a:off x="6028944" y="2670048"/>
            <a:ext cx="45720" cy="640080"/>
          </a:xfrm>
          <a:prstGeom prst="rect">
            <a:avLst/>
          </a:prstGeom>
          <a:solidFill>
            <a:srgbClr val="76B900"/>
          </a:solidFill>
          <a:ln/>
        </p:spPr>
      </p:sp>
      <p:sp>
        <p:nvSpPr>
          <p:cNvPr id="38" name="Text 36"/>
          <p:cNvSpPr/>
          <p:nvPr/>
        </p:nvSpPr>
        <p:spPr>
          <a:xfrm>
            <a:off x="6175248"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EKS</a:t>
            </a:r>
            <a:endParaRPr lang="en-US" sz="1050" dirty="0"/>
          </a:p>
        </p:txBody>
      </p:sp>
      <p:sp>
        <p:nvSpPr>
          <p:cNvPr id="39" name="Text 37"/>
          <p:cNvSpPr/>
          <p:nvPr/>
        </p:nvSpPr>
        <p:spPr>
          <a:xfrm>
            <a:off x="6175248"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클러스터 7탭 드릴다운 · OpenCost</a:t>
            </a:r>
            <a:endParaRPr lang="en-US" sz="800" dirty="0"/>
          </a:p>
        </p:txBody>
      </p:sp>
      <p:sp>
        <p:nvSpPr>
          <p:cNvPr id="40" name="Shape 38"/>
          <p:cNvSpPr/>
          <p:nvPr/>
        </p:nvSpPr>
        <p:spPr>
          <a:xfrm>
            <a:off x="384048" y="3383280"/>
            <a:ext cx="2731008" cy="640080"/>
          </a:xfrm>
          <a:prstGeom prst="rect">
            <a:avLst/>
          </a:prstGeom>
          <a:solidFill>
            <a:srgbClr val="1C1F30"/>
          </a:solidFill>
          <a:ln w="9525">
            <a:solidFill>
              <a:srgbClr val="2A2F44"/>
            </a:solidFill>
            <a:prstDash val="solid"/>
          </a:ln>
        </p:spPr>
      </p:sp>
      <p:sp>
        <p:nvSpPr>
          <p:cNvPr id="41" name="Shape 39"/>
          <p:cNvSpPr/>
          <p:nvPr/>
        </p:nvSpPr>
        <p:spPr>
          <a:xfrm>
            <a:off x="384048" y="3383280"/>
            <a:ext cx="45720" cy="640080"/>
          </a:xfrm>
          <a:prstGeom prst="rect">
            <a:avLst/>
          </a:prstGeom>
          <a:solidFill>
            <a:srgbClr val="5A9CFF"/>
          </a:solidFill>
          <a:ln/>
        </p:spPr>
      </p:sp>
      <p:sp>
        <p:nvSpPr>
          <p:cNvPr id="42" name="Text 40"/>
          <p:cNvSpPr/>
          <p:nvPr/>
        </p:nvSpPr>
        <p:spPr>
          <a:xfrm>
            <a:off x="530352"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통합 모니터링</a:t>
            </a:r>
            <a:endParaRPr lang="en-US" sz="1050" dirty="0"/>
          </a:p>
        </p:txBody>
      </p:sp>
      <p:sp>
        <p:nvSpPr>
          <p:cNvPr id="43" name="Text 41"/>
          <p:cNvSpPr/>
          <p:nvPr/>
        </p:nvSpPr>
        <p:spPr>
          <a:xfrm>
            <a:off x="530352"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EC2/RDS 플릿 라이브 메트릭</a:t>
            </a:r>
            <a:endParaRPr lang="en-US" sz="800" dirty="0"/>
          </a:p>
        </p:txBody>
      </p:sp>
      <p:sp>
        <p:nvSpPr>
          <p:cNvPr id="44" name="Shape 42"/>
          <p:cNvSpPr/>
          <p:nvPr/>
        </p:nvSpPr>
        <p:spPr>
          <a:xfrm>
            <a:off x="3206496" y="3383280"/>
            <a:ext cx="2731008" cy="640080"/>
          </a:xfrm>
          <a:prstGeom prst="rect">
            <a:avLst/>
          </a:prstGeom>
          <a:solidFill>
            <a:srgbClr val="1C1F30"/>
          </a:solidFill>
          <a:ln w="9525">
            <a:solidFill>
              <a:srgbClr val="2A2F44"/>
            </a:solidFill>
            <a:prstDash val="solid"/>
          </a:ln>
        </p:spPr>
      </p:sp>
      <p:sp>
        <p:nvSpPr>
          <p:cNvPr id="45" name="Shape 43"/>
          <p:cNvSpPr/>
          <p:nvPr/>
        </p:nvSpPr>
        <p:spPr>
          <a:xfrm>
            <a:off x="3206496" y="3383280"/>
            <a:ext cx="45720" cy="640080"/>
          </a:xfrm>
          <a:prstGeom prst="rect">
            <a:avLst/>
          </a:prstGeom>
          <a:solidFill>
            <a:srgbClr val="A78BFA"/>
          </a:solidFill>
          <a:ln/>
        </p:spPr>
      </p:sp>
      <p:sp>
        <p:nvSpPr>
          <p:cNvPr id="46" name="Text 44"/>
          <p:cNvSpPr/>
          <p:nvPr/>
        </p:nvSpPr>
        <p:spPr>
          <a:xfrm>
            <a:off x="3352800"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연동</a:t>
            </a:r>
            <a:endParaRPr lang="en-US" sz="1050" dirty="0"/>
          </a:p>
        </p:txBody>
      </p:sp>
      <p:sp>
        <p:nvSpPr>
          <p:cNvPr id="47" name="Text 45"/>
          <p:cNvSpPr/>
          <p:nvPr/>
        </p:nvSpPr>
        <p:spPr>
          <a:xfrm>
            <a:off x="3352800"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데이터소스 8종 · 커넥터 · 스킬</a:t>
            </a:r>
            <a:endParaRPr lang="en-US" sz="800" dirty="0"/>
          </a:p>
        </p:txBody>
      </p:sp>
      <p:sp>
        <p:nvSpPr>
          <p:cNvPr id="48" name="Shape 46"/>
          <p:cNvSpPr/>
          <p:nvPr/>
        </p:nvSpPr>
        <p:spPr>
          <a:xfrm>
            <a:off x="6028944" y="3383280"/>
            <a:ext cx="2731008" cy="640080"/>
          </a:xfrm>
          <a:prstGeom prst="rect">
            <a:avLst/>
          </a:prstGeom>
          <a:solidFill>
            <a:srgbClr val="1C1F30"/>
          </a:solidFill>
          <a:ln w="9525">
            <a:solidFill>
              <a:srgbClr val="2A2F44"/>
            </a:solidFill>
            <a:prstDash val="solid"/>
          </a:ln>
        </p:spPr>
      </p:sp>
      <p:sp>
        <p:nvSpPr>
          <p:cNvPr id="49" name="Shape 47"/>
          <p:cNvSpPr/>
          <p:nvPr/>
        </p:nvSpPr>
        <p:spPr>
          <a:xfrm>
            <a:off x="6028944" y="3383280"/>
            <a:ext cx="45720" cy="640080"/>
          </a:xfrm>
          <a:prstGeom prst="rect">
            <a:avLst/>
          </a:prstGeom>
          <a:solidFill>
            <a:srgbClr val="A78BFA"/>
          </a:solidFill>
          <a:ln/>
        </p:spPr>
      </p:sp>
      <p:sp>
        <p:nvSpPr>
          <p:cNvPr id="50" name="Text 48"/>
          <p:cNvSpPr/>
          <p:nvPr/>
        </p:nvSpPr>
        <p:spPr>
          <a:xfrm>
            <a:off x="6175248"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계정 관리</a:t>
            </a:r>
            <a:endParaRPr lang="en-US" sz="1050" dirty="0"/>
          </a:p>
        </p:txBody>
      </p:sp>
      <p:sp>
        <p:nvSpPr>
          <p:cNvPr id="51" name="Text 49"/>
          <p:cNvSpPr/>
          <p:nvPr/>
        </p:nvSpPr>
        <p:spPr>
          <a:xfrm>
            <a:off x="6175248"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크로스계정 등록 + 즉시 검증</a:t>
            </a:r>
            <a:endParaRPr lang="en-US" sz="800" dirty="0"/>
          </a:p>
        </p:txBody>
      </p:sp>
      <p:sp>
        <p:nvSpPr>
          <p:cNvPr id="52" name="Text 5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a:t>
            </a:r>
            <a:endParaRPr lang="en-US" sz="1600" dirty="0"/>
          </a:p>
        </p:txBody>
      </p:sp>
      <p:sp>
        <p:nvSpPr>
          <p:cNvPr id="53" name="Text 5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상단 고정 메뉴 수</a:t>
            </a:r>
            <a:endParaRPr lang="en-US" sz="750" dirty="0"/>
          </a:p>
        </p:txBody>
      </p:sp>
      <p:sp>
        <p:nvSpPr>
          <p:cNvPr id="54" name="Text 5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5종</a:t>
            </a:r>
            <a:endParaRPr lang="en-US" sz="1600" dirty="0"/>
          </a:p>
        </p:txBody>
      </p:sp>
      <p:sp>
        <p:nvSpPr>
          <p:cNvPr id="55" name="Text 5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네트워크 분석 메뉴 (NFM · DNS · IP …)</a:t>
            </a:r>
            <a:endParaRPr lang="en-US" sz="750" dirty="0"/>
          </a:p>
        </p:txBody>
      </p:sp>
      <p:sp>
        <p:nvSpPr>
          <p:cNvPr id="56" name="Text 5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7탭</a:t>
            </a:r>
            <a:endParaRPr lang="en-US" sz="1600" dirty="0"/>
          </a:p>
        </p:txBody>
      </p:sp>
      <p:sp>
        <p:nvSpPr>
          <p:cNvPr id="57" name="Text 5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EKS 클러스터 드릴다운 탭</a:t>
            </a:r>
            <a:endParaRPr lang="en-US" sz="750" dirty="0"/>
          </a:p>
        </p:txBody>
      </p:sp>
      <p:sp>
        <p:nvSpPr>
          <p:cNvPr id="58" name="Text 5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Cmd-K</a:t>
            </a:r>
            <a:endParaRPr lang="en-US" sz="1600" dirty="0"/>
          </a:p>
        </p:txBody>
      </p:sp>
      <p:sp>
        <p:nvSpPr>
          <p:cNvPr id="59" name="Text 5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 페이지·리소스 즉시 검색 팔레트</a:t>
            </a:r>
            <a:endParaRPr lang="en-US" sz="750" dirty="0"/>
          </a:p>
        </p:txBody>
      </p:sp>
      <p:sp>
        <p:nvSpPr>
          <p:cNvPr id="60" name="Text 5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61" name="Text 5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03. Architecture Deep Dive</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프라이빗 엣지 · AgentCore · 비동기 워커</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한 장으로 보는 AWSops</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프라이빗 엣지 → thin-BFF → Aurora, 그리고 AI 레이어·워커의 분리 구조</a:t>
            </a:r>
            <a:endParaRPr lang="en-US" sz="1200" dirty="0"/>
          </a:p>
        </p:txBody>
      </p:sp>
      <p:sp>
        <p:nvSpPr>
          <p:cNvPr id="4" name="Shape 2"/>
          <p:cNvSpPr/>
          <p:nvPr/>
        </p:nvSpPr>
        <p:spPr>
          <a:xfrm>
            <a:off x="384048" y="1225296"/>
            <a:ext cx="4663440" cy="2907792"/>
          </a:xfrm>
          <a:prstGeom prst="rect">
            <a:avLst/>
          </a:prstGeom>
          <a:solidFill>
            <a:srgbClr val="1C1F30"/>
          </a:solidFill>
          <a:ln w="9525">
            <a:solidFill>
              <a:srgbClr val="2A2F44"/>
            </a:solidFill>
            <a:prstDash val="solid"/>
          </a:ln>
        </p:spPr>
      </p:sp>
      <p:sp>
        <p:nvSpPr>
          <p:cNvPr id="5" name="Shape 3"/>
          <p:cNvSpPr/>
          <p:nvPr/>
        </p:nvSpPr>
        <p:spPr>
          <a:xfrm>
            <a:off x="493776" y="1389888"/>
            <a:ext cx="786384" cy="475488"/>
          </a:xfrm>
          <a:prstGeom prst="roundRect">
            <a:avLst>
              <a:gd name="adj" fmla="val 7692"/>
            </a:avLst>
          </a:prstGeom>
          <a:solidFill>
            <a:srgbClr val="0E101C"/>
          </a:solidFill>
          <a:ln w="12700">
            <a:solidFill>
              <a:srgbClr val="7B8198"/>
            </a:solidFill>
            <a:prstDash val="solid"/>
          </a:ln>
        </p:spPr>
      </p:sp>
      <p:sp>
        <p:nvSpPr>
          <p:cNvPr id="6" name="Text 4"/>
          <p:cNvSpPr/>
          <p:nvPr/>
        </p:nvSpPr>
        <p:spPr>
          <a:xfrm>
            <a:off x="493776"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운영자</a:t>
            </a:r>
            <a:endParaRPr lang="en-US" sz="750" dirty="0"/>
          </a:p>
        </p:txBody>
      </p:sp>
      <p:sp>
        <p:nvSpPr>
          <p:cNvPr id="7" name="Shape 5"/>
          <p:cNvSpPr/>
          <p:nvPr/>
        </p:nvSpPr>
        <p:spPr>
          <a:xfrm>
            <a:off x="1293876" y="1572768"/>
            <a:ext cx="114300" cy="146304"/>
          </a:xfrm>
          <a:prstGeom prst="rightArrow">
            <a:avLst/>
          </a:prstGeom>
          <a:solidFill>
            <a:srgbClr val="7B8198"/>
          </a:solidFill>
          <a:ln/>
        </p:spPr>
      </p:sp>
      <p:sp>
        <p:nvSpPr>
          <p:cNvPr id="8" name="Shape 6"/>
          <p:cNvSpPr/>
          <p:nvPr/>
        </p:nvSpPr>
        <p:spPr>
          <a:xfrm>
            <a:off x="1421892" y="1389888"/>
            <a:ext cx="786384" cy="475488"/>
          </a:xfrm>
          <a:prstGeom prst="roundRect">
            <a:avLst>
              <a:gd name="adj" fmla="val 7692"/>
            </a:avLst>
          </a:prstGeom>
          <a:solidFill>
            <a:srgbClr val="0E101C"/>
          </a:solidFill>
          <a:ln w="12700">
            <a:solidFill>
              <a:srgbClr val="FF693C"/>
            </a:solidFill>
            <a:prstDash val="solid"/>
          </a:ln>
        </p:spPr>
      </p:sp>
      <p:sp>
        <p:nvSpPr>
          <p:cNvPr id="9" name="Text 7"/>
          <p:cNvSpPr/>
          <p:nvPr/>
        </p:nvSpPr>
        <p:spPr>
          <a:xfrm>
            <a:off x="1421892"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CloudFront</a:t>
            </a:r>
            <a:endParaRPr lang="en-US" sz="750" dirty="0"/>
          </a:p>
          <a:p>
            <a:pPr algn="ctr" indent="0" marL="0">
              <a:buNone/>
            </a:pPr>
            <a:r>
              <a:rPr lang="en-US" sz="750" b="1" dirty="0">
                <a:solidFill>
                  <a:srgbClr val="FFFFFF"/>
                </a:solidFill>
                <a:latin typeface="Pretendard" pitchFamily="34" charset="0"/>
                <a:ea typeface="Pretendard" pitchFamily="34" charset="-122"/>
                <a:cs typeface="Pretendard" pitchFamily="34" charset="-120"/>
              </a:rPr>
              <a:t>엣지 인증</a:t>
            </a:r>
            <a:endParaRPr lang="en-US" sz="750" dirty="0"/>
          </a:p>
        </p:txBody>
      </p:sp>
      <p:sp>
        <p:nvSpPr>
          <p:cNvPr id="10" name="Shape 8"/>
          <p:cNvSpPr/>
          <p:nvPr/>
        </p:nvSpPr>
        <p:spPr>
          <a:xfrm>
            <a:off x="2221992" y="1572768"/>
            <a:ext cx="114300" cy="146304"/>
          </a:xfrm>
          <a:prstGeom prst="rightArrow">
            <a:avLst/>
          </a:prstGeom>
          <a:solidFill>
            <a:srgbClr val="7B8198"/>
          </a:solidFill>
          <a:ln/>
        </p:spPr>
      </p:sp>
      <p:sp>
        <p:nvSpPr>
          <p:cNvPr id="11" name="Shape 9"/>
          <p:cNvSpPr/>
          <p:nvPr/>
        </p:nvSpPr>
        <p:spPr>
          <a:xfrm>
            <a:off x="2350008" y="1389888"/>
            <a:ext cx="786384" cy="475488"/>
          </a:xfrm>
          <a:prstGeom prst="roundRect">
            <a:avLst>
              <a:gd name="adj" fmla="val 7692"/>
            </a:avLst>
          </a:prstGeom>
          <a:solidFill>
            <a:srgbClr val="0E101C"/>
          </a:solidFill>
          <a:ln w="12700">
            <a:solidFill>
              <a:srgbClr val="5A9CFF"/>
            </a:solidFill>
            <a:prstDash val="solid"/>
          </a:ln>
        </p:spPr>
      </p:sp>
      <p:sp>
        <p:nvSpPr>
          <p:cNvPr id="12" name="Text 10"/>
          <p:cNvSpPr/>
          <p:nvPr/>
        </p:nvSpPr>
        <p:spPr>
          <a:xfrm>
            <a:off x="2350008"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내부 ALB</a:t>
            </a:r>
            <a:endParaRPr lang="en-US" sz="750" dirty="0"/>
          </a:p>
        </p:txBody>
      </p:sp>
      <p:sp>
        <p:nvSpPr>
          <p:cNvPr id="13" name="Shape 11"/>
          <p:cNvSpPr/>
          <p:nvPr/>
        </p:nvSpPr>
        <p:spPr>
          <a:xfrm>
            <a:off x="3150108" y="1572768"/>
            <a:ext cx="114300" cy="146304"/>
          </a:xfrm>
          <a:prstGeom prst="rightArrow">
            <a:avLst/>
          </a:prstGeom>
          <a:solidFill>
            <a:srgbClr val="7B8198"/>
          </a:solidFill>
          <a:ln/>
        </p:spPr>
      </p:sp>
      <p:sp>
        <p:nvSpPr>
          <p:cNvPr id="14" name="Shape 12"/>
          <p:cNvSpPr/>
          <p:nvPr/>
        </p:nvSpPr>
        <p:spPr>
          <a:xfrm>
            <a:off x="3278124" y="1389888"/>
            <a:ext cx="786384" cy="475488"/>
          </a:xfrm>
          <a:prstGeom prst="roundRect">
            <a:avLst>
              <a:gd name="adj" fmla="val 7692"/>
            </a:avLst>
          </a:prstGeom>
          <a:solidFill>
            <a:srgbClr val="0E101C"/>
          </a:solidFill>
          <a:ln w="12700">
            <a:solidFill>
              <a:srgbClr val="1FBA8C"/>
            </a:solidFill>
            <a:prstDash val="solid"/>
          </a:ln>
        </p:spPr>
      </p:sp>
      <p:sp>
        <p:nvSpPr>
          <p:cNvPr id="15" name="Text 13"/>
          <p:cNvSpPr/>
          <p:nvPr/>
        </p:nvSpPr>
        <p:spPr>
          <a:xfrm>
            <a:off x="3278124"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Fargate 웹</a:t>
            </a:r>
            <a:endParaRPr lang="en-US" sz="750" dirty="0"/>
          </a:p>
        </p:txBody>
      </p:sp>
      <p:sp>
        <p:nvSpPr>
          <p:cNvPr id="16" name="Shape 14"/>
          <p:cNvSpPr/>
          <p:nvPr/>
        </p:nvSpPr>
        <p:spPr>
          <a:xfrm>
            <a:off x="4078224" y="1572768"/>
            <a:ext cx="114300" cy="146304"/>
          </a:xfrm>
          <a:prstGeom prst="rightArrow">
            <a:avLst/>
          </a:prstGeom>
          <a:solidFill>
            <a:srgbClr val="7B8198"/>
          </a:solidFill>
          <a:ln/>
        </p:spPr>
      </p:sp>
      <p:sp>
        <p:nvSpPr>
          <p:cNvPr id="17" name="Shape 15"/>
          <p:cNvSpPr/>
          <p:nvPr/>
        </p:nvSpPr>
        <p:spPr>
          <a:xfrm>
            <a:off x="4206240" y="1389888"/>
            <a:ext cx="786384" cy="475488"/>
          </a:xfrm>
          <a:prstGeom prst="roundRect">
            <a:avLst>
              <a:gd name="adj" fmla="val 7692"/>
            </a:avLst>
          </a:prstGeom>
          <a:solidFill>
            <a:srgbClr val="0E101C"/>
          </a:solidFill>
          <a:ln w="12700">
            <a:solidFill>
              <a:srgbClr val="1FBA8C"/>
            </a:solidFill>
            <a:prstDash val="solid"/>
          </a:ln>
        </p:spPr>
      </p:sp>
      <p:sp>
        <p:nvSpPr>
          <p:cNvPr id="18" name="Text 16"/>
          <p:cNvSpPr/>
          <p:nvPr/>
        </p:nvSpPr>
        <p:spPr>
          <a:xfrm>
            <a:off x="4206240"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Aurora</a:t>
            </a:r>
            <a:endParaRPr lang="en-US" sz="750" dirty="0"/>
          </a:p>
        </p:txBody>
      </p:sp>
      <p:sp>
        <p:nvSpPr>
          <p:cNvPr id="19" name="Text 17"/>
          <p:cNvSpPr/>
          <p:nvPr/>
        </p:nvSpPr>
        <p:spPr>
          <a:xfrm>
            <a:off x="493776" y="1920240"/>
            <a:ext cx="4443984" cy="182880"/>
          </a:xfrm>
          <a:prstGeom prst="rect">
            <a:avLst/>
          </a:prstGeom>
          <a:noFill/>
          <a:ln/>
        </p:spPr>
        <p:txBody>
          <a:bodyPr wrap="square" lIns="0" tIns="0" rIns="0" bIns="0" rtlCol="0" anchor="ctr"/>
          <a:lstStyle/>
          <a:p>
            <a:pPr indent="0" marL="0">
              <a:buNone/>
            </a:pPr>
            <a:r>
              <a:rPr lang="en-US" sz="750" dirty="0">
                <a:solidFill>
                  <a:srgbClr val="A6ABBE"/>
                </a:solidFill>
                <a:latin typeface="Pretendard" pitchFamily="34" charset="0"/>
                <a:ea typeface="Pretendard" pitchFamily="34" charset="-122"/>
                <a:cs typeface="Pretendard" pitchFamily="34" charset="-120"/>
              </a:rPr>
              <a:t>프라이빗 엣지 — 퍼블릭 ALB 없음 (VPC Origin 전용)</a:t>
            </a:r>
            <a:endParaRPr lang="en-US" sz="750" dirty="0"/>
          </a:p>
        </p:txBody>
      </p:sp>
      <p:sp>
        <p:nvSpPr>
          <p:cNvPr id="20" name="Shape 18"/>
          <p:cNvSpPr/>
          <p:nvPr/>
        </p:nvSpPr>
        <p:spPr>
          <a:xfrm>
            <a:off x="1124712" y="2176272"/>
            <a:ext cx="128016" cy="219456"/>
          </a:xfrm>
          <a:prstGeom prst="downArrow">
            <a:avLst/>
          </a:prstGeom>
          <a:solidFill>
            <a:srgbClr val="7B8198"/>
          </a:solidFill>
          <a:ln/>
        </p:spPr>
      </p:sp>
      <p:sp>
        <p:nvSpPr>
          <p:cNvPr id="21" name="Shape 19"/>
          <p:cNvSpPr/>
          <p:nvPr/>
        </p:nvSpPr>
        <p:spPr>
          <a:xfrm>
            <a:off x="493776" y="2432304"/>
            <a:ext cx="1389888" cy="1005840"/>
          </a:xfrm>
          <a:prstGeom prst="roundRect">
            <a:avLst>
              <a:gd name="adj" fmla="val 3636"/>
            </a:avLst>
          </a:prstGeom>
          <a:solidFill>
            <a:srgbClr val="0E101C"/>
          </a:solidFill>
          <a:ln w="12700">
            <a:solidFill>
              <a:srgbClr val="FF693C"/>
            </a:solidFill>
            <a:prstDash val="solid"/>
          </a:ln>
        </p:spPr>
      </p:sp>
      <p:sp>
        <p:nvSpPr>
          <p:cNvPr id="22" name="Text 20"/>
          <p:cNvSpPr/>
          <p:nvPr/>
        </p:nvSpPr>
        <p:spPr>
          <a:xfrm>
            <a:off x="548640"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AI — AgentCore</a:t>
            </a:r>
            <a:endParaRPr lang="en-US" sz="850" dirty="0"/>
          </a:p>
        </p:txBody>
      </p:sp>
      <p:sp>
        <p:nvSpPr>
          <p:cNvPr id="23" name="Text 21"/>
          <p:cNvSpPr/>
          <p:nvPr/>
        </p:nvSpPr>
        <p:spPr>
          <a:xfrm>
            <a:off x="548640"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게이트웨이 9종 + Bedrock</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멀티계정 Read-Only 조회</a:t>
            </a:r>
            <a:endParaRPr lang="en-US" sz="750" dirty="0"/>
          </a:p>
        </p:txBody>
      </p:sp>
      <p:sp>
        <p:nvSpPr>
          <p:cNvPr id="24" name="Shape 22"/>
          <p:cNvSpPr/>
          <p:nvPr/>
        </p:nvSpPr>
        <p:spPr>
          <a:xfrm>
            <a:off x="2651760" y="2176272"/>
            <a:ext cx="128016" cy="219456"/>
          </a:xfrm>
          <a:prstGeom prst="downArrow">
            <a:avLst/>
          </a:prstGeom>
          <a:solidFill>
            <a:srgbClr val="7B8198"/>
          </a:solidFill>
          <a:ln/>
        </p:spPr>
      </p:sp>
      <p:sp>
        <p:nvSpPr>
          <p:cNvPr id="25" name="Shape 23"/>
          <p:cNvSpPr/>
          <p:nvPr/>
        </p:nvSpPr>
        <p:spPr>
          <a:xfrm>
            <a:off x="2020824" y="2432304"/>
            <a:ext cx="1389888" cy="1005840"/>
          </a:xfrm>
          <a:prstGeom prst="roundRect">
            <a:avLst>
              <a:gd name="adj" fmla="val 3636"/>
            </a:avLst>
          </a:prstGeom>
          <a:solidFill>
            <a:srgbClr val="0E101C"/>
          </a:solidFill>
          <a:ln w="12700">
            <a:solidFill>
              <a:srgbClr val="E8825D"/>
            </a:solidFill>
            <a:prstDash val="solid"/>
          </a:ln>
        </p:spPr>
      </p:sp>
      <p:sp>
        <p:nvSpPr>
          <p:cNvPr id="26" name="Text 24"/>
          <p:cNvSpPr/>
          <p:nvPr/>
        </p:nvSpPr>
        <p:spPr>
          <a:xfrm>
            <a:off x="2075688"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비동기 워커</a:t>
            </a:r>
            <a:endParaRPr lang="en-US" sz="850" dirty="0"/>
          </a:p>
        </p:txBody>
      </p:sp>
      <p:sp>
        <p:nvSpPr>
          <p:cNvPr id="27" name="Text 25"/>
          <p:cNvSpPr/>
          <p:nvPr/>
        </p:nvSpPr>
        <p:spPr>
          <a:xfrm>
            <a:off x="2075688"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SQS + Step Functions</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Lambda / Fargate 분석</a:t>
            </a:r>
            <a:endParaRPr lang="en-US" sz="750" dirty="0"/>
          </a:p>
        </p:txBody>
      </p:sp>
      <p:sp>
        <p:nvSpPr>
          <p:cNvPr id="28" name="Shape 26"/>
          <p:cNvSpPr/>
          <p:nvPr/>
        </p:nvSpPr>
        <p:spPr>
          <a:xfrm>
            <a:off x="4178808" y="2176272"/>
            <a:ext cx="128016" cy="219456"/>
          </a:xfrm>
          <a:prstGeom prst="downArrow">
            <a:avLst/>
          </a:prstGeom>
          <a:solidFill>
            <a:srgbClr val="7B8198"/>
          </a:solidFill>
          <a:ln/>
        </p:spPr>
      </p:sp>
      <p:sp>
        <p:nvSpPr>
          <p:cNvPr id="29" name="Shape 27"/>
          <p:cNvSpPr/>
          <p:nvPr/>
        </p:nvSpPr>
        <p:spPr>
          <a:xfrm>
            <a:off x="3547872" y="2432304"/>
            <a:ext cx="1389888" cy="1005840"/>
          </a:xfrm>
          <a:prstGeom prst="roundRect">
            <a:avLst>
              <a:gd name="adj" fmla="val 3636"/>
            </a:avLst>
          </a:prstGeom>
          <a:solidFill>
            <a:srgbClr val="0E101C"/>
          </a:solidFill>
          <a:ln w="12700">
            <a:solidFill>
              <a:srgbClr val="A78BFA"/>
            </a:solidFill>
            <a:prstDash val="solid"/>
          </a:ln>
        </p:spPr>
      </p:sp>
      <p:sp>
        <p:nvSpPr>
          <p:cNvPr id="30" name="Text 28"/>
          <p:cNvSpPr/>
          <p:nvPr/>
        </p:nvSpPr>
        <p:spPr>
          <a:xfrm>
            <a:off x="3602736"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외부 관측 연동</a:t>
            </a:r>
            <a:endParaRPr lang="en-US" sz="850" dirty="0"/>
          </a:p>
        </p:txBody>
      </p:sp>
      <p:sp>
        <p:nvSpPr>
          <p:cNvPr id="31" name="Text 29"/>
          <p:cNvSpPr/>
          <p:nvPr/>
        </p:nvSpPr>
        <p:spPr>
          <a:xfrm>
            <a:off x="3602736"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Prometheus · ClickHouse</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등 8종 read-only</a:t>
            </a:r>
            <a:endParaRPr lang="en-US" sz="750" dirty="0"/>
          </a:p>
        </p:txBody>
      </p:sp>
      <p:sp>
        <p:nvSpPr>
          <p:cNvPr id="32" name="Text 30"/>
          <p:cNvSpPr/>
          <p:nvPr/>
        </p:nvSpPr>
        <p:spPr>
          <a:xfrm>
            <a:off x="493776" y="3602736"/>
            <a:ext cx="4443984" cy="201168"/>
          </a:xfrm>
          <a:prstGeom prst="rect">
            <a:avLst/>
          </a:prstGeom>
          <a:noFill/>
          <a:ln/>
        </p:spPr>
        <p:txBody>
          <a:bodyPr wrap="square" lIns="0" tIns="0" rIns="0" bIns="0" rtlCol="0" anchor="ctr"/>
          <a:lstStyle/>
          <a:p>
            <a:pPr indent="0" marL="0">
              <a:buNone/>
            </a:pPr>
            <a:r>
              <a:rPr lang="en-US" sz="750" b="1" dirty="0">
                <a:solidFill>
                  <a:srgbClr val="E2E4EC"/>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750" dirty="0"/>
          </a:p>
        </p:txBody>
      </p:sp>
      <p:sp>
        <p:nvSpPr>
          <p:cNvPr id="33" name="Shape 31"/>
          <p:cNvSpPr/>
          <p:nvPr/>
        </p:nvSpPr>
        <p:spPr>
          <a:xfrm>
            <a:off x="5230368" y="1225296"/>
            <a:ext cx="3529584" cy="54864"/>
          </a:xfrm>
          <a:prstGeom prst="rect">
            <a:avLst/>
          </a:prstGeom>
          <a:solidFill>
            <a:srgbClr val="5A9CFF"/>
          </a:solidFill>
          <a:ln/>
        </p:spPr>
      </p:sp>
      <p:sp>
        <p:nvSpPr>
          <p:cNvPr id="34" name="Shape 32"/>
          <p:cNvSpPr/>
          <p:nvPr/>
        </p:nvSpPr>
        <p:spPr>
          <a:xfrm>
            <a:off x="5230368" y="1280160"/>
            <a:ext cx="3529584" cy="603504"/>
          </a:xfrm>
          <a:prstGeom prst="rect">
            <a:avLst/>
          </a:prstGeom>
          <a:solidFill>
            <a:srgbClr val="1C1F30"/>
          </a:solidFill>
          <a:ln w="9525">
            <a:solidFill>
              <a:srgbClr val="2A2F44"/>
            </a:solidFill>
            <a:prstDash val="solid"/>
          </a:ln>
        </p:spPr>
      </p:sp>
      <p:sp>
        <p:nvSpPr>
          <p:cNvPr id="35" name="Text 33"/>
          <p:cNvSpPr/>
          <p:nvPr/>
        </p:nvSpPr>
        <p:spPr>
          <a:xfrm>
            <a:off x="5358384" y="133502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엣지</a:t>
            </a:r>
            <a:endParaRPr lang="en-US" sz="1100" dirty="0"/>
          </a:p>
        </p:txBody>
      </p:sp>
      <p:sp>
        <p:nvSpPr>
          <p:cNvPr id="36" name="Text 34"/>
          <p:cNvSpPr/>
          <p:nvPr/>
        </p:nvSpPr>
        <p:spPr>
          <a:xfrm>
            <a:off x="5358384" y="155448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CloudFront VPC Origin → 내부 ALB → Fargate. 퍼블릭 ALB 없음</a:t>
            </a:r>
            <a:endParaRPr lang="en-US" sz="850" dirty="0"/>
          </a:p>
        </p:txBody>
      </p:sp>
      <p:sp>
        <p:nvSpPr>
          <p:cNvPr id="37" name="Shape 35"/>
          <p:cNvSpPr/>
          <p:nvPr/>
        </p:nvSpPr>
        <p:spPr>
          <a:xfrm>
            <a:off x="5230368" y="1956816"/>
            <a:ext cx="3529584" cy="54864"/>
          </a:xfrm>
          <a:prstGeom prst="rect">
            <a:avLst/>
          </a:prstGeom>
          <a:solidFill>
            <a:srgbClr val="1FBA8C"/>
          </a:solidFill>
          <a:ln/>
        </p:spPr>
      </p:sp>
      <p:sp>
        <p:nvSpPr>
          <p:cNvPr id="38" name="Shape 36"/>
          <p:cNvSpPr/>
          <p:nvPr/>
        </p:nvSpPr>
        <p:spPr>
          <a:xfrm>
            <a:off x="5230368" y="2011680"/>
            <a:ext cx="3529584" cy="603504"/>
          </a:xfrm>
          <a:prstGeom prst="rect">
            <a:avLst/>
          </a:prstGeom>
          <a:solidFill>
            <a:srgbClr val="1C1F30"/>
          </a:solidFill>
          <a:ln w="9525">
            <a:solidFill>
              <a:srgbClr val="2A2F44"/>
            </a:solidFill>
            <a:prstDash val="solid"/>
          </a:ln>
        </p:spPr>
      </p:sp>
      <p:sp>
        <p:nvSpPr>
          <p:cNvPr id="39" name="Text 37"/>
          <p:cNvSpPr/>
          <p:nvPr/>
        </p:nvSpPr>
        <p:spPr>
          <a:xfrm>
            <a:off x="5358384" y="206654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웹 · 데이터</a:t>
            </a:r>
            <a:endParaRPr lang="en-US" sz="1100" dirty="0"/>
          </a:p>
        </p:txBody>
      </p:sp>
      <p:sp>
        <p:nvSpPr>
          <p:cNvPr id="40" name="Text 38"/>
          <p:cNvSpPr/>
          <p:nvPr/>
        </p:nvSpPr>
        <p:spPr>
          <a:xfrm>
            <a:off x="5358384" y="228600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Next.js thin-BFF + Aurora Serverless v2. 무거운 일은 큐로</a:t>
            </a:r>
            <a:endParaRPr lang="en-US" sz="850" dirty="0"/>
          </a:p>
        </p:txBody>
      </p:sp>
      <p:sp>
        <p:nvSpPr>
          <p:cNvPr id="41" name="Shape 39"/>
          <p:cNvSpPr/>
          <p:nvPr/>
        </p:nvSpPr>
        <p:spPr>
          <a:xfrm>
            <a:off x="5230368" y="2688336"/>
            <a:ext cx="3529584" cy="54864"/>
          </a:xfrm>
          <a:prstGeom prst="rect">
            <a:avLst/>
          </a:prstGeom>
          <a:solidFill>
            <a:srgbClr val="FF693C"/>
          </a:solidFill>
          <a:ln/>
        </p:spPr>
      </p:sp>
      <p:sp>
        <p:nvSpPr>
          <p:cNvPr id="42" name="Shape 40"/>
          <p:cNvSpPr/>
          <p:nvPr/>
        </p:nvSpPr>
        <p:spPr>
          <a:xfrm>
            <a:off x="5230368" y="2743200"/>
            <a:ext cx="3529584" cy="603504"/>
          </a:xfrm>
          <a:prstGeom prst="rect">
            <a:avLst/>
          </a:prstGeom>
          <a:solidFill>
            <a:srgbClr val="1C1F30"/>
          </a:solidFill>
          <a:ln w="9525">
            <a:solidFill>
              <a:srgbClr val="2A2F44"/>
            </a:solidFill>
            <a:prstDash val="solid"/>
          </a:ln>
        </p:spPr>
      </p:sp>
      <p:sp>
        <p:nvSpPr>
          <p:cNvPr id="43" name="Text 41"/>
          <p:cNvSpPr/>
          <p:nvPr/>
        </p:nvSpPr>
        <p:spPr>
          <a:xfrm>
            <a:off x="5358384" y="279806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AI</a:t>
            </a:r>
            <a:endParaRPr lang="en-US" sz="1100" dirty="0"/>
          </a:p>
        </p:txBody>
      </p:sp>
      <p:sp>
        <p:nvSpPr>
          <p:cNvPr id="44" name="Text 42"/>
          <p:cNvSpPr/>
          <p:nvPr/>
        </p:nvSpPr>
        <p:spPr>
          <a:xfrm>
            <a:off x="5358384" y="301752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Bedrock AgentCore — 게이트웨이 9종이 라이브 AWS 조회</a:t>
            </a:r>
            <a:endParaRPr lang="en-US" sz="850" dirty="0"/>
          </a:p>
        </p:txBody>
      </p:sp>
      <p:sp>
        <p:nvSpPr>
          <p:cNvPr id="45" name="Shape 43"/>
          <p:cNvSpPr/>
          <p:nvPr/>
        </p:nvSpPr>
        <p:spPr>
          <a:xfrm>
            <a:off x="5230368" y="3419856"/>
            <a:ext cx="3529584" cy="54864"/>
          </a:xfrm>
          <a:prstGeom prst="rect">
            <a:avLst/>
          </a:prstGeom>
          <a:solidFill>
            <a:srgbClr val="E8825D"/>
          </a:solidFill>
          <a:ln/>
        </p:spPr>
      </p:sp>
      <p:sp>
        <p:nvSpPr>
          <p:cNvPr id="46" name="Shape 44"/>
          <p:cNvSpPr/>
          <p:nvPr/>
        </p:nvSpPr>
        <p:spPr>
          <a:xfrm>
            <a:off x="5230368" y="3474720"/>
            <a:ext cx="3529584" cy="603504"/>
          </a:xfrm>
          <a:prstGeom prst="rect">
            <a:avLst/>
          </a:prstGeom>
          <a:solidFill>
            <a:srgbClr val="1C1F30"/>
          </a:solidFill>
          <a:ln w="9525">
            <a:solidFill>
              <a:srgbClr val="2A2F44"/>
            </a:solidFill>
            <a:prstDash val="solid"/>
          </a:ln>
        </p:spPr>
      </p:sp>
      <p:sp>
        <p:nvSpPr>
          <p:cNvPr id="47" name="Text 45"/>
          <p:cNvSpPr/>
          <p:nvPr/>
        </p:nvSpPr>
        <p:spPr>
          <a:xfrm>
            <a:off x="5358384" y="352958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워커</a:t>
            </a:r>
            <a:endParaRPr lang="en-US" sz="1100" dirty="0"/>
          </a:p>
        </p:txBody>
      </p:sp>
      <p:sp>
        <p:nvSpPr>
          <p:cNvPr id="48" name="Text 46"/>
          <p:cNvSpPr/>
          <p:nvPr/>
        </p:nvSpPr>
        <p:spPr>
          <a:xfrm>
            <a:off x="5358384" y="374904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SQS + Step Functions — Lambda/Fargate 비동기 분석</a:t>
            </a:r>
            <a:endParaRPr lang="en-US" sz="850" dirty="0"/>
          </a:p>
        </p:txBody>
      </p:sp>
      <p:sp>
        <p:nvSpPr>
          <p:cNvPr id="49" name="Text 47"/>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50" name="Text 48"/>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퍼블릭 로드밸런서 (진입은 CloudFront만)</a:t>
            </a:r>
            <a:endParaRPr lang="en-US" sz="750" dirty="0"/>
          </a:p>
        </p:txBody>
      </p:sp>
      <p:sp>
        <p:nvSpPr>
          <p:cNvPr id="51" name="Text 49"/>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52" name="Text 50"/>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도메인 게이트웨이 (MCP 도구)</a:t>
            </a:r>
            <a:endParaRPr lang="en-US" sz="750" dirty="0"/>
          </a:p>
        </p:txBody>
      </p:sp>
      <p:sp>
        <p:nvSpPr>
          <p:cNvPr id="53" name="Text 51"/>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2-tier</a:t>
            </a:r>
            <a:endParaRPr lang="en-US" sz="1600" dirty="0"/>
          </a:p>
        </p:txBody>
      </p:sp>
      <p:sp>
        <p:nvSpPr>
          <p:cNvPr id="54" name="Text 52"/>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55" name="Text 53"/>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IaC</a:t>
            </a:r>
            <a:endParaRPr lang="en-US" sz="1600" dirty="0"/>
          </a:p>
        </p:txBody>
      </p:sp>
      <p:sp>
        <p:nvSpPr>
          <p:cNvPr id="56" name="Text 54"/>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Terraform 단일 루트 + 멱등 프로비저너 · 플래그 게이트</a:t>
            </a:r>
            <a:endParaRPr lang="en-US" sz="750" dirty="0"/>
          </a:p>
        </p:txBody>
      </p:sp>
      <p:sp>
        <p:nvSpPr>
          <p:cNvPr id="57" name="Text 5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8" name="Text 56"/>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퍼블릭 로드밸런서가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200" dirty="0"/>
          </a:p>
        </p:txBody>
      </p:sp>
      <p:sp>
        <p:nvSpPr>
          <p:cNvPr id="4" name="Shape 2"/>
          <p:cNvSpPr/>
          <p:nvPr/>
        </p:nvSpPr>
        <p:spPr>
          <a:xfrm>
            <a:off x="384048" y="1353312"/>
            <a:ext cx="1783080" cy="868680"/>
          </a:xfrm>
          <a:prstGeom prst="rect">
            <a:avLst/>
          </a:prstGeom>
          <a:solidFill>
            <a:srgbClr val="1C1F30"/>
          </a:solidFill>
          <a:ln w="9525">
            <a:solidFill>
              <a:srgbClr val="2A2F44"/>
            </a:solidFill>
            <a:prstDash val="solid"/>
          </a:ln>
        </p:spPr>
      </p:sp>
      <p:sp>
        <p:nvSpPr>
          <p:cNvPr id="5" name="Shape 3"/>
          <p:cNvSpPr/>
          <p:nvPr/>
        </p:nvSpPr>
        <p:spPr>
          <a:xfrm>
            <a:off x="384048" y="1353312"/>
            <a:ext cx="1783080" cy="54864"/>
          </a:xfrm>
          <a:prstGeom prst="rect">
            <a:avLst/>
          </a:prstGeom>
          <a:solidFill>
            <a:srgbClr val="FF693C"/>
          </a:solidFill>
          <a:ln/>
        </p:spPr>
      </p:sp>
      <p:sp>
        <p:nvSpPr>
          <p:cNvPr id="6" name="Text 4"/>
          <p:cNvSpPr/>
          <p:nvPr/>
        </p:nvSpPr>
        <p:spPr>
          <a:xfrm>
            <a:off x="438912"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CloudFront</a:t>
            </a:r>
            <a:endParaRPr lang="en-US" sz="1050" dirty="0"/>
          </a:p>
        </p:txBody>
      </p:sp>
      <p:sp>
        <p:nvSpPr>
          <p:cNvPr id="7" name="Text 5"/>
          <p:cNvSpPr/>
          <p:nvPr/>
        </p:nvSpPr>
        <p:spPr>
          <a:xfrm>
            <a:off x="438912"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TLS 종단 + Lambda@Edge</a:t>
            </a:r>
            <a:endParaRPr lang="en-US" sz="750" dirty="0"/>
          </a:p>
        </p:txBody>
      </p:sp>
      <p:sp>
        <p:nvSpPr>
          <p:cNvPr id="8" name="Shape 6"/>
          <p:cNvSpPr/>
          <p:nvPr/>
        </p:nvSpPr>
        <p:spPr>
          <a:xfrm>
            <a:off x="2212848" y="1719072"/>
            <a:ext cx="292608" cy="146304"/>
          </a:xfrm>
          <a:prstGeom prst="rightArrow">
            <a:avLst/>
          </a:prstGeom>
          <a:solidFill>
            <a:srgbClr val="7B8198"/>
          </a:solidFill>
          <a:ln/>
        </p:spPr>
      </p:sp>
      <p:sp>
        <p:nvSpPr>
          <p:cNvPr id="9" name="Shape 7"/>
          <p:cNvSpPr/>
          <p:nvPr/>
        </p:nvSpPr>
        <p:spPr>
          <a:xfrm>
            <a:off x="2551176" y="1353312"/>
            <a:ext cx="1783080" cy="868680"/>
          </a:xfrm>
          <a:prstGeom prst="rect">
            <a:avLst/>
          </a:prstGeom>
          <a:solidFill>
            <a:srgbClr val="1C1F30"/>
          </a:solidFill>
          <a:ln w="9525">
            <a:solidFill>
              <a:srgbClr val="2A2F44"/>
            </a:solidFill>
            <a:prstDash val="solid"/>
          </a:ln>
        </p:spPr>
      </p:sp>
      <p:sp>
        <p:nvSpPr>
          <p:cNvPr id="10" name="Shape 8"/>
          <p:cNvSpPr/>
          <p:nvPr/>
        </p:nvSpPr>
        <p:spPr>
          <a:xfrm>
            <a:off x="2551176" y="1353312"/>
            <a:ext cx="1783080" cy="54864"/>
          </a:xfrm>
          <a:prstGeom prst="rect">
            <a:avLst/>
          </a:prstGeom>
          <a:solidFill>
            <a:srgbClr val="5A9CFF"/>
          </a:solidFill>
          <a:ln/>
        </p:spPr>
      </p:sp>
      <p:sp>
        <p:nvSpPr>
          <p:cNvPr id="11" name="Text 9"/>
          <p:cNvSpPr/>
          <p:nvPr/>
        </p:nvSpPr>
        <p:spPr>
          <a:xfrm>
            <a:off x="2606040"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VPC Origin</a:t>
            </a:r>
            <a:endParaRPr lang="en-US" sz="1050" dirty="0"/>
          </a:p>
        </p:txBody>
      </p:sp>
      <p:sp>
        <p:nvSpPr>
          <p:cNvPr id="12" name="Text 10"/>
          <p:cNvSpPr/>
          <p:nvPr/>
        </p:nvSpPr>
        <p:spPr>
          <a:xfrm>
            <a:off x="2606040"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https-only 비공개 통로</a:t>
            </a:r>
            <a:endParaRPr lang="en-US" sz="750" dirty="0"/>
          </a:p>
        </p:txBody>
      </p:sp>
      <p:sp>
        <p:nvSpPr>
          <p:cNvPr id="13" name="Shape 11"/>
          <p:cNvSpPr/>
          <p:nvPr/>
        </p:nvSpPr>
        <p:spPr>
          <a:xfrm>
            <a:off x="4379976" y="1719072"/>
            <a:ext cx="292608" cy="146304"/>
          </a:xfrm>
          <a:prstGeom prst="rightArrow">
            <a:avLst/>
          </a:prstGeom>
          <a:solidFill>
            <a:srgbClr val="7B8198"/>
          </a:solidFill>
          <a:ln/>
        </p:spPr>
      </p:sp>
      <p:sp>
        <p:nvSpPr>
          <p:cNvPr id="14" name="Shape 12"/>
          <p:cNvSpPr/>
          <p:nvPr/>
        </p:nvSpPr>
        <p:spPr>
          <a:xfrm>
            <a:off x="4718304" y="1353312"/>
            <a:ext cx="1783080" cy="868680"/>
          </a:xfrm>
          <a:prstGeom prst="rect">
            <a:avLst/>
          </a:prstGeom>
          <a:solidFill>
            <a:srgbClr val="1C1F30"/>
          </a:solidFill>
          <a:ln w="9525">
            <a:solidFill>
              <a:srgbClr val="2A2F44"/>
            </a:solidFill>
            <a:prstDash val="solid"/>
          </a:ln>
        </p:spPr>
      </p:sp>
      <p:sp>
        <p:nvSpPr>
          <p:cNvPr id="15" name="Shape 13"/>
          <p:cNvSpPr/>
          <p:nvPr/>
        </p:nvSpPr>
        <p:spPr>
          <a:xfrm>
            <a:off x="4718304" y="1353312"/>
            <a:ext cx="1783080" cy="54864"/>
          </a:xfrm>
          <a:prstGeom prst="rect">
            <a:avLst/>
          </a:prstGeom>
          <a:solidFill>
            <a:srgbClr val="5A9CFF"/>
          </a:solidFill>
          <a:ln/>
        </p:spPr>
      </p:sp>
      <p:sp>
        <p:nvSpPr>
          <p:cNvPr id="16" name="Text 14"/>
          <p:cNvSpPr/>
          <p:nvPr/>
        </p:nvSpPr>
        <p:spPr>
          <a:xfrm>
            <a:off x="4773168"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내부 ALB</a:t>
            </a:r>
            <a:endParaRPr lang="en-US" sz="1050" dirty="0"/>
          </a:p>
        </p:txBody>
      </p:sp>
      <p:sp>
        <p:nvSpPr>
          <p:cNvPr id="17" name="Text 15"/>
          <p:cNvSpPr/>
          <p:nvPr/>
        </p:nvSpPr>
        <p:spPr>
          <a:xfrm>
            <a:off x="4773168"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CloudFront SG만 허용</a:t>
            </a:r>
            <a:endParaRPr lang="en-US" sz="750" dirty="0"/>
          </a:p>
        </p:txBody>
      </p:sp>
      <p:sp>
        <p:nvSpPr>
          <p:cNvPr id="18" name="Shape 16"/>
          <p:cNvSpPr/>
          <p:nvPr/>
        </p:nvSpPr>
        <p:spPr>
          <a:xfrm>
            <a:off x="6547104" y="1719072"/>
            <a:ext cx="292608" cy="146304"/>
          </a:xfrm>
          <a:prstGeom prst="rightArrow">
            <a:avLst/>
          </a:prstGeom>
          <a:solidFill>
            <a:srgbClr val="7B8198"/>
          </a:solidFill>
          <a:ln/>
        </p:spPr>
      </p:sp>
      <p:sp>
        <p:nvSpPr>
          <p:cNvPr id="19" name="Shape 17"/>
          <p:cNvSpPr/>
          <p:nvPr/>
        </p:nvSpPr>
        <p:spPr>
          <a:xfrm>
            <a:off x="6885432" y="1353312"/>
            <a:ext cx="1783080" cy="868680"/>
          </a:xfrm>
          <a:prstGeom prst="rect">
            <a:avLst/>
          </a:prstGeom>
          <a:solidFill>
            <a:srgbClr val="1C1F30"/>
          </a:solidFill>
          <a:ln w="9525">
            <a:solidFill>
              <a:srgbClr val="2A2F44"/>
            </a:solidFill>
            <a:prstDash val="solid"/>
          </a:ln>
        </p:spPr>
      </p:sp>
      <p:sp>
        <p:nvSpPr>
          <p:cNvPr id="20" name="Shape 18"/>
          <p:cNvSpPr/>
          <p:nvPr/>
        </p:nvSpPr>
        <p:spPr>
          <a:xfrm>
            <a:off x="6885432" y="1353312"/>
            <a:ext cx="1783080" cy="54864"/>
          </a:xfrm>
          <a:prstGeom prst="rect">
            <a:avLst/>
          </a:prstGeom>
          <a:solidFill>
            <a:srgbClr val="1FBA8C"/>
          </a:solidFill>
          <a:ln/>
        </p:spPr>
      </p:sp>
      <p:sp>
        <p:nvSpPr>
          <p:cNvPr id="21" name="Text 19"/>
          <p:cNvSpPr/>
          <p:nvPr/>
        </p:nvSpPr>
        <p:spPr>
          <a:xfrm>
            <a:off x="6940296"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Fargate 웹</a:t>
            </a:r>
            <a:endParaRPr lang="en-US" sz="1050" dirty="0"/>
          </a:p>
        </p:txBody>
      </p:sp>
      <p:sp>
        <p:nvSpPr>
          <p:cNvPr id="22" name="Text 20"/>
          <p:cNvSpPr/>
          <p:nvPr/>
        </p:nvSpPr>
        <p:spPr>
          <a:xfrm>
            <a:off x="6940296"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thin-BFF :3000</a:t>
            </a:r>
            <a:endParaRPr lang="en-US" sz="750" dirty="0"/>
          </a:p>
        </p:txBody>
      </p:sp>
      <p:sp>
        <p:nvSpPr>
          <p:cNvPr id="23" name="Text 21"/>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엣지에서 끝나는 인증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100" dirty="0"/>
          </a:p>
        </p:txBody>
      </p:sp>
      <p:sp>
        <p:nvSpPr>
          <p:cNvPr id="24" name="Text 22"/>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자체 /login 폼 로그인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100" dirty="0"/>
          </a:p>
        </p:txBody>
      </p:sp>
      <p:sp>
        <p:nvSpPr>
          <p:cNvPr id="25" name="Text 23"/>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저장 데이터 보호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Aurora는 KMS CMK 암호화 + RDS 관리형 시크릿. 자격증명 하드코딩 없음</a:t>
            </a:r>
            <a:endParaRPr lang="en-US" sz="1100" dirty="0"/>
          </a:p>
        </p:txBody>
      </p:sp>
      <p:sp>
        <p:nvSpPr>
          <p:cNvPr id="26" name="Text 2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인터넷 노출 로드밸런서</a:t>
            </a:r>
            <a:endParaRPr lang="en-US" sz="750" dirty="0"/>
          </a:p>
        </p:txBody>
      </p:sp>
      <p:sp>
        <p:nvSpPr>
          <p:cNvPr id="28" name="Text 2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엣지 토큰 서명 검증 알고리즘</a:t>
            </a:r>
            <a:endParaRPr lang="en-US" sz="750" dirty="0"/>
          </a:p>
        </p:txBody>
      </p:sp>
      <p:sp>
        <p:nvSpPr>
          <p:cNvPr id="30" name="Text 2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세션 토큰 유효 시간</a:t>
            </a:r>
            <a:endParaRPr lang="en-US" sz="750" dirty="0"/>
          </a:p>
        </p:txBody>
      </p:sp>
      <p:sp>
        <p:nvSpPr>
          <p:cNvPr id="32" name="Text 3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Aurora 저장 데이터 암호화</a:t>
            </a:r>
            <a:endParaRPr lang="en-US" sz="750" dirty="0"/>
          </a:p>
        </p:txBody>
      </p:sp>
      <p:sp>
        <p:nvSpPr>
          <p:cNvPr id="34" name="Text 3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5" name="Text 3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범용 챗봇이 아니라, 전문 에이전트 9팀</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Bedrock AgentCore 게이트웨이 9종 + 챗 섹션 16키의 도메인 분업 구조</a:t>
            </a:r>
            <a:endParaRPr lang="en-US" sz="1200" dirty="0"/>
          </a:p>
        </p:txBody>
      </p:sp>
      <p:sp>
        <p:nvSpPr>
          <p:cNvPr id="4" name="Text 2"/>
          <p:cNvSpPr/>
          <p:nvPr/>
        </p:nvSpPr>
        <p:spPr>
          <a:xfrm>
            <a:off x="384048" y="1225296"/>
            <a:ext cx="8375904" cy="219456"/>
          </a:xfrm>
          <a:prstGeom prst="rect">
            <a:avLst/>
          </a:prstGeom>
          <a:noFill/>
          <a:ln/>
        </p:spPr>
        <p:txBody>
          <a:bodyPr wrap="square" lIns="0" tIns="0" rIns="0" bIns="0" rtlCol="0" anchor="ctr"/>
          <a:lstStyle/>
          <a:p>
            <a:pPr indent="0" marL="0">
              <a:buNone/>
            </a:pPr>
            <a:r>
              <a:rPr lang="en-US" sz="1050" b="1" dirty="0">
                <a:solidFill>
                  <a:srgbClr val="E2E4EC"/>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050" dirty="0"/>
          </a:p>
        </p:txBody>
      </p:sp>
      <p:sp>
        <p:nvSpPr>
          <p:cNvPr id="5" name="Shape 3"/>
          <p:cNvSpPr/>
          <p:nvPr/>
        </p:nvSpPr>
        <p:spPr>
          <a:xfrm>
            <a:off x="384048" y="1481328"/>
            <a:ext cx="865632" cy="457200"/>
          </a:xfrm>
          <a:prstGeom prst="roundRect">
            <a:avLst>
              <a:gd name="adj" fmla="val 10000"/>
            </a:avLst>
          </a:prstGeom>
          <a:solidFill>
            <a:srgbClr val="1C1F30"/>
          </a:solidFill>
          <a:ln w="9525">
            <a:solidFill>
              <a:srgbClr val="FF693C"/>
            </a:solidFill>
            <a:prstDash val="solid"/>
          </a:ln>
        </p:spPr>
      </p:sp>
      <p:sp>
        <p:nvSpPr>
          <p:cNvPr id="6" name="Text 4"/>
          <p:cNvSpPr/>
          <p:nvPr/>
        </p:nvSpPr>
        <p:spPr>
          <a:xfrm>
            <a:off x="38404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Network</a:t>
            </a:r>
            <a:endParaRPr lang="en-US" sz="850" dirty="0"/>
          </a:p>
        </p:txBody>
      </p:sp>
      <p:sp>
        <p:nvSpPr>
          <p:cNvPr id="7" name="Shape 5"/>
          <p:cNvSpPr/>
          <p:nvPr/>
        </p:nvSpPr>
        <p:spPr>
          <a:xfrm>
            <a:off x="1322832" y="1481328"/>
            <a:ext cx="865632" cy="457200"/>
          </a:xfrm>
          <a:prstGeom prst="roundRect">
            <a:avLst>
              <a:gd name="adj" fmla="val 10000"/>
            </a:avLst>
          </a:prstGeom>
          <a:solidFill>
            <a:srgbClr val="1C1F30"/>
          </a:solidFill>
          <a:ln w="9525">
            <a:solidFill>
              <a:srgbClr val="FF693C"/>
            </a:solidFill>
            <a:prstDash val="solid"/>
          </a:ln>
        </p:spPr>
      </p:sp>
      <p:sp>
        <p:nvSpPr>
          <p:cNvPr id="8" name="Text 6"/>
          <p:cNvSpPr/>
          <p:nvPr/>
        </p:nvSpPr>
        <p:spPr>
          <a:xfrm>
            <a:off x="132283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Container</a:t>
            </a:r>
            <a:endParaRPr lang="en-US" sz="850" dirty="0"/>
          </a:p>
        </p:txBody>
      </p:sp>
      <p:sp>
        <p:nvSpPr>
          <p:cNvPr id="9" name="Shape 7"/>
          <p:cNvSpPr/>
          <p:nvPr/>
        </p:nvSpPr>
        <p:spPr>
          <a:xfrm>
            <a:off x="2261616" y="1481328"/>
            <a:ext cx="865632" cy="457200"/>
          </a:xfrm>
          <a:prstGeom prst="roundRect">
            <a:avLst>
              <a:gd name="adj" fmla="val 10000"/>
            </a:avLst>
          </a:prstGeom>
          <a:solidFill>
            <a:srgbClr val="1C1F30"/>
          </a:solidFill>
          <a:ln w="9525">
            <a:solidFill>
              <a:srgbClr val="FF693C"/>
            </a:solidFill>
            <a:prstDash val="solid"/>
          </a:ln>
        </p:spPr>
      </p:sp>
      <p:sp>
        <p:nvSpPr>
          <p:cNvPr id="10" name="Text 8"/>
          <p:cNvSpPr/>
          <p:nvPr/>
        </p:nvSpPr>
        <p:spPr>
          <a:xfrm>
            <a:off x="226161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Data</a:t>
            </a:r>
            <a:endParaRPr lang="en-US" sz="850" dirty="0"/>
          </a:p>
        </p:txBody>
      </p:sp>
      <p:sp>
        <p:nvSpPr>
          <p:cNvPr id="11" name="Shape 9"/>
          <p:cNvSpPr/>
          <p:nvPr/>
        </p:nvSpPr>
        <p:spPr>
          <a:xfrm>
            <a:off x="3200400" y="1481328"/>
            <a:ext cx="865632" cy="457200"/>
          </a:xfrm>
          <a:prstGeom prst="roundRect">
            <a:avLst>
              <a:gd name="adj" fmla="val 10000"/>
            </a:avLst>
          </a:prstGeom>
          <a:solidFill>
            <a:srgbClr val="1C1F30"/>
          </a:solidFill>
          <a:ln w="9525">
            <a:solidFill>
              <a:srgbClr val="FF693C"/>
            </a:solidFill>
            <a:prstDash val="solid"/>
          </a:ln>
        </p:spPr>
      </p:sp>
      <p:sp>
        <p:nvSpPr>
          <p:cNvPr id="12" name="Text 10"/>
          <p:cNvSpPr/>
          <p:nvPr/>
        </p:nvSpPr>
        <p:spPr>
          <a:xfrm>
            <a:off x="320040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Security</a:t>
            </a:r>
            <a:endParaRPr lang="en-US" sz="850" dirty="0"/>
          </a:p>
        </p:txBody>
      </p:sp>
      <p:sp>
        <p:nvSpPr>
          <p:cNvPr id="13" name="Shape 11"/>
          <p:cNvSpPr/>
          <p:nvPr/>
        </p:nvSpPr>
        <p:spPr>
          <a:xfrm>
            <a:off x="4139184" y="1481328"/>
            <a:ext cx="865632" cy="457200"/>
          </a:xfrm>
          <a:prstGeom prst="roundRect">
            <a:avLst>
              <a:gd name="adj" fmla="val 10000"/>
            </a:avLst>
          </a:prstGeom>
          <a:solidFill>
            <a:srgbClr val="1C1F30"/>
          </a:solidFill>
          <a:ln w="9525">
            <a:solidFill>
              <a:srgbClr val="FF693C"/>
            </a:solidFill>
            <a:prstDash val="solid"/>
          </a:ln>
        </p:spPr>
      </p:sp>
      <p:sp>
        <p:nvSpPr>
          <p:cNvPr id="14" name="Text 12"/>
          <p:cNvSpPr/>
          <p:nvPr/>
        </p:nvSpPr>
        <p:spPr>
          <a:xfrm>
            <a:off x="4139184"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Cost</a:t>
            </a:r>
            <a:endParaRPr lang="en-US" sz="850" dirty="0"/>
          </a:p>
        </p:txBody>
      </p:sp>
      <p:sp>
        <p:nvSpPr>
          <p:cNvPr id="15" name="Shape 13"/>
          <p:cNvSpPr/>
          <p:nvPr/>
        </p:nvSpPr>
        <p:spPr>
          <a:xfrm>
            <a:off x="5077968" y="1481328"/>
            <a:ext cx="865632" cy="457200"/>
          </a:xfrm>
          <a:prstGeom prst="roundRect">
            <a:avLst>
              <a:gd name="adj" fmla="val 10000"/>
            </a:avLst>
          </a:prstGeom>
          <a:solidFill>
            <a:srgbClr val="1C1F30"/>
          </a:solidFill>
          <a:ln w="9525">
            <a:solidFill>
              <a:srgbClr val="FF693C"/>
            </a:solidFill>
            <a:prstDash val="solid"/>
          </a:ln>
        </p:spPr>
      </p:sp>
      <p:sp>
        <p:nvSpPr>
          <p:cNvPr id="16" name="Text 14"/>
          <p:cNvSpPr/>
          <p:nvPr/>
        </p:nvSpPr>
        <p:spPr>
          <a:xfrm>
            <a:off x="507796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Monitoring</a:t>
            </a:r>
            <a:endParaRPr lang="en-US" sz="850" dirty="0"/>
          </a:p>
        </p:txBody>
      </p:sp>
      <p:sp>
        <p:nvSpPr>
          <p:cNvPr id="17" name="Shape 15"/>
          <p:cNvSpPr/>
          <p:nvPr/>
        </p:nvSpPr>
        <p:spPr>
          <a:xfrm>
            <a:off x="6016752" y="1481328"/>
            <a:ext cx="865632" cy="457200"/>
          </a:xfrm>
          <a:prstGeom prst="roundRect">
            <a:avLst>
              <a:gd name="adj" fmla="val 10000"/>
            </a:avLst>
          </a:prstGeom>
          <a:solidFill>
            <a:srgbClr val="1C1F30"/>
          </a:solidFill>
          <a:ln w="9525">
            <a:solidFill>
              <a:srgbClr val="FF693C"/>
            </a:solidFill>
            <a:prstDash val="solid"/>
          </a:ln>
        </p:spPr>
      </p:sp>
      <p:sp>
        <p:nvSpPr>
          <p:cNvPr id="18" name="Text 16"/>
          <p:cNvSpPr/>
          <p:nvPr/>
        </p:nvSpPr>
        <p:spPr>
          <a:xfrm>
            <a:off x="601675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IaC</a:t>
            </a:r>
            <a:endParaRPr lang="en-US" sz="850" dirty="0"/>
          </a:p>
        </p:txBody>
      </p:sp>
      <p:sp>
        <p:nvSpPr>
          <p:cNvPr id="19" name="Shape 17"/>
          <p:cNvSpPr/>
          <p:nvPr/>
        </p:nvSpPr>
        <p:spPr>
          <a:xfrm>
            <a:off x="6955536" y="1481328"/>
            <a:ext cx="865632" cy="457200"/>
          </a:xfrm>
          <a:prstGeom prst="roundRect">
            <a:avLst>
              <a:gd name="adj" fmla="val 10000"/>
            </a:avLst>
          </a:prstGeom>
          <a:solidFill>
            <a:srgbClr val="1C1F30"/>
          </a:solidFill>
          <a:ln w="9525">
            <a:solidFill>
              <a:srgbClr val="FF693C"/>
            </a:solidFill>
            <a:prstDash val="solid"/>
          </a:ln>
        </p:spPr>
      </p:sp>
      <p:sp>
        <p:nvSpPr>
          <p:cNvPr id="20" name="Text 18"/>
          <p:cNvSpPr/>
          <p:nvPr/>
        </p:nvSpPr>
        <p:spPr>
          <a:xfrm>
            <a:off x="695553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Ops</a:t>
            </a:r>
            <a:endParaRPr lang="en-US" sz="850" dirty="0"/>
          </a:p>
        </p:txBody>
      </p:sp>
      <p:sp>
        <p:nvSpPr>
          <p:cNvPr id="21" name="Shape 19"/>
          <p:cNvSpPr/>
          <p:nvPr/>
        </p:nvSpPr>
        <p:spPr>
          <a:xfrm>
            <a:off x="7894320" y="1481328"/>
            <a:ext cx="865632" cy="457200"/>
          </a:xfrm>
          <a:prstGeom prst="roundRect">
            <a:avLst>
              <a:gd name="adj" fmla="val 10000"/>
            </a:avLst>
          </a:prstGeom>
          <a:solidFill>
            <a:srgbClr val="1C1F30"/>
          </a:solidFill>
          <a:ln w="9525">
            <a:solidFill>
              <a:srgbClr val="FF693C"/>
            </a:solidFill>
            <a:prstDash val="solid"/>
          </a:ln>
        </p:spPr>
      </p:sp>
      <p:sp>
        <p:nvSpPr>
          <p:cNvPr id="22" name="Text 20"/>
          <p:cNvSpPr/>
          <p:nvPr/>
        </p:nvSpPr>
        <p:spPr>
          <a:xfrm>
            <a:off x="789432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External-Obs</a:t>
            </a:r>
            <a:endParaRPr lang="en-US" sz="850" dirty="0"/>
          </a:p>
        </p:txBody>
      </p:sp>
      <p:sp>
        <p:nvSpPr>
          <p:cNvPr id="23" name="Shape 21"/>
          <p:cNvSpPr/>
          <p:nvPr/>
        </p:nvSpPr>
        <p:spPr>
          <a:xfrm>
            <a:off x="384048" y="2139696"/>
            <a:ext cx="2731008" cy="54864"/>
          </a:xfrm>
          <a:prstGeom prst="rect">
            <a:avLst/>
          </a:prstGeom>
          <a:solidFill>
            <a:srgbClr val="5A9CFF"/>
          </a:solidFill>
          <a:ln/>
        </p:spPr>
      </p:sp>
      <p:sp>
        <p:nvSpPr>
          <p:cNvPr id="24" name="Shape 22"/>
          <p:cNvSpPr/>
          <p:nvPr/>
        </p:nvSpPr>
        <p:spPr>
          <a:xfrm>
            <a:off x="384048" y="2194560"/>
            <a:ext cx="2731008" cy="1865376"/>
          </a:xfrm>
          <a:prstGeom prst="rect">
            <a:avLst/>
          </a:prstGeom>
          <a:solidFill>
            <a:srgbClr val="1C1F30"/>
          </a:solidFill>
          <a:ln w="9525">
            <a:solidFill>
              <a:srgbClr val="2A2F44"/>
            </a:solidFill>
            <a:prstDash val="solid"/>
          </a:ln>
        </p:spPr>
      </p:sp>
      <p:sp>
        <p:nvSpPr>
          <p:cNvPr id="25" name="Text 23"/>
          <p:cNvSpPr/>
          <p:nvPr/>
        </p:nvSpPr>
        <p:spPr>
          <a:xfrm>
            <a:off x="512064"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대화형 어시스턴트</a:t>
            </a:r>
            <a:endParaRPr lang="en-US" sz="1200" dirty="0"/>
          </a:p>
        </p:txBody>
      </p:sp>
      <p:sp>
        <p:nvSpPr>
          <p:cNvPr id="26" name="Text 24"/>
          <p:cNvSpPr/>
          <p:nvPr/>
        </p:nvSpPr>
        <p:spPr>
          <a:xfrm>
            <a:off x="512064"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950" dirty="0"/>
          </a:p>
        </p:txBody>
      </p:sp>
      <p:sp>
        <p:nvSpPr>
          <p:cNvPr id="27" name="Shape 25"/>
          <p:cNvSpPr/>
          <p:nvPr/>
        </p:nvSpPr>
        <p:spPr>
          <a:xfrm>
            <a:off x="3206496" y="2139696"/>
            <a:ext cx="2731008" cy="54864"/>
          </a:xfrm>
          <a:prstGeom prst="rect">
            <a:avLst/>
          </a:prstGeom>
          <a:solidFill>
            <a:srgbClr val="1FBA8C"/>
          </a:solidFill>
          <a:ln/>
        </p:spPr>
      </p:sp>
      <p:sp>
        <p:nvSpPr>
          <p:cNvPr id="28" name="Shape 26"/>
          <p:cNvSpPr/>
          <p:nvPr/>
        </p:nvSpPr>
        <p:spPr>
          <a:xfrm>
            <a:off x="3206496" y="2194560"/>
            <a:ext cx="2731008" cy="1865376"/>
          </a:xfrm>
          <a:prstGeom prst="rect">
            <a:avLst/>
          </a:prstGeom>
          <a:solidFill>
            <a:srgbClr val="1C1F30"/>
          </a:solidFill>
          <a:ln w="9525">
            <a:solidFill>
              <a:srgbClr val="2A2F44"/>
            </a:solidFill>
            <a:prstDash val="solid"/>
          </a:ln>
        </p:spPr>
      </p:sp>
      <p:sp>
        <p:nvSpPr>
          <p:cNvPr id="29" name="Text 27"/>
          <p:cNvSpPr/>
          <p:nvPr/>
        </p:nvSpPr>
        <p:spPr>
          <a:xfrm>
            <a:off x="3334512"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aws-data — 리소스 질의 섹션</a:t>
            </a:r>
            <a:endParaRPr lang="en-US" sz="1200" dirty="0"/>
          </a:p>
        </p:txBody>
      </p:sp>
      <p:sp>
        <p:nvSpPr>
          <p:cNvPr id="30" name="Text 28"/>
          <p:cNvSpPr/>
          <p:nvPr/>
        </p:nvSpPr>
        <p:spPr>
          <a:xfrm>
            <a:off x="3334512"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950" dirty="0"/>
          </a:p>
        </p:txBody>
      </p:sp>
      <p:sp>
        <p:nvSpPr>
          <p:cNvPr id="31" name="Shape 29"/>
          <p:cNvSpPr/>
          <p:nvPr/>
        </p:nvSpPr>
        <p:spPr>
          <a:xfrm>
            <a:off x="6028944" y="2139696"/>
            <a:ext cx="2731008" cy="54864"/>
          </a:xfrm>
          <a:prstGeom prst="rect">
            <a:avLst/>
          </a:prstGeom>
          <a:solidFill>
            <a:srgbClr val="E8825D"/>
          </a:solidFill>
          <a:ln/>
        </p:spPr>
      </p:sp>
      <p:sp>
        <p:nvSpPr>
          <p:cNvPr id="32" name="Shape 30"/>
          <p:cNvSpPr/>
          <p:nvPr/>
        </p:nvSpPr>
        <p:spPr>
          <a:xfrm>
            <a:off x="6028944" y="2194560"/>
            <a:ext cx="2731008" cy="1865376"/>
          </a:xfrm>
          <a:prstGeom prst="rect">
            <a:avLst/>
          </a:prstGeom>
          <a:solidFill>
            <a:srgbClr val="1C1F30"/>
          </a:solidFill>
          <a:ln w="9525">
            <a:solidFill>
              <a:srgbClr val="2A2F44"/>
            </a:solidFill>
            <a:prstDash val="solid"/>
          </a:ln>
        </p:spPr>
      </p:sp>
      <p:sp>
        <p:nvSpPr>
          <p:cNvPr id="33" name="Text 31"/>
          <p:cNvSpPr/>
          <p:nvPr/>
        </p:nvSpPr>
        <p:spPr>
          <a:xfrm>
            <a:off x="6156960"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전문 섹션 6종 (자동 수집형 설계)</a:t>
            </a:r>
            <a:endParaRPr lang="en-US" sz="1200" dirty="0"/>
          </a:p>
        </p:txBody>
      </p:sp>
      <p:sp>
        <p:nvSpPr>
          <p:cNvPr id="34" name="Text 32"/>
          <p:cNvSpPr/>
          <p:nvPr/>
        </p:nvSpPr>
        <p:spPr>
          <a:xfrm>
            <a:off x="6156960"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 현재는 설계 원칙(ADR-001/010)에 따라 비활성, 표준 라우팅으로 대응. 총 16개 챗 섹션 구성</a:t>
            </a:r>
            <a:endParaRPr lang="en-US" sz="95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AgentCore 게이트웨이 (MCP 도구)</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챗 섹션 키 (게이트웨이 9 + 로컬 7)</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모델 티어 (상위·표준·경량)</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in-account</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계정 내 AI 호출 — 외부 AI SaaS 없음</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무거운 진단이 화면을 죽이지 않는다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200" dirty="0"/>
          </a:p>
        </p:txBody>
      </p:sp>
      <p:sp>
        <p:nvSpPr>
          <p:cNvPr id="4" name="Shape 2"/>
          <p:cNvSpPr/>
          <p:nvPr/>
        </p:nvSpPr>
        <p:spPr>
          <a:xfrm>
            <a:off x="384048" y="1353312"/>
            <a:ext cx="1481328" cy="868680"/>
          </a:xfrm>
          <a:prstGeom prst="rect">
            <a:avLst/>
          </a:prstGeom>
          <a:solidFill>
            <a:srgbClr val="1C1F30"/>
          </a:solidFill>
          <a:ln w="9525">
            <a:solidFill>
              <a:srgbClr val="2A2F44"/>
            </a:solidFill>
            <a:prstDash val="solid"/>
          </a:ln>
        </p:spPr>
      </p:sp>
      <p:sp>
        <p:nvSpPr>
          <p:cNvPr id="5" name="Shape 3"/>
          <p:cNvSpPr/>
          <p:nvPr/>
        </p:nvSpPr>
        <p:spPr>
          <a:xfrm>
            <a:off x="384048" y="1353312"/>
            <a:ext cx="1481328" cy="54864"/>
          </a:xfrm>
          <a:prstGeom prst="rect">
            <a:avLst/>
          </a:prstGeom>
          <a:solidFill>
            <a:srgbClr val="1FBA8C"/>
          </a:solidFill>
          <a:ln/>
        </p:spPr>
      </p:sp>
      <p:sp>
        <p:nvSpPr>
          <p:cNvPr id="6" name="Text 4"/>
          <p:cNvSpPr/>
          <p:nvPr/>
        </p:nvSpPr>
        <p:spPr>
          <a:xfrm>
            <a:off x="43891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웹 BFF</a:t>
            </a:r>
            <a:endParaRPr lang="en-US" sz="1050" dirty="0"/>
          </a:p>
        </p:txBody>
      </p:sp>
      <p:sp>
        <p:nvSpPr>
          <p:cNvPr id="7" name="Text 5"/>
          <p:cNvSpPr/>
          <p:nvPr/>
        </p:nvSpPr>
        <p:spPr>
          <a:xfrm>
            <a:off x="43891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작업 접수 즉시 응답</a:t>
            </a:r>
            <a:endParaRPr lang="en-US" sz="750" dirty="0"/>
          </a:p>
        </p:txBody>
      </p:sp>
      <p:sp>
        <p:nvSpPr>
          <p:cNvPr id="8" name="Shape 6"/>
          <p:cNvSpPr/>
          <p:nvPr/>
        </p:nvSpPr>
        <p:spPr>
          <a:xfrm>
            <a:off x="1901952" y="1719072"/>
            <a:ext cx="182880" cy="146304"/>
          </a:xfrm>
          <a:prstGeom prst="rightArrow">
            <a:avLst/>
          </a:prstGeom>
          <a:solidFill>
            <a:srgbClr val="7B8198"/>
          </a:solidFill>
          <a:ln/>
        </p:spPr>
      </p:sp>
      <p:sp>
        <p:nvSpPr>
          <p:cNvPr id="9" name="Shape 7"/>
          <p:cNvSpPr/>
          <p:nvPr/>
        </p:nvSpPr>
        <p:spPr>
          <a:xfrm>
            <a:off x="2121408" y="1353312"/>
            <a:ext cx="1481328" cy="868680"/>
          </a:xfrm>
          <a:prstGeom prst="rect">
            <a:avLst/>
          </a:prstGeom>
          <a:solidFill>
            <a:srgbClr val="1C1F30"/>
          </a:solidFill>
          <a:ln w="9525">
            <a:solidFill>
              <a:srgbClr val="2A2F44"/>
            </a:solidFill>
            <a:prstDash val="solid"/>
          </a:ln>
        </p:spPr>
      </p:sp>
      <p:sp>
        <p:nvSpPr>
          <p:cNvPr id="10" name="Shape 8"/>
          <p:cNvSpPr/>
          <p:nvPr/>
        </p:nvSpPr>
        <p:spPr>
          <a:xfrm>
            <a:off x="2121408" y="1353312"/>
            <a:ext cx="1481328" cy="54864"/>
          </a:xfrm>
          <a:prstGeom prst="rect">
            <a:avLst/>
          </a:prstGeom>
          <a:solidFill>
            <a:srgbClr val="5A9CFF"/>
          </a:solidFill>
          <a:ln/>
        </p:spPr>
      </p:sp>
      <p:sp>
        <p:nvSpPr>
          <p:cNvPr id="11" name="Text 9"/>
          <p:cNvSpPr/>
          <p:nvPr/>
        </p:nvSpPr>
        <p:spPr>
          <a:xfrm>
            <a:off x="217627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SQS</a:t>
            </a:r>
            <a:endParaRPr lang="en-US" sz="1050" dirty="0"/>
          </a:p>
        </p:txBody>
      </p:sp>
      <p:sp>
        <p:nvSpPr>
          <p:cNvPr id="12" name="Text 10"/>
          <p:cNvSpPr/>
          <p:nvPr/>
        </p:nvSpPr>
        <p:spPr>
          <a:xfrm>
            <a:off x="217627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큐잉 + 킬스위치</a:t>
            </a:r>
            <a:endParaRPr lang="en-US" sz="750" dirty="0"/>
          </a:p>
        </p:txBody>
      </p:sp>
      <p:sp>
        <p:nvSpPr>
          <p:cNvPr id="13" name="Shape 11"/>
          <p:cNvSpPr/>
          <p:nvPr/>
        </p:nvSpPr>
        <p:spPr>
          <a:xfrm>
            <a:off x="3639312" y="1719072"/>
            <a:ext cx="182880" cy="146304"/>
          </a:xfrm>
          <a:prstGeom prst="rightArrow">
            <a:avLst/>
          </a:prstGeom>
          <a:solidFill>
            <a:srgbClr val="7B8198"/>
          </a:solidFill>
          <a:ln/>
        </p:spPr>
      </p:sp>
      <p:sp>
        <p:nvSpPr>
          <p:cNvPr id="14" name="Shape 12"/>
          <p:cNvSpPr/>
          <p:nvPr/>
        </p:nvSpPr>
        <p:spPr>
          <a:xfrm>
            <a:off x="3858768" y="1353312"/>
            <a:ext cx="1481328" cy="868680"/>
          </a:xfrm>
          <a:prstGeom prst="rect">
            <a:avLst/>
          </a:prstGeom>
          <a:solidFill>
            <a:srgbClr val="1C1F30"/>
          </a:solidFill>
          <a:ln w="9525">
            <a:solidFill>
              <a:srgbClr val="2A2F44"/>
            </a:solidFill>
            <a:prstDash val="solid"/>
          </a:ln>
        </p:spPr>
      </p:sp>
      <p:sp>
        <p:nvSpPr>
          <p:cNvPr id="15" name="Shape 13"/>
          <p:cNvSpPr/>
          <p:nvPr/>
        </p:nvSpPr>
        <p:spPr>
          <a:xfrm>
            <a:off x="3858768" y="1353312"/>
            <a:ext cx="1481328" cy="54864"/>
          </a:xfrm>
          <a:prstGeom prst="rect">
            <a:avLst/>
          </a:prstGeom>
          <a:solidFill>
            <a:srgbClr val="5A9CFF"/>
          </a:solidFill>
          <a:ln/>
        </p:spPr>
      </p:sp>
      <p:sp>
        <p:nvSpPr>
          <p:cNvPr id="16" name="Text 14"/>
          <p:cNvSpPr/>
          <p:nvPr/>
        </p:nvSpPr>
        <p:spPr>
          <a:xfrm>
            <a:off x="391363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Dispatcher</a:t>
            </a:r>
            <a:endParaRPr lang="en-US" sz="1050" dirty="0"/>
          </a:p>
        </p:txBody>
      </p:sp>
      <p:sp>
        <p:nvSpPr>
          <p:cNvPr id="17" name="Text 15"/>
          <p:cNvSpPr/>
          <p:nvPr/>
        </p:nvSpPr>
        <p:spPr>
          <a:xfrm>
            <a:off x="391363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멱등 디스패치</a:t>
            </a:r>
            <a:endParaRPr lang="en-US" sz="750" dirty="0"/>
          </a:p>
        </p:txBody>
      </p:sp>
      <p:sp>
        <p:nvSpPr>
          <p:cNvPr id="18" name="Shape 16"/>
          <p:cNvSpPr/>
          <p:nvPr/>
        </p:nvSpPr>
        <p:spPr>
          <a:xfrm>
            <a:off x="5376672" y="1719072"/>
            <a:ext cx="182880" cy="146304"/>
          </a:xfrm>
          <a:prstGeom prst="rightArrow">
            <a:avLst/>
          </a:prstGeom>
          <a:solidFill>
            <a:srgbClr val="7B8198"/>
          </a:solidFill>
          <a:ln/>
        </p:spPr>
      </p:sp>
      <p:sp>
        <p:nvSpPr>
          <p:cNvPr id="19" name="Shape 17"/>
          <p:cNvSpPr/>
          <p:nvPr/>
        </p:nvSpPr>
        <p:spPr>
          <a:xfrm>
            <a:off x="5596128" y="1353312"/>
            <a:ext cx="1481328" cy="868680"/>
          </a:xfrm>
          <a:prstGeom prst="rect">
            <a:avLst/>
          </a:prstGeom>
          <a:solidFill>
            <a:srgbClr val="1C1F30"/>
          </a:solidFill>
          <a:ln w="9525">
            <a:solidFill>
              <a:srgbClr val="2A2F44"/>
            </a:solidFill>
            <a:prstDash val="solid"/>
          </a:ln>
        </p:spPr>
      </p:sp>
      <p:sp>
        <p:nvSpPr>
          <p:cNvPr id="20" name="Shape 18"/>
          <p:cNvSpPr/>
          <p:nvPr/>
        </p:nvSpPr>
        <p:spPr>
          <a:xfrm>
            <a:off x="5596128" y="1353312"/>
            <a:ext cx="1481328" cy="54864"/>
          </a:xfrm>
          <a:prstGeom prst="rect">
            <a:avLst/>
          </a:prstGeom>
          <a:solidFill>
            <a:srgbClr val="FF693C"/>
          </a:solidFill>
          <a:ln/>
        </p:spPr>
      </p:sp>
      <p:sp>
        <p:nvSpPr>
          <p:cNvPr id="21" name="Text 19"/>
          <p:cNvSpPr/>
          <p:nvPr/>
        </p:nvSpPr>
        <p:spPr>
          <a:xfrm>
            <a:off x="565099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Step Functions</a:t>
            </a:r>
            <a:endParaRPr lang="en-US" sz="1050" dirty="0"/>
          </a:p>
        </p:txBody>
      </p:sp>
      <p:sp>
        <p:nvSpPr>
          <p:cNvPr id="22" name="Text 20"/>
          <p:cNvSpPr/>
          <p:nvPr/>
        </p:nvSpPr>
        <p:spPr>
          <a:xfrm>
            <a:off x="565099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런타임 선택 분기</a:t>
            </a:r>
            <a:endParaRPr lang="en-US" sz="750" dirty="0"/>
          </a:p>
        </p:txBody>
      </p:sp>
      <p:sp>
        <p:nvSpPr>
          <p:cNvPr id="23" name="Shape 21"/>
          <p:cNvSpPr/>
          <p:nvPr/>
        </p:nvSpPr>
        <p:spPr>
          <a:xfrm>
            <a:off x="7114032" y="1719072"/>
            <a:ext cx="182880" cy="146304"/>
          </a:xfrm>
          <a:prstGeom prst="rightArrow">
            <a:avLst/>
          </a:prstGeom>
          <a:solidFill>
            <a:srgbClr val="7B8198"/>
          </a:solidFill>
          <a:ln/>
        </p:spPr>
      </p:sp>
      <p:sp>
        <p:nvSpPr>
          <p:cNvPr id="24" name="Shape 22"/>
          <p:cNvSpPr/>
          <p:nvPr/>
        </p:nvSpPr>
        <p:spPr>
          <a:xfrm>
            <a:off x="7333488" y="1353312"/>
            <a:ext cx="1481328" cy="868680"/>
          </a:xfrm>
          <a:prstGeom prst="rect">
            <a:avLst/>
          </a:prstGeom>
          <a:solidFill>
            <a:srgbClr val="1C1F30"/>
          </a:solidFill>
          <a:ln w="9525">
            <a:solidFill>
              <a:srgbClr val="2A2F44"/>
            </a:solidFill>
            <a:prstDash val="solid"/>
          </a:ln>
        </p:spPr>
      </p:sp>
      <p:sp>
        <p:nvSpPr>
          <p:cNvPr id="25" name="Shape 23"/>
          <p:cNvSpPr/>
          <p:nvPr/>
        </p:nvSpPr>
        <p:spPr>
          <a:xfrm>
            <a:off x="7333488" y="1353312"/>
            <a:ext cx="1481328" cy="54864"/>
          </a:xfrm>
          <a:prstGeom prst="rect">
            <a:avLst/>
          </a:prstGeom>
          <a:solidFill>
            <a:srgbClr val="E8825D"/>
          </a:solidFill>
          <a:ln/>
        </p:spPr>
      </p:sp>
      <p:sp>
        <p:nvSpPr>
          <p:cNvPr id="26" name="Text 24"/>
          <p:cNvSpPr/>
          <p:nvPr/>
        </p:nvSpPr>
        <p:spPr>
          <a:xfrm>
            <a:off x="738835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Lambda / Fargate</a:t>
            </a:r>
            <a:endParaRPr lang="en-US" sz="1050" dirty="0"/>
          </a:p>
        </p:txBody>
      </p:sp>
      <p:sp>
        <p:nvSpPr>
          <p:cNvPr id="27" name="Text 25"/>
          <p:cNvSpPr/>
          <p:nvPr/>
        </p:nvSpPr>
        <p:spPr>
          <a:xfrm>
            <a:off x="738835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짧은 작업 / 긴·무거운 작업</a:t>
            </a:r>
            <a:endParaRPr lang="en-US" sz="750" dirty="0"/>
          </a:p>
        </p:txBody>
      </p:sp>
      <p:sp>
        <p:nvSpPr>
          <p:cNvPr id="28" name="Text 26"/>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장애 격리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100" dirty="0"/>
          </a:p>
        </p:txBody>
      </p:sp>
      <p:sp>
        <p:nvSpPr>
          <p:cNvPr id="29" name="Text 27"/>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끝까지 정합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100" dirty="0"/>
          </a:p>
        </p:txBody>
      </p:sp>
      <p:sp>
        <p:nvSpPr>
          <p:cNvPr id="30" name="Text 28"/>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이중 런타임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100" dirty="0"/>
          </a:p>
        </p:txBody>
      </p:sp>
      <p:sp>
        <p:nvSpPr>
          <p:cNvPr id="31" name="Text 2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a:t>
            </a:r>
            <a:endParaRPr lang="en-US" sz="1600" dirty="0"/>
          </a:p>
        </p:txBody>
      </p:sp>
      <p:sp>
        <p:nvSpPr>
          <p:cNvPr id="32" name="Text 3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33" name="Text 3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5분</a:t>
            </a:r>
            <a:endParaRPr lang="en-US" sz="1600" dirty="0"/>
          </a:p>
        </p:txBody>
      </p:sp>
      <p:sp>
        <p:nvSpPr>
          <p:cNvPr id="34" name="Text 3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reaper 상태 정합화 주기</a:t>
            </a:r>
            <a:endParaRPr lang="en-US" sz="750" dirty="0"/>
          </a:p>
        </p:txBody>
      </p:sp>
      <p:sp>
        <p:nvSpPr>
          <p:cNvPr id="35" name="Text 3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36" name="Text 3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진단 리포트 섹션 수 (의도 대비 실제 포함)</a:t>
            </a:r>
            <a:endParaRPr lang="en-US" sz="750" dirty="0"/>
          </a:p>
        </p:txBody>
      </p:sp>
      <p:sp>
        <p:nvSpPr>
          <p:cNvPr id="37" name="Text 3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38" name="Text 3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장애의 웹 가용성 영향</a:t>
            </a:r>
            <a:endParaRPr lang="en-US" sz="750" dirty="0"/>
          </a:p>
        </p:txBody>
      </p:sp>
      <p:sp>
        <p:nvSpPr>
          <p:cNvPr id="39" name="Text 3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0" name="Text 3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읽기 전용은 제약이 아니라 신뢰다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200" dirty="0"/>
          </a:p>
        </p:txBody>
      </p:sp>
      <p:sp>
        <p:nvSpPr>
          <p:cNvPr id="4" name="Shape 2"/>
          <p:cNvSpPr/>
          <p:nvPr/>
        </p:nvSpPr>
        <p:spPr>
          <a:xfrm>
            <a:off x="384048" y="1298448"/>
            <a:ext cx="2731008" cy="54864"/>
          </a:xfrm>
          <a:prstGeom prst="rect">
            <a:avLst/>
          </a:prstGeom>
          <a:solidFill>
            <a:srgbClr val="FF693C"/>
          </a:solidFill>
          <a:ln/>
        </p:spPr>
      </p:sp>
      <p:sp>
        <p:nvSpPr>
          <p:cNvPr id="5" name="Shape 3"/>
          <p:cNvSpPr/>
          <p:nvPr/>
        </p:nvSpPr>
        <p:spPr>
          <a:xfrm>
            <a:off x="384048" y="1353312"/>
            <a:ext cx="2731008" cy="1792224"/>
          </a:xfrm>
          <a:prstGeom prst="rect">
            <a:avLst/>
          </a:prstGeom>
          <a:solidFill>
            <a:srgbClr val="1C1F30"/>
          </a:solidFill>
          <a:ln w="9525">
            <a:solidFill>
              <a:srgbClr val="2A2F44"/>
            </a:solidFill>
            <a:prstDash val="solid"/>
          </a:ln>
        </p:spPr>
      </p:sp>
      <p:sp>
        <p:nvSpPr>
          <p:cNvPr id="6" name="Text 4"/>
          <p:cNvSpPr/>
          <p:nvPr/>
        </p:nvSpPr>
        <p:spPr>
          <a:xfrm>
            <a:off x="512064"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거버넌스로 동결</a:t>
            </a:r>
            <a:endParaRPr lang="en-US" sz="1250" dirty="0"/>
          </a:p>
        </p:txBody>
      </p:sp>
      <p:sp>
        <p:nvSpPr>
          <p:cNvPr id="7" name="Text 5"/>
          <p:cNvSpPr/>
          <p:nvPr/>
        </p:nvSpPr>
        <p:spPr>
          <a:xfrm>
            <a:off x="512064"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1792224"/>
          </a:xfrm>
          <a:prstGeom prst="rect">
            <a:avLst/>
          </a:prstGeom>
          <a:solidFill>
            <a:srgbClr val="1C1F30"/>
          </a:solidFill>
          <a:ln w="9525">
            <a:solidFill>
              <a:srgbClr val="2A2F44"/>
            </a:solidFill>
            <a:prstDash val="solid"/>
          </a:ln>
        </p:spPr>
      </p:sp>
      <p:sp>
        <p:nvSpPr>
          <p:cNvPr id="10" name="Text 8"/>
          <p:cNvSpPr/>
          <p:nvPr/>
        </p:nvSpPr>
        <p:spPr>
          <a:xfrm>
            <a:off x="3334512"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K8s는 읽기 verb만</a:t>
            </a:r>
            <a:endParaRPr lang="en-US" sz="1250" dirty="0"/>
          </a:p>
        </p:txBody>
      </p:sp>
      <p:sp>
        <p:nvSpPr>
          <p:cNvPr id="11" name="Text 9"/>
          <p:cNvSpPr/>
          <p:nvPr/>
        </p:nvSpPr>
        <p:spPr>
          <a:xfrm>
            <a:off x="3334512"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950" dirty="0"/>
          </a:p>
        </p:txBody>
      </p:sp>
      <p:sp>
        <p:nvSpPr>
          <p:cNvPr id="12" name="Shape 10"/>
          <p:cNvSpPr/>
          <p:nvPr/>
        </p:nvSpPr>
        <p:spPr>
          <a:xfrm>
            <a:off x="6028944" y="1298448"/>
            <a:ext cx="2731008" cy="54864"/>
          </a:xfrm>
          <a:prstGeom prst="rect">
            <a:avLst/>
          </a:prstGeom>
          <a:solidFill>
            <a:srgbClr val="5A9CFF"/>
          </a:solidFill>
          <a:ln/>
        </p:spPr>
      </p:sp>
      <p:sp>
        <p:nvSpPr>
          <p:cNvPr id="13" name="Shape 11"/>
          <p:cNvSpPr/>
          <p:nvPr/>
        </p:nvSpPr>
        <p:spPr>
          <a:xfrm>
            <a:off x="6028944" y="1353312"/>
            <a:ext cx="2731008" cy="1792224"/>
          </a:xfrm>
          <a:prstGeom prst="rect">
            <a:avLst/>
          </a:prstGeom>
          <a:solidFill>
            <a:srgbClr val="1C1F30"/>
          </a:solidFill>
          <a:ln w="9525">
            <a:solidFill>
              <a:srgbClr val="2A2F44"/>
            </a:solidFill>
            <a:prstDash val="solid"/>
          </a:ln>
        </p:spPr>
      </p:sp>
      <p:sp>
        <p:nvSpPr>
          <p:cNvPr id="14" name="Text 12"/>
          <p:cNvSpPr/>
          <p:nvPr/>
        </p:nvSpPr>
        <p:spPr>
          <a:xfrm>
            <a:off x="6156960"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계정 연결 = 역할 1개</a:t>
            </a:r>
            <a:endParaRPr lang="en-US" sz="1250" dirty="0"/>
          </a:p>
        </p:txBody>
      </p:sp>
      <p:sp>
        <p:nvSpPr>
          <p:cNvPr id="15" name="Text 13"/>
          <p:cNvSpPr/>
          <p:nvPr/>
        </p:nvSpPr>
        <p:spPr>
          <a:xfrm>
            <a:off x="6156960"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950" dirty="0"/>
          </a:p>
        </p:txBody>
      </p:sp>
      <p:sp>
        <p:nvSpPr>
          <p:cNvPr id="16" name="Shape 14"/>
          <p:cNvSpPr/>
          <p:nvPr/>
        </p:nvSpPr>
        <p:spPr>
          <a:xfrm>
            <a:off x="384048" y="3310128"/>
            <a:ext cx="8375904" cy="749808"/>
          </a:xfrm>
          <a:prstGeom prst="rect">
            <a:avLst/>
          </a:prstGeom>
          <a:solidFill>
            <a:srgbClr val="1C1F30"/>
          </a:solidFill>
          <a:ln w="9525">
            <a:solidFill>
              <a:srgbClr val="2A2F44"/>
            </a:solidFill>
            <a:prstDash val="solid"/>
          </a:ln>
        </p:spPr>
      </p:sp>
      <p:sp>
        <p:nvSpPr>
          <p:cNvPr id="17" name="Text 15"/>
          <p:cNvSpPr/>
          <p:nvPr/>
        </p:nvSpPr>
        <p:spPr>
          <a:xfrm>
            <a:off x="603504" y="3419856"/>
            <a:ext cx="7936992" cy="548640"/>
          </a:xfrm>
          <a:prstGeom prst="rect">
            <a:avLst/>
          </a:prstGeom>
          <a:noFill/>
          <a:ln/>
        </p:spPr>
        <p:txBody>
          <a:bodyPr wrap="square" lIns="0" tIns="0" rIns="0" bIns="0" rtlCol="0" anchor="ctr"/>
          <a:lstStyle/>
          <a:p>
            <a:pPr indent="0" marL="0">
              <a:lnSpc>
                <a:spcPct val="120000"/>
              </a:lnSpc>
              <a:buNone/>
            </a:pPr>
            <a:r>
              <a:rPr lang="en-US" sz="1200" b="1" i="1" dirty="0">
                <a:solidFill>
                  <a:srgbClr val="FFFFFF"/>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00" dirty="0"/>
          </a:p>
        </p:txBody>
      </p:sp>
      <p:sp>
        <p:nvSpPr>
          <p:cNvPr id="18" name="Text 16"/>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19" name="Text 17"/>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IAM 역할 (ReadOnly)</a:t>
            </a:r>
            <a:endParaRPr lang="en-US" sz="750" dirty="0"/>
          </a:p>
        </p:txBody>
      </p:sp>
      <p:sp>
        <p:nvSpPr>
          <p:cNvPr id="20" name="Text 18"/>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get·list·watch</a:t>
            </a:r>
            <a:endParaRPr lang="en-US" sz="1600" dirty="0"/>
          </a:p>
        </p:txBody>
      </p:sp>
      <p:sp>
        <p:nvSpPr>
          <p:cNvPr id="21" name="Text 19"/>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K8s에 발행하는 읽기 verb (BFF kind 허용목록)</a:t>
            </a:r>
            <a:endParaRPr lang="en-US" sz="750" dirty="0"/>
          </a:p>
        </p:txBody>
      </p:sp>
      <p:sp>
        <p:nvSpPr>
          <p:cNvPr id="22" name="Text 20"/>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23" name="Text 21"/>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문서화된 예외 — 자기 웹 재시작 (ADR-015 · 기본 off)</a:t>
            </a:r>
            <a:endParaRPr lang="en-US" sz="750" dirty="0"/>
          </a:p>
        </p:txBody>
      </p:sp>
      <p:sp>
        <p:nvSpPr>
          <p:cNvPr id="24" name="Text 22"/>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근거 필수</a:t>
            </a:r>
            <a:endParaRPr lang="en-US" sz="1600" dirty="0"/>
          </a:p>
        </p:txBody>
      </p:sp>
      <p:sp>
        <p:nvSpPr>
          <p:cNvPr id="25" name="Text 23"/>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발견마다 근거(소스) 첨부 — 프롬프트 강제 설계</a:t>
            </a:r>
            <a:endParaRPr lang="en-US" sz="750" dirty="0"/>
          </a:p>
        </p:txBody>
      </p:sp>
      <p:sp>
        <p:nvSpPr>
          <p:cNvPr id="26" name="Text 24"/>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7" name="Text 25"/>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04. 핵심 가치 4</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페인과 1:1 대응</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계정이 열 개라도, 화면은 하나다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200" dirty="0"/>
          </a:p>
        </p:txBody>
      </p:sp>
      <p:sp>
        <p:nvSpPr>
          <p:cNvPr id="4" name="Shape 2"/>
          <p:cNvSpPr/>
          <p:nvPr/>
        </p:nvSpPr>
        <p:spPr>
          <a:xfrm>
            <a:off x="384048" y="1298448"/>
            <a:ext cx="4142232" cy="54864"/>
          </a:xfrm>
          <a:prstGeom prst="rect">
            <a:avLst/>
          </a:prstGeom>
          <a:solidFill>
            <a:srgbClr val="5A9CFF"/>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멀티계정 · 멀티리전 통합</a:t>
            </a:r>
            <a:endParaRPr lang="en-US" sz="1300" dirty="0"/>
          </a:p>
        </p:txBody>
      </p:sp>
      <p:sp>
        <p:nvSpPr>
          <p:cNvPr id="7" name="Text 5"/>
          <p:cNvSpPr/>
          <p:nvPr/>
        </p:nvSpPr>
        <p:spPr>
          <a:xfrm>
            <a:off x="530352"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계정별 조회는 병렬 fan-out — 계정이 늘어도 대기 시간은 완만</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 추가는 ReadOnly 역할 등록 + 즉시 검증으로 수 분 내 완료</a:t>
            </a:r>
            <a:endParaRPr lang="en-US" sz="1000" dirty="0"/>
          </a:p>
        </p:txBody>
      </p:sp>
      <p:sp>
        <p:nvSpPr>
          <p:cNvPr id="8" name="Shape 6"/>
          <p:cNvSpPr/>
          <p:nvPr/>
        </p:nvSpPr>
        <p:spPr>
          <a:xfrm>
            <a:off x="4617720" y="1298448"/>
            <a:ext cx="4142232" cy="54864"/>
          </a:xfrm>
          <a:prstGeom prst="rect">
            <a:avLst/>
          </a:prstGeom>
          <a:solidFill>
            <a:srgbClr val="A78BFA"/>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외부 관측 자산 연동 — 대체가 아니라 승격</a:t>
            </a:r>
            <a:endParaRPr lang="en-US" sz="1300" dirty="0"/>
          </a:p>
        </p:txBody>
      </p:sp>
      <p:sp>
        <p:nvSpPr>
          <p:cNvPr id="11" name="Text 9"/>
          <p:cNvSpPr/>
          <p:nvPr/>
        </p:nvSpPr>
        <p:spPr>
          <a:xfrm>
            <a:off x="4764024"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Prometheus · Mimir · Loki · Tempo · ClickHouse · Jaeger · Datadog · Dynatrace — 8종 read-only 등록 지원(라이브 라우팅은 Prometheus·ClickHouse 중심, 단계적 확대)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네이티브 쿼리 콘솔(PromQL·LogQL·SQL)로 등록 즉시 탐색 가능</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기존 대시보드는 그대로 — 그 위에 '조합하는 층'을 얹는 개념</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동시 조회 가능한 계정 스코프</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(등록 기준)</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1클릭</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계정·리전 스코프 전환</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4개 언어</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UI 지원 — KO · EN · JA · ZH</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원인이 있는 화면까지, 세 걸음</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① 토폴로지에서 좁히고</a:t>
            </a:r>
            <a:endParaRPr lang="en-US" sz="1250" dirty="0"/>
          </a:p>
        </p:txBody>
      </p:sp>
      <p:sp>
        <p:nvSpPr>
          <p:cNvPr id="7" name="Text 5"/>
          <p:cNvSpPr/>
          <p:nvPr/>
        </p:nvSpPr>
        <p:spPr>
          <a:xfrm>
            <a:off x="512064"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② 플로우로 확인하고</a:t>
            </a:r>
            <a:endParaRPr lang="en-US" sz="1250" dirty="0"/>
          </a:p>
        </p:txBody>
      </p:sp>
      <p:sp>
        <p:nvSpPr>
          <p:cNvPr id="11" name="Text 9"/>
          <p:cNvSpPr/>
          <p:nvPr/>
        </p:nvSpPr>
        <p:spPr>
          <a:xfrm>
            <a:off x="3334512"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950" dirty="0"/>
          </a:p>
        </p:txBody>
      </p:sp>
      <p:sp>
        <p:nvSpPr>
          <p:cNvPr id="12" name="Shape 10"/>
          <p:cNvSpPr/>
          <p:nvPr/>
        </p:nvSpPr>
        <p:spPr>
          <a:xfrm>
            <a:off x="6028944" y="1298448"/>
            <a:ext cx="2731008" cy="54864"/>
          </a:xfrm>
          <a:prstGeom prst="rect">
            <a:avLst/>
          </a:prstGeom>
          <a:solidFill>
            <a:srgbClr val="FF693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③ AI로 종합한다</a:t>
            </a:r>
            <a:endParaRPr lang="en-US" sz="1250" dirty="0"/>
          </a:p>
        </p:txBody>
      </p:sp>
      <p:sp>
        <p:nvSpPr>
          <p:cNvPr id="15" name="Text 13"/>
          <p:cNvSpPr/>
          <p:nvPr/>
        </p:nvSpPr>
        <p:spPr>
          <a:xfrm>
            <a:off x="6156960"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그래프에서 'AI에 질문'을 누르면 챗이 해당 리소스 컨텍스트를 물고 열림. 인시던트 섹션은 알람과 변경 이력을 자동 수집해 원인 후보를 서술 — 신호 조합을 AI가 대신</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활성 경고 → 조치 방법 도달</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E2E</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NAT·TGW 경유 포함 홉 경로 시각화</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 타깃 이름 실시간 해석</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질문을 받는 AI 섹션 수</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청구서는 결과만, 원인은 여기서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200" dirty="0"/>
          </a:p>
        </p:txBody>
      </p:sp>
      <p:sp>
        <p:nvSpPr>
          <p:cNvPr id="4" name="Shape 2"/>
          <p:cNvSpPr/>
          <p:nvPr/>
        </p:nvSpPr>
        <p:spPr>
          <a:xfrm>
            <a:off x="384048" y="1335024"/>
            <a:ext cx="1874520" cy="1005840"/>
          </a:xfrm>
          <a:prstGeom prst="rect">
            <a:avLst/>
          </a:prstGeom>
          <a:solidFill>
            <a:srgbClr val="1C1F30"/>
          </a:solidFill>
          <a:ln w="9525">
            <a:solidFill>
              <a:srgbClr val="2A2F44"/>
            </a:solidFill>
            <a:prstDash val="solid"/>
          </a:ln>
        </p:spPr>
      </p:sp>
      <p:sp>
        <p:nvSpPr>
          <p:cNvPr id="5" name="Shape 3"/>
          <p:cNvSpPr/>
          <p:nvPr/>
        </p:nvSpPr>
        <p:spPr>
          <a:xfrm>
            <a:off x="384048" y="1335024"/>
            <a:ext cx="1874520" cy="54864"/>
          </a:xfrm>
          <a:prstGeom prst="rect">
            <a:avLst/>
          </a:prstGeom>
          <a:solidFill>
            <a:srgbClr val="FF693C"/>
          </a:solidFill>
          <a:ln/>
        </p:spPr>
      </p:sp>
      <p:sp>
        <p:nvSpPr>
          <p:cNvPr id="6" name="Text 4"/>
          <p:cNvSpPr/>
          <p:nvPr/>
        </p:nvSpPr>
        <p:spPr>
          <a:xfrm>
            <a:off x="43891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① 감지</a:t>
            </a:r>
            <a:endParaRPr lang="en-US" sz="1050" dirty="0"/>
          </a:p>
        </p:txBody>
      </p:sp>
      <p:sp>
        <p:nvSpPr>
          <p:cNvPr id="7" name="Text 5"/>
          <p:cNvSpPr/>
          <p:nvPr/>
        </p:nvSpPr>
        <p:spPr>
          <a:xfrm>
            <a:off x="43891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전월 대비(MoM) 배지가 급증·급감을 먼저 포착</a:t>
            </a:r>
            <a:endParaRPr lang="en-US" sz="750" dirty="0"/>
          </a:p>
        </p:txBody>
      </p:sp>
      <p:sp>
        <p:nvSpPr>
          <p:cNvPr id="8" name="Shape 6"/>
          <p:cNvSpPr/>
          <p:nvPr/>
        </p:nvSpPr>
        <p:spPr>
          <a:xfrm>
            <a:off x="2304288" y="1764792"/>
            <a:ext cx="182880" cy="146304"/>
          </a:xfrm>
          <a:prstGeom prst="rightArrow">
            <a:avLst/>
          </a:prstGeom>
          <a:solidFill>
            <a:srgbClr val="7B8198"/>
          </a:solidFill>
          <a:ln/>
        </p:spPr>
      </p:sp>
      <p:sp>
        <p:nvSpPr>
          <p:cNvPr id="9" name="Shape 7"/>
          <p:cNvSpPr/>
          <p:nvPr/>
        </p:nvSpPr>
        <p:spPr>
          <a:xfrm>
            <a:off x="2532888" y="1335024"/>
            <a:ext cx="1874520" cy="1005840"/>
          </a:xfrm>
          <a:prstGeom prst="rect">
            <a:avLst/>
          </a:prstGeom>
          <a:solidFill>
            <a:srgbClr val="1C1F30"/>
          </a:solidFill>
          <a:ln w="9525">
            <a:solidFill>
              <a:srgbClr val="2A2F44"/>
            </a:solidFill>
            <a:prstDash val="solid"/>
          </a:ln>
        </p:spPr>
      </p:sp>
      <p:sp>
        <p:nvSpPr>
          <p:cNvPr id="10" name="Shape 8"/>
          <p:cNvSpPr/>
          <p:nvPr/>
        </p:nvSpPr>
        <p:spPr>
          <a:xfrm>
            <a:off x="2532888" y="1335024"/>
            <a:ext cx="1874520" cy="54864"/>
          </a:xfrm>
          <a:prstGeom prst="rect">
            <a:avLst/>
          </a:prstGeom>
          <a:solidFill>
            <a:srgbClr val="5A9CFF"/>
          </a:solidFill>
          <a:ln/>
        </p:spPr>
      </p:sp>
      <p:sp>
        <p:nvSpPr>
          <p:cNvPr id="11" name="Text 9"/>
          <p:cNvSpPr/>
          <p:nvPr/>
        </p:nvSpPr>
        <p:spPr>
          <a:xfrm>
            <a:off x="258775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② 지목</a:t>
            </a:r>
            <a:endParaRPr lang="en-US" sz="1050" dirty="0"/>
          </a:p>
        </p:txBody>
      </p:sp>
      <p:sp>
        <p:nvSpPr>
          <p:cNvPr id="12" name="Text 10"/>
          <p:cNvSpPr/>
          <p:nvPr/>
        </p:nvSpPr>
        <p:spPr>
          <a:xfrm>
            <a:off x="258775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서비스별 변화율 정렬로 '무엇이' 올랐는지</a:t>
            </a:r>
            <a:endParaRPr lang="en-US" sz="750" dirty="0"/>
          </a:p>
        </p:txBody>
      </p:sp>
      <p:sp>
        <p:nvSpPr>
          <p:cNvPr id="13" name="Shape 11"/>
          <p:cNvSpPr/>
          <p:nvPr/>
        </p:nvSpPr>
        <p:spPr>
          <a:xfrm>
            <a:off x="4453128" y="1764792"/>
            <a:ext cx="182880" cy="146304"/>
          </a:xfrm>
          <a:prstGeom prst="rightArrow">
            <a:avLst/>
          </a:prstGeom>
          <a:solidFill>
            <a:srgbClr val="7B8198"/>
          </a:solidFill>
          <a:ln/>
        </p:spPr>
      </p:sp>
      <p:sp>
        <p:nvSpPr>
          <p:cNvPr id="14" name="Shape 12"/>
          <p:cNvSpPr/>
          <p:nvPr/>
        </p:nvSpPr>
        <p:spPr>
          <a:xfrm>
            <a:off x="4681728" y="1335024"/>
            <a:ext cx="1874520" cy="1005840"/>
          </a:xfrm>
          <a:prstGeom prst="rect">
            <a:avLst/>
          </a:prstGeom>
          <a:solidFill>
            <a:srgbClr val="1C1F30"/>
          </a:solidFill>
          <a:ln w="9525">
            <a:solidFill>
              <a:srgbClr val="2A2F44"/>
            </a:solidFill>
            <a:prstDash val="solid"/>
          </a:ln>
        </p:spPr>
      </p:sp>
      <p:sp>
        <p:nvSpPr>
          <p:cNvPr id="15" name="Shape 13"/>
          <p:cNvSpPr/>
          <p:nvPr/>
        </p:nvSpPr>
        <p:spPr>
          <a:xfrm>
            <a:off x="4681728" y="1335024"/>
            <a:ext cx="1874520" cy="54864"/>
          </a:xfrm>
          <a:prstGeom prst="rect">
            <a:avLst/>
          </a:prstGeom>
          <a:solidFill>
            <a:srgbClr val="5A9CFF"/>
          </a:solidFill>
          <a:ln/>
        </p:spPr>
      </p:sp>
      <p:sp>
        <p:nvSpPr>
          <p:cNvPr id="16" name="Text 14"/>
          <p:cNvSpPr/>
          <p:nvPr/>
        </p:nvSpPr>
        <p:spPr>
          <a:xfrm>
            <a:off x="473659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③ 원인</a:t>
            </a:r>
            <a:endParaRPr lang="en-US" sz="1050" dirty="0"/>
          </a:p>
        </p:txBody>
      </p:sp>
      <p:sp>
        <p:nvSpPr>
          <p:cNvPr id="17" name="Text 15"/>
          <p:cNvSpPr/>
          <p:nvPr/>
        </p:nvSpPr>
        <p:spPr>
          <a:xfrm>
            <a:off x="473659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usage-type 드릴다운 — '어떤 사용'이 올랐는지</a:t>
            </a:r>
            <a:endParaRPr lang="en-US" sz="750" dirty="0"/>
          </a:p>
        </p:txBody>
      </p:sp>
      <p:sp>
        <p:nvSpPr>
          <p:cNvPr id="18" name="Shape 16"/>
          <p:cNvSpPr/>
          <p:nvPr/>
        </p:nvSpPr>
        <p:spPr>
          <a:xfrm>
            <a:off x="6601968" y="1764792"/>
            <a:ext cx="182880" cy="146304"/>
          </a:xfrm>
          <a:prstGeom prst="rightArrow">
            <a:avLst/>
          </a:prstGeom>
          <a:solidFill>
            <a:srgbClr val="7B8198"/>
          </a:solidFill>
          <a:ln/>
        </p:spPr>
      </p:sp>
      <p:sp>
        <p:nvSpPr>
          <p:cNvPr id="19" name="Shape 17"/>
          <p:cNvSpPr/>
          <p:nvPr/>
        </p:nvSpPr>
        <p:spPr>
          <a:xfrm>
            <a:off x="6830568" y="1335024"/>
            <a:ext cx="1874520" cy="1005840"/>
          </a:xfrm>
          <a:prstGeom prst="rect">
            <a:avLst/>
          </a:prstGeom>
          <a:solidFill>
            <a:srgbClr val="1C1F30"/>
          </a:solidFill>
          <a:ln w="9525">
            <a:solidFill>
              <a:srgbClr val="2A2F44"/>
            </a:solidFill>
            <a:prstDash val="solid"/>
          </a:ln>
        </p:spPr>
      </p:sp>
      <p:sp>
        <p:nvSpPr>
          <p:cNvPr id="20" name="Shape 18"/>
          <p:cNvSpPr/>
          <p:nvPr/>
        </p:nvSpPr>
        <p:spPr>
          <a:xfrm>
            <a:off x="6830568" y="1335024"/>
            <a:ext cx="1874520" cy="54864"/>
          </a:xfrm>
          <a:prstGeom prst="rect">
            <a:avLst/>
          </a:prstGeom>
          <a:solidFill>
            <a:srgbClr val="1FBA8C"/>
          </a:solidFill>
          <a:ln/>
        </p:spPr>
      </p:sp>
      <p:sp>
        <p:nvSpPr>
          <p:cNvPr id="21" name="Text 19"/>
          <p:cNvSpPr/>
          <p:nvPr/>
        </p:nvSpPr>
        <p:spPr>
          <a:xfrm>
            <a:off x="688543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④ 절감</a:t>
            </a:r>
            <a:endParaRPr lang="en-US" sz="1050" dirty="0"/>
          </a:p>
        </p:txBody>
      </p:sp>
      <p:sp>
        <p:nvSpPr>
          <p:cNvPr id="22" name="Text 20"/>
          <p:cNvSpPr/>
          <p:nvPr/>
        </p:nvSpPr>
        <p:spPr>
          <a:xfrm>
            <a:off x="688543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AI 비용 섹션이 절감 후보를 금액 추정과 함께 서술</a:t>
            </a:r>
            <a:endParaRPr lang="en-US" sz="750" dirty="0"/>
          </a:p>
        </p:txBody>
      </p:sp>
      <p:sp>
        <p:nvSpPr>
          <p:cNvPr id="23" name="Shape 21"/>
          <p:cNvSpPr/>
          <p:nvPr/>
        </p:nvSpPr>
        <p:spPr>
          <a:xfrm>
            <a:off x="384048" y="2560320"/>
            <a:ext cx="8375904" cy="1481328"/>
          </a:xfrm>
          <a:prstGeom prst="rect">
            <a:avLst/>
          </a:prstGeom>
          <a:solidFill>
            <a:srgbClr val="1C1F30"/>
          </a:solidFill>
          <a:ln w="9525">
            <a:solidFill>
              <a:srgbClr val="2A2F44"/>
            </a:solidFill>
            <a:prstDash val="solid"/>
          </a:ln>
        </p:spPr>
      </p:sp>
      <p:sp>
        <p:nvSpPr>
          <p:cNvPr id="24" name="Text 22"/>
          <p:cNvSpPr/>
          <p:nvPr/>
        </p:nvSpPr>
        <p:spPr>
          <a:xfrm>
            <a:off x="566928" y="2724912"/>
            <a:ext cx="8010144" cy="1207008"/>
          </a:xfrm>
          <a:prstGeom prst="rect">
            <a:avLst/>
          </a:prstGeom>
          <a:noFill/>
          <a:ln/>
        </p:spPr>
        <p:txBody>
          <a:bodyPr wrap="square" lIns="0" tIns="0" rIns="0" bIns="0" rtlCol="0" anchor="t"/>
          <a:lstStyle/>
          <a:p>
            <a:pPr indent="0" marL="0">
              <a:lnSpc>
                <a:spcPct val="125000"/>
              </a:lnSpc>
              <a:buNone/>
            </a:pPr>
            <a:r>
              <a:rPr lang="en-US" sz="1200" b="1" dirty="0">
                <a:solidFill>
                  <a:srgbClr val="FFFFFF"/>
                </a:solidFill>
                <a:latin typeface="Pretendard" pitchFamily="34" charset="0"/>
                <a:ea typeface="Pretendard" pitchFamily="34" charset="-122"/>
                <a:cs typeface="Pretendard" pitchFamily="34" charset="-120"/>
              </a:rPr>
              <a:t>컨테이너 안까지 내려가는 비용 분해
</a:t>
            </a:r>
            <a:endParaRPr lang="en-US" sz="1200" dirty="0"/>
          </a:p>
          <a:p>
            <a:pPr indent="0" marL="0">
              <a:lnSpc>
                <a:spcPct val="125000"/>
              </a:lnSpc>
              <a:buNone/>
            </a:pPr>
            <a:r>
              <a:rPr lang="en-US" sz="1050" dirty="0">
                <a:solidFill>
                  <a:srgbClr val="E2E4EC"/>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200" dirty="0"/>
          </a:p>
        </p:txBody>
      </p:sp>
      <p:sp>
        <p:nvSpPr>
          <p:cNvPr id="25" name="Text 2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MoM</a:t>
            </a:r>
            <a:endParaRPr lang="en-US" sz="1600" dirty="0"/>
          </a:p>
        </p:txBody>
      </p:sp>
      <p:sp>
        <p:nvSpPr>
          <p:cNvPr id="26" name="Text 2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전월 대비 + 일평균 변화 상시 감시</a:t>
            </a:r>
            <a:endParaRPr lang="en-US" sz="750" dirty="0"/>
          </a:p>
        </p:txBody>
      </p:sp>
      <p:sp>
        <p:nvSpPr>
          <p:cNvPr id="27" name="Text 2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usage-type</a:t>
            </a:r>
            <a:endParaRPr lang="en-US" sz="1600" dirty="0"/>
          </a:p>
        </p:txBody>
      </p:sp>
      <p:sp>
        <p:nvSpPr>
          <p:cNvPr id="28" name="Text 2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드릴다운 최하위 원인 단위</a:t>
            </a:r>
            <a:endParaRPr lang="en-US" sz="750" dirty="0"/>
          </a:p>
        </p:txBody>
      </p:sp>
      <p:sp>
        <p:nvSpPr>
          <p:cNvPr id="29" name="Text 2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pod 단위</a:t>
            </a:r>
            <a:endParaRPr lang="en-US" sz="1600" dirty="0"/>
          </a:p>
        </p:txBody>
      </p:sp>
      <p:sp>
        <p:nvSpPr>
          <p:cNvPr id="30" name="Text 2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OpenCost 기반 K8s 비용 분해</a:t>
            </a:r>
            <a:endParaRPr lang="en-US" sz="750" dirty="0"/>
          </a:p>
        </p:txBody>
      </p:sp>
      <p:sp>
        <p:nvSpPr>
          <p:cNvPr id="31" name="Text 2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 추정</a:t>
            </a:r>
            <a:endParaRPr lang="en-US" sz="1600" dirty="0"/>
          </a:p>
        </p:txBody>
      </p:sp>
      <p:sp>
        <p:nvSpPr>
          <p:cNvPr id="32" name="Text 3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절감 제안의 금액 첨부</a:t>
            </a:r>
            <a:endParaRPr lang="en-US" sz="750" dirty="0"/>
          </a:p>
        </p:txBody>
      </p:sp>
      <p:sp>
        <p:nvSpPr>
          <p:cNvPr id="33" name="Text 3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4" name="Text 3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Well-Architected 리뷰를, 자동 반복으로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6기둥 건강 점수·심각도·공수·절감액을 담은 15+1섹션 AI 진단 리포트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리포트가 담는 것</a:t>
            </a:r>
            <a:endParaRPr lang="en-US" sz="1300" dirty="0"/>
          </a:p>
        </p:txBody>
      </p:sp>
      <p:sp>
        <p:nvSpPr>
          <p:cNvPr id="7" name="Text 5"/>
          <p:cNvSpPr/>
          <p:nvPr/>
        </p:nvSpPr>
        <p:spPr>
          <a:xfrm>
            <a:off x="530352"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비용 발견에는 절감액 추정 첨부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00" dirty="0"/>
          </a:p>
        </p:txBody>
      </p:sp>
      <p:sp>
        <p:nvSpPr>
          <p:cNvPr id="8" name="Shape 6"/>
          <p:cNvSpPr/>
          <p:nvPr/>
        </p:nvSpPr>
        <p:spPr>
          <a:xfrm>
            <a:off x="4617720" y="1298448"/>
            <a:ext cx="4142232" cy="54864"/>
          </a:xfrm>
          <a:prstGeom prst="rect">
            <a:avLst/>
          </a:prstGeom>
          <a:solidFill>
            <a:srgbClr val="1FBA8C"/>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운영에 녹아드는 방식</a:t>
            </a:r>
            <a:endParaRPr lang="en-US" sz="1300" dirty="0"/>
          </a:p>
        </p:txBody>
      </p:sp>
      <p:sp>
        <p:nvSpPr>
          <p:cNvPr id="11" name="Text 9"/>
          <p:cNvSpPr/>
          <p:nvPr/>
        </p:nvSpPr>
        <p:spPr>
          <a:xfrm>
            <a:off x="4764024"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티어 선택: Light / Mid / Deep(15+1섹션) + 모델 선택(표준·상위)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MD · DOCX · PDF 원클릭 내보내기 — 경영 보고서로 바로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비동기 워커 실행이라 진단이 돌아도 대시보드는 그대로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일회성 컨설팅이 아니라 '리뷰와 리뷰 사이'를 메우는 상시 관리</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0~100</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인프라 건강 점수 (6기둥 가중)</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분석 섹션 (의도 대비 실제 포함)</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diff</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리포트 간 변화 추적 (위반 중심)</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3형식</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MD · DOCX · PDF 내보내기</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05. Live Demo &amp; Q&amp;A</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실제 운영 환경</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25분, 네 개의 실전 시나리오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통합 투어부터 WA 리포트까지 — 라이브 운영 환경 시연 로드맵</a:t>
            </a:r>
            <a:endParaRPr lang="en-US" sz="1200" dirty="0"/>
          </a:p>
        </p:txBody>
      </p:sp>
      <p:sp>
        <p:nvSpPr>
          <p:cNvPr id="4" name="Shape 2"/>
          <p:cNvSpPr/>
          <p:nvPr/>
        </p:nvSpPr>
        <p:spPr>
          <a:xfrm>
            <a:off x="384048" y="1298448"/>
            <a:ext cx="8375904" cy="475488"/>
          </a:xfrm>
          <a:prstGeom prst="rect">
            <a:avLst/>
          </a:prstGeom>
          <a:solidFill>
            <a:srgbClr val="1C1F30"/>
          </a:solidFill>
          <a:ln w="9525">
            <a:solidFill>
              <a:srgbClr val="2A2F44"/>
            </a:solidFill>
            <a:prstDash val="solid"/>
          </a:ln>
        </p:spPr>
      </p:sp>
      <p:sp>
        <p:nvSpPr>
          <p:cNvPr id="5" name="Shape 3"/>
          <p:cNvSpPr/>
          <p:nvPr/>
        </p:nvSpPr>
        <p:spPr>
          <a:xfrm>
            <a:off x="384048" y="1298448"/>
            <a:ext cx="45720" cy="475488"/>
          </a:xfrm>
          <a:prstGeom prst="rect">
            <a:avLst/>
          </a:prstGeom>
          <a:solidFill>
            <a:srgbClr val="5A9CFF"/>
          </a:solidFill>
          <a:ln/>
        </p:spPr>
      </p:sp>
      <p:sp>
        <p:nvSpPr>
          <p:cNvPr id="6" name="Text 4"/>
          <p:cNvSpPr/>
          <p:nvPr/>
        </p:nvSpPr>
        <p:spPr>
          <a:xfrm>
            <a:off x="512064" y="1298448"/>
            <a:ext cx="365760" cy="475488"/>
          </a:xfrm>
          <a:prstGeom prst="rect">
            <a:avLst/>
          </a:prstGeom>
          <a:noFill/>
          <a:ln/>
        </p:spPr>
        <p:txBody>
          <a:bodyPr wrap="square" lIns="0" tIns="0" rIns="0" bIns="0" rtlCol="0" anchor="ctr"/>
          <a:lstStyle/>
          <a:p>
            <a:pPr indent="0" marL="0">
              <a:buNone/>
            </a:pPr>
            <a:r>
              <a:rPr lang="en-US" sz="1400" b="1" dirty="0">
                <a:solidFill>
                  <a:srgbClr val="5A9CFF"/>
                </a:solidFill>
                <a:latin typeface="Pretendard" pitchFamily="34" charset="0"/>
                <a:ea typeface="Pretendard" pitchFamily="34" charset="-122"/>
                <a:cs typeface="Pretendard" pitchFamily="34" charset="-120"/>
              </a:rPr>
              <a:t>⓪</a:t>
            </a:r>
            <a:endParaRPr lang="en-US" sz="1400" dirty="0"/>
          </a:p>
        </p:txBody>
      </p:sp>
      <p:sp>
        <p:nvSpPr>
          <p:cNvPr id="7" name="Text 5"/>
          <p:cNvSpPr/>
          <p:nvPr/>
        </p:nvSpPr>
        <p:spPr>
          <a:xfrm>
            <a:off x="932688" y="129844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통합 대시보드 투어</a:t>
            </a:r>
            <a:endParaRPr lang="en-US" sz="1200" dirty="0"/>
          </a:p>
        </p:txBody>
      </p:sp>
      <p:sp>
        <p:nvSpPr>
          <p:cNvPr id="8" name="Text 6"/>
          <p:cNvSpPr/>
          <p:nvPr/>
        </p:nvSpPr>
        <p:spPr>
          <a:xfrm>
            <a:off x="3081528" y="129844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4′</a:t>
            </a:r>
            <a:endParaRPr lang="en-US" sz="1200" dirty="0"/>
          </a:p>
        </p:txBody>
      </p:sp>
      <p:sp>
        <p:nvSpPr>
          <p:cNvPr id="9" name="Text 7"/>
          <p:cNvSpPr/>
          <p:nvPr/>
        </p:nvSpPr>
        <p:spPr>
          <a:xfrm>
            <a:off x="3584448" y="129844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950" dirty="0"/>
          </a:p>
        </p:txBody>
      </p:sp>
      <p:sp>
        <p:nvSpPr>
          <p:cNvPr id="10" name="Shape 8"/>
          <p:cNvSpPr/>
          <p:nvPr/>
        </p:nvSpPr>
        <p:spPr>
          <a:xfrm>
            <a:off x="384048" y="1847088"/>
            <a:ext cx="8375904" cy="475488"/>
          </a:xfrm>
          <a:prstGeom prst="rect">
            <a:avLst/>
          </a:prstGeom>
          <a:solidFill>
            <a:srgbClr val="1C1F30"/>
          </a:solidFill>
          <a:ln w="9525">
            <a:solidFill>
              <a:srgbClr val="2A2F44"/>
            </a:solidFill>
            <a:prstDash val="solid"/>
          </a:ln>
        </p:spPr>
      </p:sp>
      <p:sp>
        <p:nvSpPr>
          <p:cNvPr id="11" name="Shape 9"/>
          <p:cNvSpPr/>
          <p:nvPr/>
        </p:nvSpPr>
        <p:spPr>
          <a:xfrm>
            <a:off x="384048" y="1847088"/>
            <a:ext cx="45720" cy="475488"/>
          </a:xfrm>
          <a:prstGeom prst="rect">
            <a:avLst/>
          </a:prstGeom>
          <a:solidFill>
            <a:srgbClr val="FF693C"/>
          </a:solidFill>
          <a:ln/>
        </p:spPr>
      </p:sp>
      <p:sp>
        <p:nvSpPr>
          <p:cNvPr id="12" name="Text 10"/>
          <p:cNvSpPr/>
          <p:nvPr/>
        </p:nvSpPr>
        <p:spPr>
          <a:xfrm>
            <a:off x="512064" y="1847088"/>
            <a:ext cx="365760" cy="475488"/>
          </a:xfrm>
          <a:prstGeom prst="rect">
            <a:avLst/>
          </a:prstGeom>
          <a:noFill/>
          <a:ln/>
        </p:spPr>
        <p:txBody>
          <a:bodyPr wrap="square" lIns="0" tIns="0" rIns="0" bIns="0" rtlCol="0" anchor="ctr"/>
          <a:lstStyle/>
          <a:p>
            <a:pPr indent="0" marL="0">
              <a:buNone/>
            </a:pPr>
            <a:r>
              <a:rPr lang="en-US" sz="1400" b="1" dirty="0">
                <a:solidFill>
                  <a:srgbClr val="FF693C"/>
                </a:solidFill>
                <a:latin typeface="Pretendard" pitchFamily="34" charset="0"/>
                <a:ea typeface="Pretendard" pitchFamily="34" charset="-122"/>
                <a:cs typeface="Pretendard" pitchFamily="34" charset="-120"/>
              </a:rPr>
              <a:t>①</a:t>
            </a:r>
            <a:endParaRPr lang="en-US" sz="1400" dirty="0"/>
          </a:p>
        </p:txBody>
      </p:sp>
      <p:sp>
        <p:nvSpPr>
          <p:cNvPr id="13" name="Text 11"/>
          <p:cNvSpPr/>
          <p:nvPr/>
        </p:nvSpPr>
        <p:spPr>
          <a:xfrm>
            <a:off x="932688" y="184708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장애 원인 추적</a:t>
            </a:r>
            <a:endParaRPr lang="en-US" sz="1200" dirty="0"/>
          </a:p>
        </p:txBody>
      </p:sp>
      <p:sp>
        <p:nvSpPr>
          <p:cNvPr id="14" name="Text 12"/>
          <p:cNvSpPr/>
          <p:nvPr/>
        </p:nvSpPr>
        <p:spPr>
          <a:xfrm>
            <a:off x="3081528" y="184708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8′</a:t>
            </a:r>
            <a:endParaRPr lang="en-US" sz="1200" dirty="0"/>
          </a:p>
        </p:txBody>
      </p:sp>
      <p:sp>
        <p:nvSpPr>
          <p:cNvPr id="15" name="Text 13"/>
          <p:cNvSpPr/>
          <p:nvPr/>
        </p:nvSpPr>
        <p:spPr>
          <a:xfrm>
            <a:off x="3584448" y="184708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토폴로지 포커스 모드 → NFM E2E 홉 경로 → AI 인시던트 분석</a:t>
            </a:r>
            <a:endParaRPr lang="en-US" sz="950" dirty="0"/>
          </a:p>
        </p:txBody>
      </p:sp>
      <p:sp>
        <p:nvSpPr>
          <p:cNvPr id="16" name="Shape 14"/>
          <p:cNvSpPr/>
          <p:nvPr/>
        </p:nvSpPr>
        <p:spPr>
          <a:xfrm>
            <a:off x="384048" y="2395728"/>
            <a:ext cx="8375904" cy="475488"/>
          </a:xfrm>
          <a:prstGeom prst="rect">
            <a:avLst/>
          </a:prstGeom>
          <a:solidFill>
            <a:srgbClr val="1C1F30"/>
          </a:solidFill>
          <a:ln w="9525">
            <a:solidFill>
              <a:srgbClr val="2A2F44"/>
            </a:solidFill>
            <a:prstDash val="solid"/>
          </a:ln>
        </p:spPr>
      </p:sp>
      <p:sp>
        <p:nvSpPr>
          <p:cNvPr id="17" name="Shape 15"/>
          <p:cNvSpPr/>
          <p:nvPr/>
        </p:nvSpPr>
        <p:spPr>
          <a:xfrm>
            <a:off x="384048" y="2395728"/>
            <a:ext cx="45720" cy="475488"/>
          </a:xfrm>
          <a:prstGeom prst="rect">
            <a:avLst/>
          </a:prstGeom>
          <a:solidFill>
            <a:srgbClr val="1FBA8C"/>
          </a:solidFill>
          <a:ln/>
        </p:spPr>
      </p:sp>
      <p:sp>
        <p:nvSpPr>
          <p:cNvPr id="18" name="Text 16"/>
          <p:cNvSpPr/>
          <p:nvPr/>
        </p:nvSpPr>
        <p:spPr>
          <a:xfrm>
            <a:off x="512064" y="2395728"/>
            <a:ext cx="365760" cy="475488"/>
          </a:xfrm>
          <a:prstGeom prst="rect">
            <a:avLst/>
          </a:prstGeom>
          <a:noFill/>
          <a:ln/>
        </p:spPr>
        <p:txBody>
          <a:bodyPr wrap="square" lIns="0" tIns="0" rIns="0" bIns="0" rtlCol="0" anchor="ctr"/>
          <a:lstStyle/>
          <a:p>
            <a:pPr indent="0" marL="0">
              <a:buNone/>
            </a:pPr>
            <a:r>
              <a:rPr lang="en-US" sz="1400" b="1" dirty="0">
                <a:solidFill>
                  <a:srgbClr val="1FBA8C"/>
                </a:solidFill>
                <a:latin typeface="Pretendard" pitchFamily="34" charset="0"/>
                <a:ea typeface="Pretendard" pitchFamily="34" charset="-122"/>
                <a:cs typeface="Pretendard" pitchFamily="34" charset="-120"/>
              </a:rPr>
              <a:t>②</a:t>
            </a:r>
            <a:endParaRPr lang="en-US" sz="1400" dirty="0"/>
          </a:p>
        </p:txBody>
      </p:sp>
      <p:sp>
        <p:nvSpPr>
          <p:cNvPr id="19" name="Text 17"/>
          <p:cNvSpPr/>
          <p:nvPr/>
        </p:nvSpPr>
        <p:spPr>
          <a:xfrm>
            <a:off x="932688" y="239572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비용 급증 원인 분석</a:t>
            </a:r>
            <a:endParaRPr lang="en-US" sz="1200" dirty="0"/>
          </a:p>
        </p:txBody>
      </p:sp>
      <p:sp>
        <p:nvSpPr>
          <p:cNvPr id="20" name="Text 18"/>
          <p:cNvSpPr/>
          <p:nvPr/>
        </p:nvSpPr>
        <p:spPr>
          <a:xfrm>
            <a:off x="3081528" y="239572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6′</a:t>
            </a:r>
            <a:endParaRPr lang="en-US" sz="1200" dirty="0"/>
          </a:p>
        </p:txBody>
      </p:sp>
      <p:sp>
        <p:nvSpPr>
          <p:cNvPr id="21" name="Text 19"/>
          <p:cNvSpPr/>
          <p:nvPr/>
        </p:nvSpPr>
        <p:spPr>
          <a:xfrm>
            <a:off x="3584448" y="239572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MoM 감지 → 서비스 변화율 → usage-type 드릴다운 → AI 비용 절감 분석</a:t>
            </a:r>
            <a:endParaRPr lang="en-US" sz="950" dirty="0"/>
          </a:p>
        </p:txBody>
      </p:sp>
      <p:sp>
        <p:nvSpPr>
          <p:cNvPr id="22" name="Shape 20"/>
          <p:cNvSpPr/>
          <p:nvPr/>
        </p:nvSpPr>
        <p:spPr>
          <a:xfrm>
            <a:off x="384048" y="2944368"/>
            <a:ext cx="8375904" cy="475488"/>
          </a:xfrm>
          <a:prstGeom prst="rect">
            <a:avLst/>
          </a:prstGeom>
          <a:solidFill>
            <a:srgbClr val="1C1F30"/>
          </a:solidFill>
          <a:ln w="9525">
            <a:solidFill>
              <a:srgbClr val="2A2F44"/>
            </a:solidFill>
            <a:prstDash val="solid"/>
          </a:ln>
        </p:spPr>
      </p:sp>
      <p:sp>
        <p:nvSpPr>
          <p:cNvPr id="23" name="Shape 21"/>
          <p:cNvSpPr/>
          <p:nvPr/>
        </p:nvSpPr>
        <p:spPr>
          <a:xfrm>
            <a:off x="384048" y="2944368"/>
            <a:ext cx="45720" cy="475488"/>
          </a:xfrm>
          <a:prstGeom prst="rect">
            <a:avLst/>
          </a:prstGeom>
          <a:solidFill>
            <a:srgbClr val="E8825D"/>
          </a:solidFill>
          <a:ln/>
        </p:spPr>
      </p:sp>
      <p:sp>
        <p:nvSpPr>
          <p:cNvPr id="24" name="Text 22"/>
          <p:cNvSpPr/>
          <p:nvPr/>
        </p:nvSpPr>
        <p:spPr>
          <a:xfrm>
            <a:off x="512064" y="2944368"/>
            <a:ext cx="365760" cy="475488"/>
          </a:xfrm>
          <a:prstGeom prst="rect">
            <a:avLst/>
          </a:prstGeom>
          <a:noFill/>
          <a:ln/>
        </p:spPr>
        <p:txBody>
          <a:bodyPr wrap="square" lIns="0" tIns="0" rIns="0" bIns="0" rtlCol="0" anchor="ctr"/>
          <a:lstStyle/>
          <a:p>
            <a:pPr indent="0" marL="0">
              <a:buNone/>
            </a:pPr>
            <a:r>
              <a:rPr lang="en-US" sz="1400" b="1" dirty="0">
                <a:solidFill>
                  <a:srgbClr val="E8825D"/>
                </a:solidFill>
                <a:latin typeface="Pretendard" pitchFamily="34" charset="0"/>
                <a:ea typeface="Pretendard" pitchFamily="34" charset="-122"/>
                <a:cs typeface="Pretendard" pitchFamily="34" charset="-120"/>
              </a:rPr>
              <a:t>③</a:t>
            </a:r>
            <a:endParaRPr lang="en-US" sz="1400" dirty="0"/>
          </a:p>
        </p:txBody>
      </p:sp>
      <p:sp>
        <p:nvSpPr>
          <p:cNvPr id="25" name="Text 23"/>
          <p:cNvSpPr/>
          <p:nvPr/>
        </p:nvSpPr>
        <p:spPr>
          <a:xfrm>
            <a:off x="932688" y="294436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WA 6기둥 AI 리포트</a:t>
            </a:r>
            <a:endParaRPr lang="en-US" sz="1200" dirty="0"/>
          </a:p>
        </p:txBody>
      </p:sp>
      <p:sp>
        <p:nvSpPr>
          <p:cNvPr id="26" name="Text 24"/>
          <p:cNvSpPr/>
          <p:nvPr/>
        </p:nvSpPr>
        <p:spPr>
          <a:xfrm>
            <a:off x="3081528" y="294436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5′</a:t>
            </a:r>
            <a:endParaRPr lang="en-US" sz="1200" dirty="0"/>
          </a:p>
        </p:txBody>
      </p:sp>
      <p:sp>
        <p:nvSpPr>
          <p:cNvPr id="27" name="Text 25"/>
          <p:cNvSpPr/>
          <p:nvPr/>
        </p:nvSpPr>
        <p:spPr>
          <a:xfrm>
            <a:off x="3584448" y="294436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건강 점수 + 리포트 간 변화 + PDF 내보내기 + 라이브 실행(진행 패널)</a:t>
            </a:r>
            <a:endParaRPr lang="en-US" sz="950" dirty="0"/>
          </a:p>
        </p:txBody>
      </p:sp>
      <p:sp>
        <p:nvSpPr>
          <p:cNvPr id="28" name="Shape 26"/>
          <p:cNvSpPr/>
          <p:nvPr/>
        </p:nvSpPr>
        <p:spPr>
          <a:xfrm>
            <a:off x="384048" y="3493008"/>
            <a:ext cx="8375904" cy="475488"/>
          </a:xfrm>
          <a:prstGeom prst="rect">
            <a:avLst/>
          </a:prstGeom>
          <a:solidFill>
            <a:srgbClr val="1C1F30"/>
          </a:solidFill>
          <a:ln w="9525">
            <a:solidFill>
              <a:srgbClr val="2A2F44"/>
            </a:solidFill>
            <a:prstDash val="solid"/>
          </a:ln>
        </p:spPr>
      </p:sp>
      <p:sp>
        <p:nvSpPr>
          <p:cNvPr id="29" name="Shape 27"/>
          <p:cNvSpPr/>
          <p:nvPr/>
        </p:nvSpPr>
        <p:spPr>
          <a:xfrm>
            <a:off x="384048" y="3493008"/>
            <a:ext cx="45720" cy="475488"/>
          </a:xfrm>
          <a:prstGeom prst="rect">
            <a:avLst/>
          </a:prstGeom>
          <a:solidFill>
            <a:srgbClr val="A78BFA"/>
          </a:solidFill>
          <a:ln/>
        </p:spPr>
      </p:sp>
      <p:sp>
        <p:nvSpPr>
          <p:cNvPr id="30" name="Text 28"/>
          <p:cNvSpPr/>
          <p:nvPr/>
        </p:nvSpPr>
        <p:spPr>
          <a:xfrm>
            <a:off x="512064" y="3493008"/>
            <a:ext cx="365760" cy="475488"/>
          </a:xfrm>
          <a:prstGeom prst="rect">
            <a:avLst/>
          </a:prstGeom>
          <a:noFill/>
          <a:ln/>
        </p:spPr>
        <p:txBody>
          <a:bodyPr wrap="square" lIns="0" tIns="0" rIns="0" bIns="0" rtlCol="0" anchor="ctr"/>
          <a:lstStyle/>
          <a:p>
            <a:pPr indent="0" marL="0">
              <a:buNone/>
            </a:pPr>
            <a:r>
              <a:rPr lang="en-US" sz="1400" b="1" dirty="0">
                <a:solidFill>
                  <a:srgbClr val="A78BFA"/>
                </a:solidFill>
                <a:latin typeface="Pretendard" pitchFamily="34" charset="0"/>
                <a:ea typeface="Pretendard" pitchFamily="34" charset="-122"/>
                <a:cs typeface="Pretendard" pitchFamily="34" charset="-120"/>
              </a:rPr>
              <a:t>＋</a:t>
            </a:r>
            <a:endParaRPr lang="en-US" sz="1400" dirty="0"/>
          </a:p>
        </p:txBody>
      </p:sp>
      <p:sp>
        <p:nvSpPr>
          <p:cNvPr id="31" name="Text 29"/>
          <p:cNvSpPr/>
          <p:nvPr/>
        </p:nvSpPr>
        <p:spPr>
          <a:xfrm>
            <a:off x="932688" y="349300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연동 · 계정 관리 클로징</a:t>
            </a:r>
            <a:endParaRPr lang="en-US" sz="1200" dirty="0"/>
          </a:p>
        </p:txBody>
      </p:sp>
      <p:sp>
        <p:nvSpPr>
          <p:cNvPr id="32" name="Text 30"/>
          <p:cNvSpPr/>
          <p:nvPr/>
        </p:nvSpPr>
        <p:spPr>
          <a:xfrm>
            <a:off x="3081528" y="349300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2′</a:t>
            </a:r>
            <a:endParaRPr lang="en-US" sz="1200" dirty="0"/>
          </a:p>
        </p:txBody>
      </p:sp>
      <p:sp>
        <p:nvSpPr>
          <p:cNvPr id="33" name="Text 31"/>
          <p:cNvSpPr/>
          <p:nvPr/>
        </p:nvSpPr>
        <p:spPr>
          <a:xfrm>
            <a:off x="3584448" y="349300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데이터소스 8종 등록 화면 + '추가 + 검증' — 읽기 전용 신뢰로 마무리</a:t>
            </a:r>
            <a:endParaRPr lang="en-US" sz="950" dirty="0"/>
          </a:p>
        </p:txBody>
      </p:sp>
      <p:sp>
        <p:nvSpPr>
          <p:cNvPr id="34" name="Text 32"/>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25′</a:t>
            </a:r>
            <a:endParaRPr lang="en-US" sz="1600" dirty="0"/>
          </a:p>
        </p:txBody>
      </p:sp>
      <p:sp>
        <p:nvSpPr>
          <p:cNvPr id="35" name="Text 33"/>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총 데모 시간</a:t>
            </a:r>
            <a:endParaRPr lang="en-US" sz="750" dirty="0"/>
          </a:p>
        </p:txBody>
      </p:sp>
      <p:sp>
        <p:nvSpPr>
          <p:cNvPr id="36" name="Text 34"/>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4+1</a:t>
            </a:r>
            <a:endParaRPr lang="en-US" sz="1600" dirty="0"/>
          </a:p>
        </p:txBody>
      </p:sp>
      <p:sp>
        <p:nvSpPr>
          <p:cNvPr id="37" name="Text 35"/>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시나리오 수 (투어 + 클로징 포함)</a:t>
            </a:r>
            <a:endParaRPr lang="en-US" sz="750" dirty="0"/>
          </a:p>
        </p:txBody>
      </p:sp>
      <p:sp>
        <p:nvSpPr>
          <p:cNvPr id="38" name="Text 36"/>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39" name="Text 37"/>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실운영 환경 — 목업 없음</a:t>
            </a:r>
            <a:endParaRPr lang="en-US" sz="750" dirty="0"/>
          </a:p>
        </p:txBody>
      </p:sp>
      <p:sp>
        <p:nvSpPr>
          <p:cNvPr id="40" name="Text 38"/>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41" name="Text 39"/>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경고에서 조치 방법까지</a:t>
            </a:r>
            <a:endParaRPr lang="en-US" sz="750" dirty="0"/>
          </a:p>
        </p:txBody>
      </p:sp>
      <p:sp>
        <p:nvSpPr>
          <p:cNvPr id="42" name="Text 40"/>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3" name="Text 41"/>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가장 많이 받는 질문, 셋</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"권한을 얼마나 줘야 하죠?"</a:t>
            </a:r>
            <a:endParaRPr lang="en-US" sz="1250" dirty="0"/>
          </a:p>
        </p:txBody>
      </p:sp>
      <p:sp>
        <p:nvSpPr>
          <p:cNvPr id="7" name="Text 5"/>
          <p:cNvSpPr/>
          <p:nvPr/>
        </p:nvSpPr>
        <p:spPr>
          <a:xfrm>
            <a:off x="512064"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쓰기 권한은 요구하지도, 받지도 않습니다.</a:t>
            </a:r>
            <a:endParaRPr lang="en-US" sz="950" dirty="0"/>
          </a:p>
        </p:txBody>
      </p:sp>
      <p:sp>
        <p:nvSpPr>
          <p:cNvPr id="8" name="Shape 6"/>
          <p:cNvSpPr/>
          <p:nvPr/>
        </p:nvSpPr>
        <p:spPr>
          <a:xfrm>
            <a:off x="3206496" y="1298448"/>
            <a:ext cx="2731008" cy="54864"/>
          </a:xfrm>
          <a:prstGeom prst="rect">
            <a:avLst/>
          </a:prstGeom>
          <a:solidFill>
            <a:srgbClr val="FF693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"AI가 틀리면요?"</a:t>
            </a:r>
            <a:endParaRPr lang="en-US" sz="1250" dirty="0"/>
          </a:p>
        </p:txBody>
      </p:sp>
      <p:sp>
        <p:nvSpPr>
          <p:cNvPr id="11" name="Text 9"/>
          <p:cNvSpPr/>
          <p:nvPr/>
        </p:nvSpPr>
        <p:spPr>
          <a:xfrm>
            <a:off x="3334512"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950" dirty="0"/>
          </a:p>
        </p:txBody>
      </p:sp>
      <p:sp>
        <p:nvSpPr>
          <p:cNvPr id="12" name="Shape 10"/>
          <p:cNvSpPr/>
          <p:nvPr/>
        </p:nvSpPr>
        <p:spPr>
          <a:xfrm>
            <a:off x="6028944" y="1298448"/>
            <a:ext cx="2731008" cy="54864"/>
          </a:xfrm>
          <a:prstGeom prst="rect">
            <a:avLst/>
          </a:prstGeom>
          <a:solidFill>
            <a:srgbClr val="1FBA8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"기존 도구는 버리나요?"</a:t>
            </a:r>
            <a:endParaRPr lang="en-US" sz="1250" dirty="0"/>
          </a:p>
        </p:txBody>
      </p:sp>
      <p:sp>
        <p:nvSpPr>
          <p:cNvPr id="15" name="Text 13"/>
          <p:cNvSpPr/>
          <p:nvPr/>
        </p:nvSpPr>
        <p:spPr>
          <a:xfrm>
            <a:off x="6156960"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역할 수 (ReadOnly)</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모델 학습에 쓰이는 고객 데이터</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그대로 유지되는 기존 관측 도구</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최악의 실패 모드 = 틀린 조언</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286000"/>
            <a:ext cx="7772400" cy="777240"/>
          </a:xfrm>
          <a:prstGeom prst="rect">
            <a:avLst/>
          </a:prstGeom>
          <a:noFill/>
          <a:ln/>
        </p:spPr>
        <p:txBody>
          <a:bodyPr wrap="square" lIns="0" tIns="0" rIns="0" bIns="0" rtlCol="0" anchor="ctr"/>
          <a:lstStyle/>
          <a:p>
            <a:pPr indent="0" marL="0">
              <a:buNone/>
            </a:pPr>
            <a:r>
              <a:rPr lang="en-US" sz="4400" spc="-150" kern="0" dirty="0">
                <a:solidFill>
                  <a:srgbClr val="FFFFFF"/>
                </a:solidFill>
                <a:latin typeface="Pretendard" pitchFamily="34" charset="0"/>
                <a:ea typeface="Pretendard" pitchFamily="34" charset="-122"/>
                <a:cs typeface="Pretendard" pitchFamily="34" charset="-120"/>
              </a:rPr>
              <a:t>Thank you.</a:t>
            </a:r>
            <a:endParaRPr lang="en-US" sz="4400" dirty="0"/>
          </a:p>
        </p:txBody>
      </p:sp>
      <p:sp>
        <p:nvSpPr>
          <p:cNvPr id="3" name="Text 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 name="Text 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23</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2026-08-11T17:11:10Z</dcterms:created>
  <dcterms:modified xsi:type="dcterms:W3CDTF">2026-08-11T17:11:10Z</dcterms:modified>
</cp:coreProperties>
</file>