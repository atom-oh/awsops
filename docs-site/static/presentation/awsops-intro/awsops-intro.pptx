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페이지·리소스 유형 즉시 이동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(로컬 7종은 현재 비활성 — 표준 라우팅 대응)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 경로는 현재 설계 원칙(ADR-001/010)에 따라 비활성이며 해당 질문은 표준 라우팅이 대응합니다.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해제는 별도 승인 절차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질문에는 에이전트가 알람과 변경 이력을 조회해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04672" y="2240280"/>
            <a:ext cx="10515600" cy="1005840"/>
          </a:xfrm>
          <a:prstGeom prst="rect">
            <a:avLst/>
          </a:prstGeom>
          <a:noFill/>
          <a:ln/>
        </p:spPr>
        <p:txBody>
          <a:bodyPr wrap="square" rtlCol="0" anchor="t"/>
          <a:lstStyle/>
          <a:p>
            <a:pPr algn="l" indent="0" marL="0">
              <a:buNone/>
            </a:pPr>
            <a:r>
              <a:rPr lang="en-US" sz="5400" b="1" spc="-100" kern="0" dirty="0">
                <a:solidFill>
                  <a:srgbClr val="161D26"/>
                </a:solidFill>
                <a:latin typeface="Pretendard" pitchFamily="34" charset="0"/>
                <a:ea typeface="Pretendard" pitchFamily="34" charset="-122"/>
                <a:cs typeface="Pretendard" pitchFamily="34" charset="-120"/>
              </a:rPr>
              <a:t>AWSops</a:t>
            </a:r>
            <a:endParaRPr lang="en-US" sz="5400" dirty="0"/>
          </a:p>
        </p:txBody>
      </p:sp>
      <p:sp>
        <p:nvSpPr>
          <p:cNvPr id="3" name="Text 1"/>
          <p:cNvSpPr/>
          <p:nvPr/>
        </p:nvSpPr>
        <p:spPr>
          <a:xfrm>
            <a:off x="841248" y="3310128"/>
            <a:ext cx="10058400" cy="914400"/>
          </a:xfrm>
          <a:prstGeom prst="rect">
            <a:avLst/>
          </a:prstGeom>
          <a:noFill/>
          <a:ln/>
        </p:spPr>
        <p:txBody>
          <a:bodyPr wrap="square" rtlCol="0" anchor="t"/>
          <a:lstStyle/>
          <a:p>
            <a:pPr algn="l" indent="0" marL="0">
              <a:lnSpc>
                <a:spcPct val="118000"/>
              </a:lnSpc>
              <a:buNone/>
            </a:pPr>
            <a:r>
              <a:rPr lang="en-US" sz="2200" dirty="0">
                <a:solidFill>
                  <a:srgbClr val="3F4858"/>
                </a:solidFill>
                <a:latin typeface="Pretendard" pitchFamily="34" charset="0"/>
                <a:ea typeface="Pretendard" pitchFamily="34" charset="-122"/>
                <a:cs typeface="Pretendard" pitchFamily="34" charset="-120"/>
              </a:rPr>
              <a:t>AI 기반 AWS · Kubernetes 통합 운영 대시보드</a:t>
            </a:r>
            <a:endParaRPr lang="en-US" sz="2200" dirty="0"/>
          </a:p>
        </p:txBody>
      </p:sp>
      <p:sp>
        <p:nvSpPr>
          <p:cNvPr id="4" name="Text 2"/>
          <p:cNvSpPr/>
          <p:nvPr/>
        </p:nvSpPr>
        <p:spPr>
          <a:xfrm>
            <a:off x="841248" y="5029200"/>
            <a:ext cx="5486400" cy="914400"/>
          </a:xfrm>
          <a:prstGeom prst="rect">
            <a:avLst/>
          </a:prstGeom>
          <a:noFill/>
          <a:ln/>
        </p:spPr>
        <p:txBody>
          <a:bodyPr wrap="square" rtlCol="0" anchor="t"/>
          <a:lstStyle/>
          <a:p>
            <a:pPr algn="l" indent="0" marL="0">
              <a:lnSpc>
                <a:spcPct val="118000"/>
              </a:lnSpc>
              <a:buNone/>
            </a:pPr>
            <a:r>
              <a:rPr lang="en-US" sz="1500" b="1" dirty="0">
                <a:solidFill>
                  <a:srgbClr val="161D26"/>
                </a:solidFill>
                <a:latin typeface="Pretendard" pitchFamily="34" charset="0"/>
                <a:ea typeface="Pretendard" pitchFamily="34" charset="-122"/>
                <a:cs typeface="Pretendard" pitchFamily="34" charset="-120"/>
              </a:rPr>
              <a:t>오준석</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Solutions Architect</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AWS</a:t>
            </a:r>
            <a:endParaRPr lang="en-US" sz="1500" dirty="0"/>
          </a:p>
        </p:txBody>
      </p:sp>
      <p:pic>
        <p:nvPicPr>
          <p:cNvPr id="5" name="Image 0" descr="AWS logo">    </p:cNvPr>
          <p:cNvPicPr>
            <a:picLocks noChangeAspect="1"/>
          </p:cNvPicPr>
          <p:nvPr/>
        </p:nvPicPr>
        <p:blipFill>
          <a:blip r:embed="rId2"/>
          <a:stretch>
            <a:fillRect/>
          </a:stretch>
        </p:blipFill>
        <p:spPr>
          <a:xfrm>
            <a:off x="10557326" y="5989320"/>
            <a:ext cx="793122" cy="475488"/>
          </a:xfrm>
          <a:prstGeom prst="rect">
            <a:avLst/>
          </a:prstGeom>
        </p:spPr>
      </p:pic>
      <p:sp>
        <p:nvSpPr>
          <p:cNvPr id="6"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10058400" cy="777240"/>
          </a:xfrm>
          <a:prstGeom prst="rect">
            <a:avLst/>
          </a:prstGeom>
          <a:noFill/>
          <a:ln/>
        </p:spPr>
        <p:txBody>
          <a:bodyPr wrap="square" rtlCol="0" anchor="t"/>
          <a:lstStyle/>
          <a:p>
            <a:pPr algn="l" indent="0" marL="0">
              <a:buNone/>
            </a:pPr>
            <a:r>
              <a:rPr lang="en-US" sz="3800" b="1" spc="-100" kern="0" dirty="0">
                <a:solidFill>
                  <a:srgbClr val="161D26"/>
                </a:solidFill>
                <a:latin typeface="Pretendard" pitchFamily="34" charset="0"/>
                <a:ea typeface="Pretendard" pitchFamily="34" charset="-122"/>
                <a:cs typeface="Pretendard" pitchFamily="34" charset="-120"/>
              </a:rPr>
              <a:t>Agenda</a:t>
            </a:r>
            <a:endParaRPr lang="en-US" sz="3800" dirty="0"/>
          </a:p>
        </p:txBody>
      </p:sp>
      <p:sp>
        <p:nvSpPr>
          <p:cNvPr id="3" name="Shape 1"/>
          <p:cNvSpPr/>
          <p:nvPr/>
        </p:nvSpPr>
        <p:spPr>
          <a:xfrm>
            <a:off x="841248" y="1929384"/>
            <a:ext cx="603504" cy="603504"/>
          </a:xfrm>
          <a:prstGeom prst="roundRect">
            <a:avLst>
              <a:gd name="adj" fmla="val 18182"/>
            </a:avLst>
          </a:prstGeom>
          <a:solidFill>
            <a:srgbClr val="EAF2FF"/>
          </a:solidFill>
          <a:ln/>
        </p:spPr>
      </p:sp>
      <p:pic>
        <p:nvPicPr>
          <p:cNvPr id="4" name="Image 0" descr="chapter 01 icon">    </p:cNvPr>
          <p:cNvPicPr>
            <a:picLocks noChangeAspect="1"/>
          </p:cNvPicPr>
          <p:nvPr/>
        </p:nvPicPr>
        <p:blipFill>
          <a:blip r:embed="rId1"/>
          <a:stretch>
            <a:fillRect/>
          </a:stretch>
        </p:blipFill>
        <p:spPr>
          <a:xfrm>
            <a:off x="969264" y="2057400"/>
            <a:ext cx="347472" cy="347472"/>
          </a:xfrm>
          <a:prstGeom prst="rect">
            <a:avLst/>
          </a:prstGeom>
        </p:spPr>
      </p:pic>
      <p:sp>
        <p:nvSpPr>
          <p:cNvPr id="5" name="Text 2"/>
          <p:cNvSpPr/>
          <p:nvPr/>
        </p:nvSpPr>
        <p:spPr>
          <a:xfrm>
            <a:off x="1627632"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01</a:t>
            </a:r>
            <a:endParaRPr lang="en-US" sz="1100" dirty="0"/>
          </a:p>
        </p:txBody>
      </p:sp>
      <p:sp>
        <p:nvSpPr>
          <p:cNvPr id="6" name="Text 3"/>
          <p:cNvSpPr/>
          <p:nvPr/>
        </p:nvSpPr>
        <p:spPr>
          <a:xfrm>
            <a:off x="1627632"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Why AWSops</a:t>
            </a:r>
            <a:endParaRPr lang="en-US" sz="1600" dirty="0"/>
          </a:p>
        </p:txBody>
      </p:sp>
      <p:sp>
        <p:nvSpPr>
          <p:cNvPr id="7" name="Text 4"/>
          <p:cNvSpPr/>
          <p:nvPr/>
        </p:nvSpPr>
        <p:spPr>
          <a:xfrm>
            <a:off x="1627632"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새벽 3시의 장애 대응 · 운영팀 공통의 4대 페인</a:t>
            </a:r>
            <a:endParaRPr lang="en-US" sz="1150" dirty="0"/>
          </a:p>
        </p:txBody>
      </p:sp>
      <p:sp>
        <p:nvSpPr>
          <p:cNvPr id="8" name="Shape 5"/>
          <p:cNvSpPr/>
          <p:nvPr/>
        </p:nvSpPr>
        <p:spPr>
          <a:xfrm>
            <a:off x="841248" y="2962656"/>
            <a:ext cx="4846320" cy="0"/>
          </a:xfrm>
          <a:prstGeom prst="line">
            <a:avLst/>
          </a:prstGeom>
          <a:noFill/>
          <a:ln w="12700">
            <a:solidFill>
              <a:srgbClr val="D2D2D5"/>
            </a:solidFill>
            <a:prstDash val="solid"/>
          </a:ln>
        </p:spPr>
      </p:sp>
      <p:sp>
        <p:nvSpPr>
          <p:cNvPr id="9" name="Shape 6"/>
          <p:cNvSpPr/>
          <p:nvPr/>
        </p:nvSpPr>
        <p:spPr>
          <a:xfrm>
            <a:off x="6446520" y="1929384"/>
            <a:ext cx="603504" cy="603504"/>
          </a:xfrm>
          <a:prstGeom prst="roundRect">
            <a:avLst>
              <a:gd name="adj" fmla="val 18182"/>
            </a:avLst>
          </a:prstGeom>
          <a:solidFill>
            <a:srgbClr val="EAF2FF"/>
          </a:solidFill>
          <a:ln/>
        </p:spPr>
      </p:sp>
      <p:pic>
        <p:nvPicPr>
          <p:cNvPr id="10" name="Image 1" descr="chapter 02 icon">    </p:cNvPr>
          <p:cNvPicPr>
            <a:picLocks noChangeAspect="1"/>
          </p:cNvPicPr>
          <p:nvPr/>
        </p:nvPicPr>
        <p:blipFill>
          <a:blip r:embed="rId2"/>
          <a:stretch>
            <a:fillRect/>
          </a:stretch>
        </p:blipFill>
        <p:spPr>
          <a:xfrm>
            <a:off x="6574536" y="2057400"/>
            <a:ext cx="347472" cy="347472"/>
          </a:xfrm>
          <a:prstGeom prst="rect">
            <a:avLst/>
          </a:prstGeom>
        </p:spPr>
      </p:pic>
      <p:sp>
        <p:nvSpPr>
          <p:cNvPr id="11" name="Text 7"/>
          <p:cNvSpPr/>
          <p:nvPr/>
        </p:nvSpPr>
        <p:spPr>
          <a:xfrm>
            <a:off x="7232904"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02</a:t>
            </a:r>
            <a:endParaRPr lang="en-US" sz="1100" dirty="0"/>
          </a:p>
        </p:txBody>
      </p:sp>
      <p:sp>
        <p:nvSpPr>
          <p:cNvPr id="12" name="Text 8"/>
          <p:cNvSpPr/>
          <p:nvPr/>
        </p:nvSpPr>
        <p:spPr>
          <a:xfrm>
            <a:off x="7232904"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AWSops 개요</a:t>
            </a:r>
            <a:endParaRPr lang="en-US" sz="1600" dirty="0"/>
          </a:p>
        </p:txBody>
      </p:sp>
      <p:sp>
        <p:nvSpPr>
          <p:cNvPr id="13" name="Text 9"/>
          <p:cNvSpPr/>
          <p:nvPr/>
        </p:nvSpPr>
        <p:spPr>
          <a:xfrm>
            <a:off x="7232904"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읽기 전용 통합 대시보드 · 운영 동선 그대로의 기능 맵</a:t>
            </a:r>
            <a:endParaRPr lang="en-US" sz="1150" dirty="0"/>
          </a:p>
        </p:txBody>
      </p:sp>
      <p:sp>
        <p:nvSpPr>
          <p:cNvPr id="14" name="Shape 10"/>
          <p:cNvSpPr/>
          <p:nvPr/>
        </p:nvSpPr>
        <p:spPr>
          <a:xfrm>
            <a:off x="6446520" y="2962656"/>
            <a:ext cx="4846320" cy="0"/>
          </a:xfrm>
          <a:prstGeom prst="line">
            <a:avLst/>
          </a:prstGeom>
          <a:noFill/>
          <a:ln w="12700">
            <a:solidFill>
              <a:srgbClr val="D2D2D5"/>
            </a:solidFill>
            <a:prstDash val="solid"/>
          </a:ln>
        </p:spPr>
      </p:sp>
      <p:sp>
        <p:nvSpPr>
          <p:cNvPr id="15" name="Shape 11"/>
          <p:cNvSpPr/>
          <p:nvPr/>
        </p:nvSpPr>
        <p:spPr>
          <a:xfrm>
            <a:off x="841248" y="3072384"/>
            <a:ext cx="603504" cy="603504"/>
          </a:xfrm>
          <a:prstGeom prst="roundRect">
            <a:avLst>
              <a:gd name="adj" fmla="val 18182"/>
            </a:avLst>
          </a:prstGeom>
          <a:solidFill>
            <a:srgbClr val="EAF2FF"/>
          </a:solidFill>
          <a:ln/>
        </p:spPr>
      </p:sp>
      <p:pic>
        <p:nvPicPr>
          <p:cNvPr id="16" name="Image 2" descr="chapter 03 icon">    </p:cNvPr>
          <p:cNvPicPr>
            <a:picLocks noChangeAspect="1"/>
          </p:cNvPicPr>
          <p:nvPr/>
        </p:nvPicPr>
        <p:blipFill>
          <a:blip r:embed="rId3"/>
          <a:stretch>
            <a:fillRect/>
          </a:stretch>
        </p:blipFill>
        <p:spPr>
          <a:xfrm>
            <a:off x="969264" y="3200400"/>
            <a:ext cx="347472" cy="347472"/>
          </a:xfrm>
          <a:prstGeom prst="rect">
            <a:avLst/>
          </a:prstGeom>
        </p:spPr>
      </p:pic>
      <p:sp>
        <p:nvSpPr>
          <p:cNvPr id="17" name="Text 12"/>
          <p:cNvSpPr/>
          <p:nvPr/>
        </p:nvSpPr>
        <p:spPr>
          <a:xfrm>
            <a:off x="1627632"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03</a:t>
            </a:r>
            <a:endParaRPr lang="en-US" sz="1100" dirty="0"/>
          </a:p>
        </p:txBody>
      </p:sp>
      <p:sp>
        <p:nvSpPr>
          <p:cNvPr id="18" name="Text 13"/>
          <p:cNvSpPr/>
          <p:nvPr/>
        </p:nvSpPr>
        <p:spPr>
          <a:xfrm>
            <a:off x="1627632"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Architecture Deep Dive</a:t>
            </a:r>
            <a:endParaRPr lang="en-US" sz="1600" dirty="0"/>
          </a:p>
        </p:txBody>
      </p:sp>
      <p:sp>
        <p:nvSpPr>
          <p:cNvPr id="19" name="Text 14"/>
          <p:cNvSpPr/>
          <p:nvPr/>
        </p:nvSpPr>
        <p:spPr>
          <a:xfrm>
            <a:off x="1627632"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프라이빗 엣지 · Bedrock AgentCore · 비동기 워커 · 안전 설계</a:t>
            </a:r>
            <a:endParaRPr lang="en-US" sz="1150" dirty="0"/>
          </a:p>
        </p:txBody>
      </p:sp>
      <p:sp>
        <p:nvSpPr>
          <p:cNvPr id="20" name="Shape 15"/>
          <p:cNvSpPr/>
          <p:nvPr/>
        </p:nvSpPr>
        <p:spPr>
          <a:xfrm>
            <a:off x="841248" y="4105656"/>
            <a:ext cx="4846320" cy="0"/>
          </a:xfrm>
          <a:prstGeom prst="line">
            <a:avLst/>
          </a:prstGeom>
          <a:noFill/>
          <a:ln w="12700">
            <a:solidFill>
              <a:srgbClr val="D2D2D5"/>
            </a:solidFill>
            <a:prstDash val="solid"/>
          </a:ln>
        </p:spPr>
      </p:sp>
      <p:sp>
        <p:nvSpPr>
          <p:cNvPr id="21" name="Shape 16"/>
          <p:cNvSpPr/>
          <p:nvPr/>
        </p:nvSpPr>
        <p:spPr>
          <a:xfrm>
            <a:off x="6446520" y="3072384"/>
            <a:ext cx="603504" cy="603504"/>
          </a:xfrm>
          <a:prstGeom prst="roundRect">
            <a:avLst>
              <a:gd name="adj" fmla="val 18182"/>
            </a:avLst>
          </a:prstGeom>
          <a:solidFill>
            <a:srgbClr val="EAF2FF"/>
          </a:solidFill>
          <a:ln/>
        </p:spPr>
      </p:sp>
      <p:pic>
        <p:nvPicPr>
          <p:cNvPr id="22" name="Image 3" descr="chapter 04 icon">    </p:cNvPr>
          <p:cNvPicPr>
            <a:picLocks noChangeAspect="1"/>
          </p:cNvPicPr>
          <p:nvPr/>
        </p:nvPicPr>
        <p:blipFill>
          <a:blip r:embed="rId4"/>
          <a:stretch>
            <a:fillRect/>
          </a:stretch>
        </p:blipFill>
        <p:spPr>
          <a:xfrm>
            <a:off x="6574536" y="3200400"/>
            <a:ext cx="347472" cy="347472"/>
          </a:xfrm>
          <a:prstGeom prst="rect">
            <a:avLst/>
          </a:prstGeom>
        </p:spPr>
      </p:pic>
      <p:sp>
        <p:nvSpPr>
          <p:cNvPr id="23" name="Text 17"/>
          <p:cNvSpPr/>
          <p:nvPr/>
        </p:nvSpPr>
        <p:spPr>
          <a:xfrm>
            <a:off x="7232904"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04</a:t>
            </a:r>
            <a:endParaRPr lang="en-US" sz="1100" dirty="0"/>
          </a:p>
        </p:txBody>
      </p:sp>
      <p:sp>
        <p:nvSpPr>
          <p:cNvPr id="24" name="Text 18"/>
          <p:cNvSpPr/>
          <p:nvPr/>
        </p:nvSpPr>
        <p:spPr>
          <a:xfrm>
            <a:off x="7232904"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핵심 가치 4</a:t>
            </a:r>
            <a:endParaRPr lang="en-US" sz="1600" dirty="0"/>
          </a:p>
        </p:txBody>
      </p:sp>
      <p:sp>
        <p:nvSpPr>
          <p:cNvPr id="25" name="Text 19"/>
          <p:cNvSpPr/>
          <p:nvPr/>
        </p:nvSpPr>
        <p:spPr>
          <a:xfrm>
            <a:off x="7232904"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멀티계정 가시성 · 장애 RCA · 비용 원인 분석 · WA 자동 진단</a:t>
            </a:r>
            <a:endParaRPr lang="en-US" sz="1150" dirty="0"/>
          </a:p>
        </p:txBody>
      </p:sp>
      <p:sp>
        <p:nvSpPr>
          <p:cNvPr id="26" name="Shape 20"/>
          <p:cNvSpPr/>
          <p:nvPr/>
        </p:nvSpPr>
        <p:spPr>
          <a:xfrm>
            <a:off x="6446520" y="4105656"/>
            <a:ext cx="4846320" cy="0"/>
          </a:xfrm>
          <a:prstGeom prst="line">
            <a:avLst/>
          </a:prstGeom>
          <a:noFill/>
          <a:ln w="12700">
            <a:solidFill>
              <a:srgbClr val="D2D2D5"/>
            </a:solidFill>
            <a:prstDash val="solid"/>
          </a:ln>
        </p:spPr>
      </p:sp>
      <p:sp>
        <p:nvSpPr>
          <p:cNvPr id="27" name="Shape 21"/>
          <p:cNvSpPr/>
          <p:nvPr/>
        </p:nvSpPr>
        <p:spPr>
          <a:xfrm>
            <a:off x="841248" y="4215384"/>
            <a:ext cx="603504" cy="603504"/>
          </a:xfrm>
          <a:prstGeom prst="roundRect">
            <a:avLst>
              <a:gd name="adj" fmla="val 18182"/>
            </a:avLst>
          </a:prstGeom>
          <a:solidFill>
            <a:srgbClr val="EAF2FF"/>
          </a:solidFill>
          <a:ln/>
        </p:spPr>
      </p:sp>
      <p:pic>
        <p:nvPicPr>
          <p:cNvPr id="28" name="Image 4" descr="chapter 05 icon">    </p:cNvPr>
          <p:cNvPicPr>
            <a:picLocks noChangeAspect="1"/>
          </p:cNvPicPr>
          <p:nvPr/>
        </p:nvPicPr>
        <p:blipFill>
          <a:blip r:embed="rId5"/>
          <a:stretch>
            <a:fillRect/>
          </a:stretch>
        </p:blipFill>
        <p:spPr>
          <a:xfrm>
            <a:off x="969264" y="4343400"/>
            <a:ext cx="347472" cy="347472"/>
          </a:xfrm>
          <a:prstGeom prst="rect">
            <a:avLst/>
          </a:prstGeom>
        </p:spPr>
      </p:pic>
      <p:sp>
        <p:nvSpPr>
          <p:cNvPr id="29" name="Text 22"/>
          <p:cNvSpPr/>
          <p:nvPr/>
        </p:nvSpPr>
        <p:spPr>
          <a:xfrm>
            <a:off x="1627632" y="4197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05</a:t>
            </a:r>
            <a:endParaRPr lang="en-US" sz="1100" dirty="0"/>
          </a:p>
        </p:txBody>
      </p:sp>
      <p:sp>
        <p:nvSpPr>
          <p:cNvPr id="30" name="Text 23"/>
          <p:cNvSpPr/>
          <p:nvPr/>
        </p:nvSpPr>
        <p:spPr>
          <a:xfrm>
            <a:off x="1627632" y="4434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Live Demo &amp; Q&amp;A</a:t>
            </a:r>
            <a:endParaRPr lang="en-US" sz="1600" dirty="0"/>
          </a:p>
        </p:txBody>
      </p:sp>
      <p:sp>
        <p:nvSpPr>
          <p:cNvPr id="31" name="Text 24"/>
          <p:cNvSpPr/>
          <p:nvPr/>
        </p:nvSpPr>
        <p:spPr>
          <a:xfrm>
            <a:off x="1627632" y="4818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실운영 환경 시나리오 4종 · 예상 질문 선답변</a:t>
            </a:r>
            <a:endParaRPr lang="en-US" sz="1150" dirty="0"/>
          </a:p>
        </p:txBody>
      </p:sp>
      <p:sp>
        <p:nvSpPr>
          <p:cNvPr id="32"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3" name="Image 5" descr="AWS logo">    </p:cNvPr>
          <p:cNvPicPr>
            <a:picLocks noChangeAspect="1"/>
          </p:cNvPicPr>
          <p:nvPr/>
        </p:nvPicPr>
        <p:blipFill>
          <a:blip r:embed="rId6"/>
          <a:stretch>
            <a:fillRect/>
          </a:stretch>
        </p:blipFill>
        <p:spPr>
          <a:xfrm>
            <a:off x="10561320" y="6364224"/>
            <a:ext cx="396561" cy="237744"/>
          </a:xfrm>
          <a:prstGeom prst="rect">
            <a:avLst/>
          </a:prstGeom>
        </p:spPr>
      </p:pic>
      <p:sp>
        <p:nvSpPr>
          <p:cNvPr id="34"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01</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Why AWSops</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새벽 3시의 운영 현장</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장애의 절반은 '이동 시간'이다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400" dirty="0"/>
          </a:p>
        </p:txBody>
      </p:sp>
      <p:sp>
        <p:nvSpPr>
          <p:cNvPr id="4" name="Shape 2"/>
          <p:cNvSpPr/>
          <p:nvPr/>
        </p:nvSpPr>
        <p:spPr>
          <a:xfrm>
            <a:off x="841248" y="1828800"/>
            <a:ext cx="1522933" cy="914400"/>
          </a:xfrm>
          <a:prstGeom prst="roundRect">
            <a:avLst>
              <a:gd name="adj" fmla="val 8000"/>
            </a:avLst>
          </a:prstGeom>
          <a:solidFill>
            <a:srgbClr val="F2EEFF"/>
          </a:solidFill>
          <a:ln w="15875">
            <a:solidFill>
              <a:srgbClr val="8B5CF6"/>
            </a:solidFill>
            <a:prstDash val="solid"/>
          </a:ln>
        </p:spPr>
      </p:sp>
      <p:sp>
        <p:nvSpPr>
          <p:cNvPr id="5" name="Text 3"/>
          <p:cNvSpPr/>
          <p:nvPr/>
        </p:nvSpPr>
        <p:spPr>
          <a:xfrm>
            <a:off x="89611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CloudWatch</a:t>
            </a:r>
            <a:endParaRPr lang="en-US" sz="1100" dirty="0"/>
          </a:p>
        </p:txBody>
      </p:sp>
      <p:sp>
        <p:nvSpPr>
          <p:cNvPr id="6" name="Text 4"/>
          <p:cNvSpPr/>
          <p:nvPr/>
        </p:nvSpPr>
        <p:spPr>
          <a:xfrm>
            <a:off x="89611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알람 수신</a:t>
            </a:r>
            <a:endParaRPr lang="en-US" sz="850" dirty="0"/>
          </a:p>
        </p:txBody>
      </p:sp>
      <p:sp>
        <p:nvSpPr>
          <p:cNvPr id="7" name="Shape 5"/>
          <p:cNvSpPr/>
          <p:nvPr/>
        </p:nvSpPr>
        <p:spPr>
          <a:xfrm>
            <a:off x="2409901" y="2286000"/>
            <a:ext cx="182880" cy="0"/>
          </a:xfrm>
          <a:prstGeom prst="line">
            <a:avLst/>
          </a:prstGeom>
          <a:noFill/>
          <a:ln w="22225">
            <a:solidFill>
              <a:srgbClr val="6B7280"/>
            </a:solidFill>
            <a:prstDash val="solid"/>
            <a:tailEnd type="triangle"/>
          </a:ln>
        </p:spPr>
      </p:sp>
      <p:sp>
        <p:nvSpPr>
          <p:cNvPr id="8" name="Shape 6"/>
          <p:cNvSpPr/>
          <p:nvPr/>
        </p:nvSpPr>
        <p:spPr>
          <a:xfrm>
            <a:off x="2638501" y="1828800"/>
            <a:ext cx="1522933" cy="914400"/>
          </a:xfrm>
          <a:prstGeom prst="roundRect">
            <a:avLst>
              <a:gd name="adj" fmla="val 8000"/>
            </a:avLst>
          </a:prstGeom>
          <a:solidFill>
            <a:srgbClr val="FFFFFF"/>
          </a:solidFill>
          <a:ln w="15875">
            <a:solidFill>
              <a:srgbClr val="3B82F6"/>
            </a:solidFill>
            <a:prstDash val="solid"/>
          </a:ln>
        </p:spPr>
      </p:sp>
      <p:sp>
        <p:nvSpPr>
          <p:cNvPr id="9" name="Text 7"/>
          <p:cNvSpPr/>
          <p:nvPr/>
        </p:nvSpPr>
        <p:spPr>
          <a:xfrm>
            <a:off x="269336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EC2 · VPC 콘솔</a:t>
            </a:r>
            <a:endParaRPr lang="en-US" sz="1100" dirty="0"/>
          </a:p>
        </p:txBody>
      </p:sp>
      <p:sp>
        <p:nvSpPr>
          <p:cNvPr id="10" name="Text 8"/>
          <p:cNvSpPr/>
          <p:nvPr/>
        </p:nvSpPr>
        <p:spPr>
          <a:xfrm>
            <a:off x="269336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리소스 상태</a:t>
            </a:r>
            <a:endParaRPr lang="en-US" sz="850" dirty="0"/>
          </a:p>
        </p:txBody>
      </p:sp>
      <p:sp>
        <p:nvSpPr>
          <p:cNvPr id="11" name="Shape 9"/>
          <p:cNvSpPr/>
          <p:nvPr/>
        </p:nvSpPr>
        <p:spPr>
          <a:xfrm>
            <a:off x="4207154" y="2286000"/>
            <a:ext cx="182880" cy="0"/>
          </a:xfrm>
          <a:prstGeom prst="line">
            <a:avLst/>
          </a:prstGeom>
          <a:noFill/>
          <a:ln w="22225">
            <a:solidFill>
              <a:srgbClr val="6B7280"/>
            </a:solidFill>
            <a:prstDash val="solid"/>
            <a:tailEnd type="triangle"/>
          </a:ln>
        </p:spPr>
      </p:sp>
      <p:sp>
        <p:nvSpPr>
          <p:cNvPr id="12" name="Shape 10"/>
          <p:cNvSpPr/>
          <p:nvPr/>
        </p:nvSpPr>
        <p:spPr>
          <a:xfrm>
            <a:off x="4435754" y="1828800"/>
            <a:ext cx="1522933" cy="914400"/>
          </a:xfrm>
          <a:prstGeom prst="roundRect">
            <a:avLst>
              <a:gd name="adj" fmla="val 8000"/>
            </a:avLst>
          </a:prstGeom>
          <a:solidFill>
            <a:srgbClr val="FFFFFF"/>
          </a:solidFill>
          <a:ln w="15875">
            <a:solidFill>
              <a:srgbClr val="3B82F6"/>
            </a:solidFill>
            <a:prstDash val="solid"/>
          </a:ln>
        </p:spPr>
      </p:sp>
      <p:sp>
        <p:nvSpPr>
          <p:cNvPr id="13" name="Text 11"/>
          <p:cNvSpPr/>
          <p:nvPr/>
        </p:nvSpPr>
        <p:spPr>
          <a:xfrm>
            <a:off x="449061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LB · TG 콘솔</a:t>
            </a:r>
            <a:endParaRPr lang="en-US" sz="1100" dirty="0"/>
          </a:p>
        </p:txBody>
      </p:sp>
      <p:sp>
        <p:nvSpPr>
          <p:cNvPr id="14" name="Text 12"/>
          <p:cNvSpPr/>
          <p:nvPr/>
        </p:nvSpPr>
        <p:spPr>
          <a:xfrm>
            <a:off x="449061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타깃 health</a:t>
            </a:r>
            <a:endParaRPr lang="en-US" sz="850" dirty="0"/>
          </a:p>
        </p:txBody>
      </p:sp>
      <p:sp>
        <p:nvSpPr>
          <p:cNvPr id="15" name="Shape 13"/>
          <p:cNvSpPr/>
          <p:nvPr/>
        </p:nvSpPr>
        <p:spPr>
          <a:xfrm>
            <a:off x="6004408" y="2286000"/>
            <a:ext cx="182880" cy="0"/>
          </a:xfrm>
          <a:prstGeom prst="line">
            <a:avLst/>
          </a:prstGeom>
          <a:noFill/>
          <a:ln w="22225">
            <a:solidFill>
              <a:srgbClr val="6B7280"/>
            </a:solidFill>
            <a:prstDash val="solid"/>
            <a:tailEnd type="triangle"/>
          </a:ln>
        </p:spPr>
      </p:sp>
      <p:sp>
        <p:nvSpPr>
          <p:cNvPr id="16" name="Shape 14"/>
          <p:cNvSpPr/>
          <p:nvPr/>
        </p:nvSpPr>
        <p:spPr>
          <a:xfrm>
            <a:off x="6233008" y="1828800"/>
            <a:ext cx="1522933" cy="914400"/>
          </a:xfrm>
          <a:prstGeom prst="roundRect">
            <a:avLst>
              <a:gd name="adj" fmla="val 8000"/>
            </a:avLst>
          </a:prstGeom>
          <a:solidFill>
            <a:srgbClr val="FFFFFF"/>
          </a:solidFill>
          <a:ln w="15875">
            <a:solidFill>
              <a:srgbClr val="3B82F6"/>
            </a:solidFill>
            <a:prstDash val="solid"/>
          </a:ln>
        </p:spPr>
      </p:sp>
      <p:sp>
        <p:nvSpPr>
          <p:cNvPr id="17" name="Text 15"/>
          <p:cNvSpPr/>
          <p:nvPr/>
        </p:nvSpPr>
        <p:spPr>
          <a:xfrm>
            <a:off x="628787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kubectl / K9s</a:t>
            </a:r>
            <a:endParaRPr lang="en-US" sz="1100" dirty="0"/>
          </a:p>
        </p:txBody>
      </p:sp>
      <p:sp>
        <p:nvSpPr>
          <p:cNvPr id="18" name="Text 16"/>
          <p:cNvSpPr/>
          <p:nvPr/>
        </p:nvSpPr>
        <p:spPr>
          <a:xfrm>
            <a:off x="628787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파드 · 이벤트</a:t>
            </a:r>
            <a:endParaRPr lang="en-US" sz="850" dirty="0"/>
          </a:p>
        </p:txBody>
      </p:sp>
      <p:sp>
        <p:nvSpPr>
          <p:cNvPr id="19" name="Shape 17"/>
          <p:cNvSpPr/>
          <p:nvPr/>
        </p:nvSpPr>
        <p:spPr>
          <a:xfrm>
            <a:off x="7801661" y="2286000"/>
            <a:ext cx="182880" cy="0"/>
          </a:xfrm>
          <a:prstGeom prst="line">
            <a:avLst/>
          </a:prstGeom>
          <a:noFill/>
          <a:ln w="22225">
            <a:solidFill>
              <a:srgbClr val="6B7280"/>
            </a:solidFill>
            <a:prstDash val="solid"/>
            <a:tailEnd type="triangle"/>
          </a:ln>
        </p:spPr>
      </p:sp>
      <p:sp>
        <p:nvSpPr>
          <p:cNvPr id="20" name="Shape 18"/>
          <p:cNvSpPr/>
          <p:nvPr/>
        </p:nvSpPr>
        <p:spPr>
          <a:xfrm>
            <a:off x="8030261" y="1828800"/>
            <a:ext cx="1522933" cy="914400"/>
          </a:xfrm>
          <a:prstGeom prst="roundRect">
            <a:avLst>
              <a:gd name="adj" fmla="val 8000"/>
            </a:avLst>
          </a:prstGeom>
          <a:solidFill>
            <a:srgbClr val="FFFFFF"/>
          </a:solidFill>
          <a:ln w="15875">
            <a:solidFill>
              <a:srgbClr val="3B82F6"/>
            </a:solidFill>
            <a:prstDash val="solid"/>
          </a:ln>
        </p:spPr>
      </p:sp>
      <p:sp>
        <p:nvSpPr>
          <p:cNvPr id="21" name="Text 19"/>
          <p:cNvSpPr/>
          <p:nvPr/>
        </p:nvSpPr>
        <p:spPr>
          <a:xfrm>
            <a:off x="808512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Grafana</a:t>
            </a:r>
            <a:endParaRPr lang="en-US" sz="1100" dirty="0"/>
          </a:p>
        </p:txBody>
      </p:sp>
      <p:sp>
        <p:nvSpPr>
          <p:cNvPr id="22" name="Text 20"/>
          <p:cNvSpPr/>
          <p:nvPr/>
        </p:nvSpPr>
        <p:spPr>
          <a:xfrm>
            <a:off x="808512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메트릭 대조</a:t>
            </a:r>
            <a:endParaRPr lang="en-US" sz="850" dirty="0"/>
          </a:p>
        </p:txBody>
      </p:sp>
      <p:sp>
        <p:nvSpPr>
          <p:cNvPr id="23" name="Shape 21"/>
          <p:cNvSpPr/>
          <p:nvPr/>
        </p:nvSpPr>
        <p:spPr>
          <a:xfrm>
            <a:off x="9598914" y="2286000"/>
            <a:ext cx="182880" cy="0"/>
          </a:xfrm>
          <a:prstGeom prst="line">
            <a:avLst/>
          </a:prstGeom>
          <a:noFill/>
          <a:ln w="22225">
            <a:solidFill>
              <a:srgbClr val="6B7280"/>
            </a:solidFill>
            <a:prstDash val="solid"/>
            <a:tailEnd type="triangle"/>
          </a:ln>
        </p:spPr>
      </p:sp>
      <p:sp>
        <p:nvSpPr>
          <p:cNvPr id="24" name="Shape 22"/>
          <p:cNvSpPr/>
          <p:nvPr/>
        </p:nvSpPr>
        <p:spPr>
          <a:xfrm>
            <a:off x="9827514" y="1828800"/>
            <a:ext cx="1522933" cy="914400"/>
          </a:xfrm>
          <a:prstGeom prst="roundRect">
            <a:avLst>
              <a:gd name="adj" fmla="val 8000"/>
            </a:avLst>
          </a:prstGeom>
          <a:solidFill>
            <a:srgbClr val="FFFFFF"/>
          </a:solidFill>
          <a:ln w="15875">
            <a:solidFill>
              <a:srgbClr val="3B82F6"/>
            </a:solidFill>
            <a:prstDash val="solid"/>
          </a:ln>
        </p:spPr>
      </p:sp>
      <p:sp>
        <p:nvSpPr>
          <p:cNvPr id="25" name="Text 23"/>
          <p:cNvSpPr/>
          <p:nvPr/>
        </p:nvSpPr>
        <p:spPr>
          <a:xfrm>
            <a:off x="988237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Cost Explorer</a:t>
            </a:r>
            <a:endParaRPr lang="en-US" sz="1100" dirty="0"/>
          </a:p>
        </p:txBody>
      </p:sp>
      <p:sp>
        <p:nvSpPr>
          <p:cNvPr id="26" name="Text 24"/>
          <p:cNvSpPr/>
          <p:nvPr/>
        </p:nvSpPr>
        <p:spPr>
          <a:xfrm>
            <a:off x="988237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비용 영향</a:t>
            </a:r>
            <a:endParaRPr lang="en-US" sz="850" dirty="0"/>
          </a:p>
        </p:txBody>
      </p:sp>
      <p:sp>
        <p:nvSpPr>
          <p:cNvPr id="27" name="Shape 25"/>
          <p:cNvSpPr/>
          <p:nvPr/>
        </p:nvSpPr>
        <p:spPr>
          <a:xfrm>
            <a:off x="841248" y="3154680"/>
            <a:ext cx="10509199" cy="1600200"/>
          </a:xfrm>
          <a:prstGeom prst="roundRect">
            <a:avLst>
              <a:gd name="adj" fmla="val 5714"/>
            </a:avLst>
          </a:prstGeom>
          <a:solidFill>
            <a:srgbClr val="F4F4F8"/>
          </a:solidFill>
          <a:ln/>
          <a:effectLst>
            <a:outerShdw sx="100000" sy="100000" kx="0" ky="0" algn="bl" rotWithShape="0" blurRad="127000" dist="38100" dir="5400000">
              <a:srgbClr val="9AA0B0">
                <a:alpha val="18000"/>
              </a:srgbClr>
            </a:outerShdw>
          </a:effectLst>
        </p:spPr>
      </p:sp>
      <p:sp>
        <p:nvSpPr>
          <p:cNvPr id="28" name="Text 26"/>
          <p:cNvSpPr/>
          <p:nvPr/>
        </p:nvSpPr>
        <p:spPr>
          <a:xfrm>
            <a:off x="1115568" y="3364992"/>
            <a:ext cx="9960559" cy="1234440"/>
          </a:xfrm>
          <a:prstGeom prst="rect">
            <a:avLst/>
          </a:prstGeom>
          <a:noFill/>
          <a:ln/>
        </p:spPr>
        <p:txBody>
          <a:bodyPr wrap="square" lIns="0" tIns="0" rIns="0" bIns="0" rtlCol="0" anchor="t"/>
          <a:lstStyle/>
          <a:p>
            <a:pPr indent="0" marL="0">
              <a:lnSpc>
                <a:spcPct val="130000"/>
              </a:lnSpc>
              <a:buNone/>
            </a:pPr>
            <a:r>
              <a:rPr lang="en-US" sz="1400" b="1" dirty="0">
                <a:solidFill>
                  <a:srgbClr val="161D26"/>
                </a:solidFill>
                <a:latin typeface="Pretendard" pitchFamily="34" charset="0"/>
                <a:ea typeface="Pretendard" pitchFamily="34" charset="-122"/>
                <a:cs typeface="Pretendard" pitchFamily="34" charset="-120"/>
              </a:rPr>
              <a:t>운영자가 매번 반복하는 질문 — "어디부터 봐야 하지?"
</a:t>
            </a:r>
            <a:endParaRPr lang="en-US" sz="1400" dirty="0"/>
          </a:p>
          <a:p>
            <a:pPr indent="0" marL="0">
              <a:lnSpc>
                <a:spcPct val="130000"/>
              </a:lnSpc>
              <a:buNone/>
            </a:pPr>
            <a:r>
              <a:rPr lang="en-US" sz="1200" dirty="0">
                <a:solidFill>
                  <a:srgbClr val="3F4858"/>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4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6+</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장애 1건에 오가는 콘솔 수 (현장 경험치)</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30분+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원인이 있는 화면에 도달하기까지</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90%</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'어디를 볼까'에 쓰는 대응 시간 비중</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정작 필요했던 것 — 통합 상황판</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도구는 늘었는데, 상황판은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400" dirty="0"/>
          </a:p>
        </p:txBody>
      </p:sp>
      <p:sp>
        <p:nvSpPr>
          <p:cNvPr id="4" name="Shape 2"/>
          <p:cNvSpPr/>
          <p:nvPr/>
        </p:nvSpPr>
        <p:spPr>
          <a:xfrm>
            <a:off x="84124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1472184"/>
          </a:xfrm>
          <a:prstGeom prst="roundRect">
            <a:avLst>
              <a:gd name="adj" fmla="val 42857"/>
            </a:avLst>
          </a:prstGeom>
          <a:solidFill>
            <a:srgbClr val="8B5CF6"/>
          </a:solidFill>
          <a:ln/>
        </p:spPr>
      </p:sp>
      <p:sp>
        <p:nvSpPr>
          <p:cNvPr id="6" name="Text 4"/>
          <p:cNvSpPr/>
          <p:nvPr/>
        </p:nvSpPr>
        <p:spPr>
          <a:xfrm>
            <a:off x="115214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도구 파편화</a:t>
            </a:r>
            <a:endParaRPr lang="en-US" sz="1500" dirty="0"/>
          </a:p>
        </p:txBody>
      </p:sp>
      <p:sp>
        <p:nvSpPr>
          <p:cNvPr id="7" name="Text 5"/>
          <p:cNvSpPr/>
          <p:nvPr/>
        </p:nvSpPr>
        <p:spPr>
          <a:xfrm>
            <a:off x="115214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100" dirty="0"/>
          </a:p>
        </p:txBody>
      </p:sp>
      <p:sp>
        <p:nvSpPr>
          <p:cNvPr id="8" name="Shape 6"/>
          <p:cNvSpPr/>
          <p:nvPr/>
        </p:nvSpPr>
        <p:spPr>
          <a:xfrm>
            <a:off x="623300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1472184"/>
          </a:xfrm>
          <a:prstGeom prst="roundRect">
            <a:avLst>
              <a:gd name="adj" fmla="val 42857"/>
            </a:avLst>
          </a:prstGeom>
          <a:solidFill>
            <a:srgbClr val="E91E63"/>
          </a:solidFill>
          <a:ln/>
        </p:spPr>
      </p:sp>
      <p:sp>
        <p:nvSpPr>
          <p:cNvPr id="10" name="Text 8"/>
          <p:cNvSpPr/>
          <p:nvPr/>
        </p:nvSpPr>
        <p:spPr>
          <a:xfrm>
            <a:off x="654390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장애 원인 파악 지연</a:t>
            </a:r>
            <a:endParaRPr lang="en-US" sz="1500" dirty="0"/>
          </a:p>
        </p:txBody>
      </p:sp>
      <p:sp>
        <p:nvSpPr>
          <p:cNvPr id="11" name="Text 9"/>
          <p:cNvSpPr/>
          <p:nvPr/>
        </p:nvSpPr>
        <p:spPr>
          <a:xfrm>
            <a:off x="654390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100" dirty="0"/>
          </a:p>
        </p:txBody>
      </p:sp>
      <p:sp>
        <p:nvSpPr>
          <p:cNvPr id="12" name="Shape 10"/>
          <p:cNvSpPr/>
          <p:nvPr/>
        </p:nvSpPr>
        <p:spPr>
          <a:xfrm>
            <a:off x="84124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932688" y="3858768"/>
            <a:ext cx="64008" cy="1472184"/>
          </a:xfrm>
          <a:prstGeom prst="roundRect">
            <a:avLst>
              <a:gd name="adj" fmla="val 42857"/>
            </a:avLst>
          </a:prstGeom>
          <a:solidFill>
            <a:srgbClr val="00B341"/>
          </a:solidFill>
          <a:ln/>
        </p:spPr>
      </p:sp>
      <p:sp>
        <p:nvSpPr>
          <p:cNvPr id="14" name="Text 12"/>
          <p:cNvSpPr/>
          <p:nvPr/>
        </p:nvSpPr>
        <p:spPr>
          <a:xfrm>
            <a:off x="115214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비용 급증 원인 불명</a:t>
            </a:r>
            <a:endParaRPr lang="en-US" sz="1500" dirty="0"/>
          </a:p>
        </p:txBody>
      </p:sp>
      <p:sp>
        <p:nvSpPr>
          <p:cNvPr id="15" name="Text 13"/>
          <p:cNvSpPr/>
          <p:nvPr/>
        </p:nvSpPr>
        <p:spPr>
          <a:xfrm>
            <a:off x="115214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100" dirty="0"/>
          </a:p>
        </p:txBody>
      </p:sp>
      <p:sp>
        <p:nvSpPr>
          <p:cNvPr id="16" name="Shape 14"/>
          <p:cNvSpPr/>
          <p:nvPr/>
        </p:nvSpPr>
        <p:spPr>
          <a:xfrm>
            <a:off x="623300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7" name="Shape 15"/>
          <p:cNvSpPr/>
          <p:nvPr/>
        </p:nvSpPr>
        <p:spPr>
          <a:xfrm>
            <a:off x="6324448" y="3858768"/>
            <a:ext cx="64008" cy="1472184"/>
          </a:xfrm>
          <a:prstGeom prst="roundRect">
            <a:avLst>
              <a:gd name="adj" fmla="val 42857"/>
            </a:avLst>
          </a:prstGeom>
          <a:solidFill>
            <a:srgbClr val="3B82F6"/>
          </a:solidFill>
          <a:ln/>
        </p:spPr>
      </p:sp>
      <p:sp>
        <p:nvSpPr>
          <p:cNvPr id="18" name="Text 16"/>
          <p:cNvSpPr/>
          <p:nvPr/>
        </p:nvSpPr>
        <p:spPr>
          <a:xfrm>
            <a:off x="654390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멀티계정 · 대량 워크로드</a:t>
            </a:r>
            <a:endParaRPr lang="en-US" sz="1500" dirty="0"/>
          </a:p>
        </p:txBody>
      </p:sp>
      <p:sp>
        <p:nvSpPr>
          <p:cNvPr id="19" name="Text 17"/>
          <p:cNvSpPr/>
          <p:nvPr/>
        </p:nvSpPr>
        <p:spPr>
          <a:xfrm>
            <a:off x="654390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100" dirty="0"/>
          </a:p>
        </p:txBody>
      </p:sp>
      <p:sp>
        <p:nvSpPr>
          <p:cNvPr id="20" name="Shape 18"/>
          <p:cNvSpPr/>
          <p:nvPr/>
        </p:nvSpPr>
        <p:spPr>
          <a:xfrm>
            <a:off x="841248" y="5687568"/>
            <a:ext cx="10509199" cy="0"/>
          </a:xfrm>
          <a:prstGeom prst="line">
            <a:avLst/>
          </a:prstGeom>
          <a:noFill/>
          <a:ln w="12700">
            <a:solidFill>
              <a:srgbClr val="D2D2D5"/>
            </a:solidFill>
            <a:prstDash val="solid"/>
          </a:ln>
        </p:spPr>
      </p:sp>
      <p:sp>
        <p:nvSpPr>
          <p:cNvPr id="21" name="Text 19"/>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4/4</a:t>
            </a:r>
            <a:endParaRPr lang="en-US" sz="1600" dirty="0"/>
          </a:p>
        </p:txBody>
      </p:sp>
      <p:sp>
        <p:nvSpPr>
          <p:cNvPr id="22" name="Text 20"/>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오늘 화면으로 답할 페인의 수</a:t>
            </a:r>
            <a:endParaRPr lang="en-US" sz="900" dirty="0"/>
          </a:p>
        </p:txBody>
      </p:sp>
      <p:sp>
        <p:nvSpPr>
          <p:cNvPr id="23" name="Text 21"/>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a:t>
            </a:r>
            <a:endParaRPr lang="en-US" sz="1600" dirty="0"/>
          </a:p>
        </p:txBody>
      </p:sp>
      <p:sp>
        <p:nvSpPr>
          <p:cNvPr id="24" name="Text 22"/>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운영팀이 병행하는 관측 도구 (통상)</a:t>
            </a:r>
            <a:endParaRPr lang="en-US" sz="900" dirty="0"/>
          </a:p>
        </p:txBody>
      </p:sp>
      <p:sp>
        <p:nvSpPr>
          <p:cNvPr id="25" name="Text 23"/>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26" name="Text 24"/>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엔터프라이즈 평균 AWS 계정 규모</a:t>
            </a:r>
            <a:endParaRPr lang="en-US" sz="900" dirty="0"/>
          </a:p>
        </p:txBody>
      </p:sp>
      <p:sp>
        <p:nvSpPr>
          <p:cNvPr id="27" name="Text 25"/>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8" name="Text 26"/>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이 넷을 한 화면에 모은 기존 도구</a:t>
            </a:r>
            <a:endParaRPr lang="en-US" sz="900" dirty="0"/>
          </a:p>
        </p:txBody>
      </p:sp>
      <p:sp>
        <p:nvSpPr>
          <p:cNvPr id="29" name="Text 27"/>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0"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1" name="Text 28"/>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02</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AWSops 개요</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읽기 전용 통합 대시보드</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흩어진 계정과 도구를, 한 화면으로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400" dirty="0"/>
          </a:p>
        </p:txBody>
      </p:sp>
      <p:sp>
        <p:nvSpPr>
          <p:cNvPr id="4" name="Shape 2"/>
          <p:cNvSpPr/>
          <p:nvPr/>
        </p:nvSpPr>
        <p:spPr>
          <a:xfrm>
            <a:off x="841248" y="1783080"/>
            <a:ext cx="10509199" cy="868680"/>
          </a:xfrm>
          <a:prstGeom prst="roundRect">
            <a:avLst>
              <a:gd name="adj" fmla="val 10526"/>
            </a:avLst>
          </a:prstGeom>
          <a:solidFill>
            <a:srgbClr val="EAF2FF"/>
          </a:solidFill>
          <a:ln/>
        </p:spPr>
      </p:sp>
      <p:sp>
        <p:nvSpPr>
          <p:cNvPr id="5" name="Text 3"/>
          <p:cNvSpPr/>
          <p:nvPr/>
        </p:nvSpPr>
        <p:spPr>
          <a:xfrm>
            <a:off x="1161288" y="1874520"/>
            <a:ext cx="9869119" cy="685800"/>
          </a:xfrm>
          <a:prstGeom prst="rect">
            <a:avLst/>
          </a:prstGeom>
          <a:noFill/>
          <a:ln/>
        </p:spPr>
        <p:txBody>
          <a:bodyPr wrap="square" lIns="0" tIns="0" rIns="0" bIns="0" rtlCol="0" anchor="ctr"/>
          <a:lstStyle/>
          <a:p>
            <a:pPr indent="0" marL="0">
              <a:lnSpc>
                <a:spcPct val="125000"/>
              </a:lnSpc>
              <a:buNone/>
            </a:pPr>
            <a:r>
              <a:rPr lang="en-US" sz="1350" b="1" i="1" dirty="0">
                <a:solidFill>
                  <a:srgbClr val="161D26"/>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50" dirty="0"/>
          </a:p>
        </p:txBody>
      </p:sp>
      <p:sp>
        <p:nvSpPr>
          <p:cNvPr id="6" name="Shape 4"/>
          <p:cNvSpPr/>
          <p:nvPr/>
        </p:nvSpPr>
        <p:spPr>
          <a:xfrm>
            <a:off x="841248"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7" name="Image 0" descr="gradient pill: 통합">    </p:cNvPr>
          <p:cNvPicPr>
            <a:picLocks noChangeAspect="1"/>
          </p:cNvPicPr>
          <p:nvPr/>
        </p:nvPicPr>
        <p:blipFill>
          <a:blip r:embed="rId1"/>
          <a:stretch>
            <a:fillRect/>
          </a:stretch>
        </p:blipFill>
        <p:spPr>
          <a:xfrm>
            <a:off x="1005840" y="3026664"/>
            <a:ext cx="2960522" cy="475488"/>
          </a:xfrm>
          <a:prstGeom prst="rect">
            <a:avLst/>
          </a:prstGeom>
        </p:spPr>
      </p:pic>
      <p:sp>
        <p:nvSpPr>
          <p:cNvPr id="8" name="Text 5"/>
          <p:cNvSpPr/>
          <p:nvPr/>
        </p:nvSpPr>
        <p:spPr>
          <a:xfrm>
            <a:off x="1005840"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통합</a:t>
            </a:r>
            <a:endParaRPr lang="en-US" sz="1400" dirty="0"/>
          </a:p>
        </p:txBody>
      </p:sp>
      <p:sp>
        <p:nvSpPr>
          <p:cNvPr id="9" name="Text 6"/>
          <p:cNvSpPr/>
          <p:nvPr/>
        </p:nvSpPr>
        <p:spPr>
          <a:xfrm>
            <a:off x="1042416"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INTEGRATION</a:t>
            </a:r>
            <a:endParaRPr lang="en-US" sz="850" dirty="0"/>
          </a:p>
        </p:txBody>
      </p:sp>
      <p:sp>
        <p:nvSpPr>
          <p:cNvPr id="10" name="Text 7"/>
          <p:cNvSpPr/>
          <p:nvPr/>
        </p:nvSpPr>
        <p:spPr>
          <a:xfrm>
            <a:off x="1042416"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1050" dirty="0"/>
          </a:p>
        </p:txBody>
      </p:sp>
      <p:sp>
        <p:nvSpPr>
          <p:cNvPr id="11" name="Shape 8"/>
          <p:cNvSpPr/>
          <p:nvPr/>
        </p:nvSpPr>
        <p:spPr>
          <a:xfrm>
            <a:off x="4450994"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2" name="Image 1" descr="gradient pill: AI 진단">    </p:cNvPr>
          <p:cNvPicPr>
            <a:picLocks noChangeAspect="1"/>
          </p:cNvPicPr>
          <p:nvPr/>
        </p:nvPicPr>
        <p:blipFill>
          <a:blip r:embed="rId2"/>
          <a:stretch>
            <a:fillRect/>
          </a:stretch>
        </p:blipFill>
        <p:spPr>
          <a:xfrm>
            <a:off x="4615586" y="3026664"/>
            <a:ext cx="2960522" cy="475488"/>
          </a:xfrm>
          <a:prstGeom prst="rect">
            <a:avLst/>
          </a:prstGeom>
        </p:spPr>
      </p:pic>
      <p:sp>
        <p:nvSpPr>
          <p:cNvPr id="13" name="Text 9"/>
          <p:cNvSpPr/>
          <p:nvPr/>
        </p:nvSpPr>
        <p:spPr>
          <a:xfrm>
            <a:off x="4615586"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AI 진단</a:t>
            </a:r>
            <a:endParaRPr lang="en-US" sz="1400" dirty="0"/>
          </a:p>
        </p:txBody>
      </p:sp>
      <p:sp>
        <p:nvSpPr>
          <p:cNvPr id="14" name="Text 10"/>
          <p:cNvSpPr/>
          <p:nvPr/>
        </p:nvSpPr>
        <p:spPr>
          <a:xfrm>
            <a:off x="4652162"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DIAGNOSIS</a:t>
            </a:r>
            <a:endParaRPr lang="en-US" sz="850" dirty="0"/>
          </a:p>
        </p:txBody>
      </p:sp>
      <p:sp>
        <p:nvSpPr>
          <p:cNvPr id="15" name="Text 11"/>
          <p:cNvSpPr/>
          <p:nvPr/>
        </p:nvSpPr>
        <p:spPr>
          <a:xfrm>
            <a:off x="4652162"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1050" dirty="0"/>
          </a:p>
        </p:txBody>
      </p:sp>
      <p:sp>
        <p:nvSpPr>
          <p:cNvPr id="16" name="Shape 12"/>
          <p:cNvSpPr/>
          <p:nvPr/>
        </p:nvSpPr>
        <p:spPr>
          <a:xfrm>
            <a:off x="8060741"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7" name="Image 2" descr="gradient pill: 읽기 전용">    </p:cNvPr>
          <p:cNvPicPr>
            <a:picLocks noChangeAspect="1"/>
          </p:cNvPicPr>
          <p:nvPr/>
        </p:nvPicPr>
        <p:blipFill>
          <a:blip r:embed="rId3"/>
          <a:stretch>
            <a:fillRect/>
          </a:stretch>
        </p:blipFill>
        <p:spPr>
          <a:xfrm>
            <a:off x="8225333" y="3026664"/>
            <a:ext cx="2960522" cy="475488"/>
          </a:xfrm>
          <a:prstGeom prst="rect">
            <a:avLst/>
          </a:prstGeom>
        </p:spPr>
      </p:pic>
      <p:sp>
        <p:nvSpPr>
          <p:cNvPr id="18" name="Text 13"/>
          <p:cNvSpPr/>
          <p:nvPr/>
        </p:nvSpPr>
        <p:spPr>
          <a:xfrm>
            <a:off x="8225333"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읽기 전용</a:t>
            </a:r>
            <a:endParaRPr lang="en-US" sz="1400" dirty="0"/>
          </a:p>
        </p:txBody>
      </p:sp>
      <p:sp>
        <p:nvSpPr>
          <p:cNvPr id="19" name="Text 14"/>
          <p:cNvSpPr/>
          <p:nvPr/>
        </p:nvSpPr>
        <p:spPr>
          <a:xfrm>
            <a:off x="8261909"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TRUST</a:t>
            </a:r>
            <a:endParaRPr lang="en-US" sz="850" dirty="0"/>
          </a:p>
        </p:txBody>
      </p:sp>
      <p:sp>
        <p:nvSpPr>
          <p:cNvPr id="20" name="Text 15"/>
          <p:cNvSpPr/>
          <p:nvPr/>
        </p:nvSpPr>
        <p:spPr>
          <a:xfrm>
            <a:off x="8261909"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1050" dirty="0"/>
          </a:p>
        </p:txBody>
      </p:sp>
      <p:sp>
        <p:nvSpPr>
          <p:cNvPr id="21" name="Shape 16"/>
          <p:cNvSpPr/>
          <p:nvPr/>
        </p:nvSpPr>
        <p:spPr>
          <a:xfrm>
            <a:off x="841248" y="5687568"/>
            <a:ext cx="10509199" cy="0"/>
          </a:xfrm>
          <a:prstGeom prst="line">
            <a:avLst/>
          </a:prstGeom>
          <a:noFill/>
          <a:ln w="12700">
            <a:solidFill>
              <a:srgbClr val="D2D2D5"/>
            </a:solidFill>
            <a:prstDash val="solid"/>
          </a:ln>
        </p:spPr>
      </p:sp>
      <p:sp>
        <p:nvSpPr>
          <p:cNvPr id="22"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3"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챗 섹션 키 (정의 기준 — 게이트/플래그 의존)</a:t>
            </a:r>
            <a:endParaRPr lang="en-US" sz="900" dirty="0"/>
          </a:p>
        </p:txBody>
      </p:sp>
      <p:sp>
        <p:nvSpPr>
          <p:cNvPr id="24"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25"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도메인 전문 에이전트 게이트웨이</a:t>
            </a:r>
            <a:endParaRPr lang="en-US" sz="900" dirty="0"/>
          </a:p>
        </p:txBody>
      </p:sp>
      <p:sp>
        <p:nvSpPr>
          <p:cNvPr id="26"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7"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28"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9"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모니터링 대상 계정 조회 원칙</a:t>
            </a:r>
            <a:endParaRPr lang="en-US" sz="900" dirty="0"/>
          </a:p>
        </p:txBody>
      </p:sp>
      <p:sp>
        <p:nvSpPr>
          <p:cNvPr id="30"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3" descr="AWS logo">    </p:cNvPr>
          <p:cNvPicPr>
            <a:picLocks noChangeAspect="1"/>
          </p:cNvPicPr>
          <p:nvPr/>
        </p:nvPicPr>
        <p:blipFill>
          <a:blip r:embed="rId4"/>
          <a:stretch>
            <a:fillRect/>
          </a:stretch>
        </p:blipFill>
        <p:spPr>
          <a:xfrm>
            <a:off x="10561320" y="6364224"/>
            <a:ext cx="396561" cy="237744"/>
          </a:xfrm>
          <a:prstGeom prst="rect">
            <a:avLst/>
          </a:prstGeom>
        </p:spPr>
      </p:pic>
      <p:sp>
        <p:nvSpPr>
          <p:cNvPr id="32"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새벽 3시에 여는 화면만 모았다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개요부터 EKS 드릴다운까지 — 운영 동선 그대로의 메뉴 구성</a:t>
            </a:r>
            <a:endParaRPr lang="en-US" sz="1400" dirty="0"/>
          </a:p>
        </p:txBody>
      </p:sp>
      <p:sp>
        <p:nvSpPr>
          <p:cNvPr id="4" name="Shape 2"/>
          <p:cNvSpPr/>
          <p:nvPr/>
        </p:nvSpPr>
        <p:spPr>
          <a:xfrm>
            <a:off x="841248" y="1828800"/>
            <a:ext cx="2503856" cy="841248"/>
          </a:xfrm>
          <a:prstGeom prst="roundRect">
            <a:avLst>
              <a:gd name="adj" fmla="val 10870"/>
            </a:avLst>
          </a:prstGeom>
          <a:solidFill>
            <a:srgbClr val="F4F4F8"/>
          </a:solidFill>
          <a:ln/>
        </p:spPr>
      </p:sp>
      <p:sp>
        <p:nvSpPr>
          <p:cNvPr id="5" name="Shape 3"/>
          <p:cNvSpPr/>
          <p:nvPr/>
        </p:nvSpPr>
        <p:spPr>
          <a:xfrm>
            <a:off x="914400" y="1938528"/>
            <a:ext cx="64008" cy="621792"/>
          </a:xfrm>
          <a:prstGeom prst="roundRect">
            <a:avLst>
              <a:gd name="adj" fmla="val 42857"/>
            </a:avLst>
          </a:prstGeom>
          <a:solidFill>
            <a:srgbClr val="8B5CF6"/>
          </a:solidFill>
          <a:ln/>
        </p:spPr>
      </p:sp>
      <p:sp>
        <p:nvSpPr>
          <p:cNvPr id="6" name="Text 4"/>
          <p:cNvSpPr/>
          <p:nvPr/>
        </p:nvSpPr>
        <p:spPr>
          <a:xfrm>
            <a:off x="1097280"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개요</a:t>
            </a:r>
            <a:endParaRPr lang="en-US" sz="1150" dirty="0"/>
          </a:p>
        </p:txBody>
      </p:sp>
      <p:sp>
        <p:nvSpPr>
          <p:cNvPr id="7" name="Text 5"/>
          <p:cNvSpPr/>
          <p:nvPr/>
        </p:nvSpPr>
        <p:spPr>
          <a:xfrm>
            <a:off x="1097280"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AI 인사이트 · 보안 히어로 · 비용 KPI</a:t>
            </a:r>
            <a:endParaRPr lang="en-US" sz="850" dirty="0"/>
          </a:p>
        </p:txBody>
      </p:sp>
      <p:sp>
        <p:nvSpPr>
          <p:cNvPr id="8" name="Shape 6"/>
          <p:cNvSpPr/>
          <p:nvPr/>
        </p:nvSpPr>
        <p:spPr>
          <a:xfrm>
            <a:off x="3509696" y="1828800"/>
            <a:ext cx="2503856" cy="841248"/>
          </a:xfrm>
          <a:prstGeom prst="roundRect">
            <a:avLst>
              <a:gd name="adj" fmla="val 10870"/>
            </a:avLst>
          </a:prstGeom>
          <a:solidFill>
            <a:srgbClr val="F4F4F8"/>
          </a:solidFill>
          <a:ln/>
        </p:spPr>
      </p:sp>
      <p:sp>
        <p:nvSpPr>
          <p:cNvPr id="9" name="Shape 7"/>
          <p:cNvSpPr/>
          <p:nvPr/>
        </p:nvSpPr>
        <p:spPr>
          <a:xfrm>
            <a:off x="3582848" y="1938528"/>
            <a:ext cx="64008" cy="621792"/>
          </a:xfrm>
          <a:prstGeom prst="roundRect">
            <a:avLst>
              <a:gd name="adj" fmla="val 42857"/>
            </a:avLst>
          </a:prstGeom>
          <a:solidFill>
            <a:srgbClr val="8B5CF6"/>
          </a:solidFill>
          <a:ln/>
        </p:spPr>
      </p:sp>
      <p:sp>
        <p:nvSpPr>
          <p:cNvPr id="10" name="Text 8"/>
          <p:cNvSpPr/>
          <p:nvPr/>
        </p:nvSpPr>
        <p:spPr>
          <a:xfrm>
            <a:off x="3765728"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AI 진단</a:t>
            </a:r>
            <a:endParaRPr lang="en-US" sz="1150" dirty="0"/>
          </a:p>
        </p:txBody>
      </p:sp>
      <p:sp>
        <p:nvSpPr>
          <p:cNvPr id="11" name="Text 9"/>
          <p:cNvSpPr/>
          <p:nvPr/>
        </p:nvSpPr>
        <p:spPr>
          <a:xfrm>
            <a:off x="3765728"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WA 6기둥 리포트 · 건강 점수</a:t>
            </a:r>
            <a:endParaRPr lang="en-US" sz="850" dirty="0"/>
          </a:p>
        </p:txBody>
      </p:sp>
      <p:sp>
        <p:nvSpPr>
          <p:cNvPr id="12" name="Shape 10"/>
          <p:cNvSpPr/>
          <p:nvPr/>
        </p:nvSpPr>
        <p:spPr>
          <a:xfrm>
            <a:off x="6178144" y="1828800"/>
            <a:ext cx="2503856" cy="841248"/>
          </a:xfrm>
          <a:prstGeom prst="roundRect">
            <a:avLst>
              <a:gd name="adj" fmla="val 10870"/>
            </a:avLst>
          </a:prstGeom>
          <a:solidFill>
            <a:srgbClr val="F4F4F8"/>
          </a:solidFill>
          <a:ln/>
        </p:spPr>
      </p:sp>
      <p:sp>
        <p:nvSpPr>
          <p:cNvPr id="13" name="Shape 11"/>
          <p:cNvSpPr/>
          <p:nvPr/>
        </p:nvSpPr>
        <p:spPr>
          <a:xfrm>
            <a:off x="6251296" y="1938528"/>
            <a:ext cx="64008" cy="621792"/>
          </a:xfrm>
          <a:prstGeom prst="roundRect">
            <a:avLst>
              <a:gd name="adj" fmla="val 42857"/>
            </a:avLst>
          </a:prstGeom>
          <a:solidFill>
            <a:srgbClr val="8B5CF6"/>
          </a:solidFill>
          <a:ln/>
        </p:spPr>
      </p:sp>
      <p:sp>
        <p:nvSpPr>
          <p:cNvPr id="14" name="Text 12"/>
          <p:cNvSpPr/>
          <p:nvPr/>
        </p:nvSpPr>
        <p:spPr>
          <a:xfrm>
            <a:off x="6434176"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어시스턴트</a:t>
            </a:r>
            <a:endParaRPr lang="en-US" sz="1150" dirty="0"/>
          </a:p>
        </p:txBody>
      </p:sp>
      <p:sp>
        <p:nvSpPr>
          <p:cNvPr id="15" name="Text 13"/>
          <p:cNvSpPr/>
          <p:nvPr/>
        </p:nvSpPr>
        <p:spPr>
          <a:xfrm>
            <a:off x="6434176"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16개 섹션 AI 챗 · 슬래시 라우팅</a:t>
            </a:r>
            <a:endParaRPr lang="en-US" sz="850" dirty="0"/>
          </a:p>
        </p:txBody>
      </p:sp>
      <p:sp>
        <p:nvSpPr>
          <p:cNvPr id="16" name="Shape 14"/>
          <p:cNvSpPr/>
          <p:nvPr/>
        </p:nvSpPr>
        <p:spPr>
          <a:xfrm>
            <a:off x="8846591" y="1828800"/>
            <a:ext cx="2503856" cy="841248"/>
          </a:xfrm>
          <a:prstGeom prst="roundRect">
            <a:avLst>
              <a:gd name="adj" fmla="val 10870"/>
            </a:avLst>
          </a:prstGeom>
          <a:solidFill>
            <a:srgbClr val="F4F4F8"/>
          </a:solidFill>
          <a:ln/>
        </p:spPr>
      </p:sp>
      <p:sp>
        <p:nvSpPr>
          <p:cNvPr id="17" name="Shape 15"/>
          <p:cNvSpPr/>
          <p:nvPr/>
        </p:nvSpPr>
        <p:spPr>
          <a:xfrm>
            <a:off x="8919743" y="1938528"/>
            <a:ext cx="64008" cy="621792"/>
          </a:xfrm>
          <a:prstGeom prst="roundRect">
            <a:avLst>
              <a:gd name="adj" fmla="val 42857"/>
            </a:avLst>
          </a:prstGeom>
          <a:solidFill>
            <a:srgbClr val="00B341"/>
          </a:solidFill>
          <a:ln/>
        </p:spPr>
      </p:sp>
      <p:sp>
        <p:nvSpPr>
          <p:cNvPr id="18" name="Text 16"/>
          <p:cNvSpPr/>
          <p:nvPr/>
        </p:nvSpPr>
        <p:spPr>
          <a:xfrm>
            <a:off x="9102623"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비용</a:t>
            </a:r>
            <a:endParaRPr lang="en-US" sz="1150" dirty="0"/>
          </a:p>
        </p:txBody>
      </p:sp>
      <p:sp>
        <p:nvSpPr>
          <p:cNvPr id="19" name="Text 17"/>
          <p:cNvSpPr/>
          <p:nvPr/>
        </p:nvSpPr>
        <p:spPr>
          <a:xfrm>
            <a:off x="9102623"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MoM · 서비스/usage-type 드릴다운</a:t>
            </a:r>
            <a:endParaRPr lang="en-US" sz="850" dirty="0"/>
          </a:p>
        </p:txBody>
      </p:sp>
      <p:sp>
        <p:nvSpPr>
          <p:cNvPr id="20" name="Shape 18"/>
          <p:cNvSpPr/>
          <p:nvPr/>
        </p:nvSpPr>
        <p:spPr>
          <a:xfrm>
            <a:off x="841248" y="2852928"/>
            <a:ext cx="2503856" cy="841248"/>
          </a:xfrm>
          <a:prstGeom prst="roundRect">
            <a:avLst>
              <a:gd name="adj" fmla="val 10870"/>
            </a:avLst>
          </a:prstGeom>
          <a:solidFill>
            <a:srgbClr val="F4F4F8"/>
          </a:solidFill>
          <a:ln/>
        </p:spPr>
      </p:sp>
      <p:sp>
        <p:nvSpPr>
          <p:cNvPr id="21" name="Shape 19"/>
          <p:cNvSpPr/>
          <p:nvPr/>
        </p:nvSpPr>
        <p:spPr>
          <a:xfrm>
            <a:off x="914400" y="2962656"/>
            <a:ext cx="64008" cy="621792"/>
          </a:xfrm>
          <a:prstGeom prst="roundRect">
            <a:avLst>
              <a:gd name="adj" fmla="val 42857"/>
            </a:avLst>
          </a:prstGeom>
          <a:solidFill>
            <a:srgbClr val="3B82F6"/>
          </a:solidFill>
          <a:ln/>
        </p:spPr>
      </p:sp>
      <p:sp>
        <p:nvSpPr>
          <p:cNvPr id="22" name="Text 20"/>
          <p:cNvSpPr/>
          <p:nvPr/>
        </p:nvSpPr>
        <p:spPr>
          <a:xfrm>
            <a:off x="1097280"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토폴로지</a:t>
            </a:r>
            <a:endParaRPr lang="en-US" sz="1150" dirty="0"/>
          </a:p>
        </p:txBody>
      </p:sp>
      <p:sp>
        <p:nvSpPr>
          <p:cNvPr id="23" name="Text 21"/>
          <p:cNvSpPr/>
          <p:nvPr/>
        </p:nvSpPr>
        <p:spPr>
          <a:xfrm>
            <a:off x="1097280"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요청 흐름 · 인프라 배치 · 서비스 맵</a:t>
            </a:r>
            <a:endParaRPr lang="en-US" sz="850" dirty="0"/>
          </a:p>
        </p:txBody>
      </p:sp>
      <p:sp>
        <p:nvSpPr>
          <p:cNvPr id="24" name="Shape 22"/>
          <p:cNvSpPr/>
          <p:nvPr/>
        </p:nvSpPr>
        <p:spPr>
          <a:xfrm>
            <a:off x="3509696" y="2852928"/>
            <a:ext cx="2503856" cy="841248"/>
          </a:xfrm>
          <a:prstGeom prst="roundRect">
            <a:avLst>
              <a:gd name="adj" fmla="val 10870"/>
            </a:avLst>
          </a:prstGeom>
          <a:solidFill>
            <a:srgbClr val="F4F4F8"/>
          </a:solidFill>
          <a:ln/>
        </p:spPr>
      </p:sp>
      <p:sp>
        <p:nvSpPr>
          <p:cNvPr id="25" name="Shape 23"/>
          <p:cNvSpPr/>
          <p:nvPr/>
        </p:nvSpPr>
        <p:spPr>
          <a:xfrm>
            <a:off x="3582848" y="2962656"/>
            <a:ext cx="64008" cy="621792"/>
          </a:xfrm>
          <a:prstGeom prst="roundRect">
            <a:avLst>
              <a:gd name="adj" fmla="val 42857"/>
            </a:avLst>
          </a:prstGeom>
          <a:solidFill>
            <a:srgbClr val="3B82F6"/>
          </a:solidFill>
          <a:ln/>
        </p:spPr>
      </p:sp>
      <p:sp>
        <p:nvSpPr>
          <p:cNvPr id="26" name="Text 24"/>
          <p:cNvSpPr/>
          <p:nvPr/>
        </p:nvSpPr>
        <p:spPr>
          <a:xfrm>
            <a:off x="3765728"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네트워크 플로우</a:t>
            </a:r>
            <a:endParaRPr lang="en-US" sz="1150" dirty="0"/>
          </a:p>
        </p:txBody>
      </p:sp>
      <p:sp>
        <p:nvSpPr>
          <p:cNvPr id="27" name="Text 25"/>
          <p:cNvSpPr/>
          <p:nvPr/>
        </p:nvSpPr>
        <p:spPr>
          <a:xfrm>
            <a:off x="3765728"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NFM top-contributor · E2E 홉 경로</a:t>
            </a:r>
            <a:endParaRPr lang="en-US" sz="850" dirty="0"/>
          </a:p>
        </p:txBody>
      </p:sp>
      <p:sp>
        <p:nvSpPr>
          <p:cNvPr id="28" name="Shape 26"/>
          <p:cNvSpPr/>
          <p:nvPr/>
        </p:nvSpPr>
        <p:spPr>
          <a:xfrm>
            <a:off x="6178144" y="2852928"/>
            <a:ext cx="2503856" cy="841248"/>
          </a:xfrm>
          <a:prstGeom prst="roundRect">
            <a:avLst>
              <a:gd name="adj" fmla="val 10870"/>
            </a:avLst>
          </a:prstGeom>
          <a:solidFill>
            <a:srgbClr val="F4F4F8"/>
          </a:solidFill>
          <a:ln/>
        </p:spPr>
      </p:sp>
      <p:sp>
        <p:nvSpPr>
          <p:cNvPr id="29" name="Shape 27"/>
          <p:cNvSpPr/>
          <p:nvPr/>
        </p:nvSpPr>
        <p:spPr>
          <a:xfrm>
            <a:off x="6251296" y="2962656"/>
            <a:ext cx="64008" cy="621792"/>
          </a:xfrm>
          <a:prstGeom prst="roundRect">
            <a:avLst>
              <a:gd name="adj" fmla="val 42857"/>
            </a:avLst>
          </a:prstGeom>
          <a:solidFill>
            <a:srgbClr val="E91E63"/>
          </a:solidFill>
          <a:ln/>
        </p:spPr>
      </p:sp>
      <p:sp>
        <p:nvSpPr>
          <p:cNvPr id="30" name="Text 28"/>
          <p:cNvSpPr/>
          <p:nvPr/>
        </p:nvSpPr>
        <p:spPr>
          <a:xfrm>
            <a:off x="6434176"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보안</a:t>
            </a:r>
            <a:endParaRPr lang="en-US" sz="1150" dirty="0"/>
          </a:p>
        </p:txBody>
      </p:sp>
      <p:sp>
        <p:nvSpPr>
          <p:cNvPr id="31" name="Text 29"/>
          <p:cNvSpPr/>
          <p:nvPr/>
        </p:nvSpPr>
        <p:spPr>
          <a:xfrm>
            <a:off x="6434176"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Public S3 · Open SG · CVE · MFA</a:t>
            </a:r>
            <a:endParaRPr lang="en-US" sz="850" dirty="0"/>
          </a:p>
        </p:txBody>
      </p:sp>
      <p:sp>
        <p:nvSpPr>
          <p:cNvPr id="32" name="Shape 30"/>
          <p:cNvSpPr/>
          <p:nvPr/>
        </p:nvSpPr>
        <p:spPr>
          <a:xfrm>
            <a:off x="8846591" y="2852928"/>
            <a:ext cx="2503856" cy="841248"/>
          </a:xfrm>
          <a:prstGeom prst="roundRect">
            <a:avLst>
              <a:gd name="adj" fmla="val 10870"/>
            </a:avLst>
          </a:prstGeom>
          <a:solidFill>
            <a:srgbClr val="F4F4F8"/>
          </a:solidFill>
          <a:ln/>
        </p:spPr>
      </p:sp>
      <p:sp>
        <p:nvSpPr>
          <p:cNvPr id="33" name="Shape 31"/>
          <p:cNvSpPr/>
          <p:nvPr/>
        </p:nvSpPr>
        <p:spPr>
          <a:xfrm>
            <a:off x="8919743" y="2962656"/>
            <a:ext cx="64008" cy="621792"/>
          </a:xfrm>
          <a:prstGeom prst="roundRect">
            <a:avLst>
              <a:gd name="adj" fmla="val 42857"/>
            </a:avLst>
          </a:prstGeom>
          <a:solidFill>
            <a:srgbClr val="E91E63"/>
          </a:solidFill>
          <a:ln/>
        </p:spPr>
      </p:sp>
      <p:sp>
        <p:nvSpPr>
          <p:cNvPr id="34" name="Text 32"/>
          <p:cNvSpPr/>
          <p:nvPr/>
        </p:nvSpPr>
        <p:spPr>
          <a:xfrm>
            <a:off x="9102623"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컴플라이언스</a:t>
            </a:r>
            <a:endParaRPr lang="en-US" sz="1150" dirty="0"/>
          </a:p>
        </p:txBody>
      </p:sp>
      <p:sp>
        <p:nvSpPr>
          <p:cNvPr id="35" name="Text 33"/>
          <p:cNvSpPr/>
          <p:nvPr/>
        </p:nvSpPr>
        <p:spPr>
          <a:xfrm>
            <a:off x="9102623"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CIS 벤치마크 실행 · 이력 관리</a:t>
            </a:r>
            <a:endParaRPr lang="en-US" sz="850" dirty="0"/>
          </a:p>
        </p:txBody>
      </p:sp>
      <p:sp>
        <p:nvSpPr>
          <p:cNvPr id="36" name="Shape 34"/>
          <p:cNvSpPr/>
          <p:nvPr/>
        </p:nvSpPr>
        <p:spPr>
          <a:xfrm>
            <a:off x="841248" y="3877056"/>
            <a:ext cx="2503856" cy="841248"/>
          </a:xfrm>
          <a:prstGeom prst="roundRect">
            <a:avLst>
              <a:gd name="adj" fmla="val 10870"/>
            </a:avLst>
          </a:prstGeom>
          <a:solidFill>
            <a:srgbClr val="F4F4F8"/>
          </a:solidFill>
          <a:ln/>
        </p:spPr>
      </p:sp>
      <p:sp>
        <p:nvSpPr>
          <p:cNvPr id="37" name="Shape 35"/>
          <p:cNvSpPr/>
          <p:nvPr/>
        </p:nvSpPr>
        <p:spPr>
          <a:xfrm>
            <a:off x="914400" y="3986784"/>
            <a:ext cx="64008" cy="621792"/>
          </a:xfrm>
          <a:prstGeom prst="roundRect">
            <a:avLst>
              <a:gd name="adj" fmla="val 42857"/>
            </a:avLst>
          </a:prstGeom>
          <a:solidFill>
            <a:srgbClr val="00B341"/>
          </a:solidFill>
          <a:ln/>
        </p:spPr>
      </p:sp>
      <p:sp>
        <p:nvSpPr>
          <p:cNvPr id="38" name="Text 36"/>
          <p:cNvSpPr/>
          <p:nvPr/>
        </p:nvSpPr>
        <p:spPr>
          <a:xfrm>
            <a:off x="1097280"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EKS</a:t>
            </a:r>
            <a:endParaRPr lang="en-US" sz="1150" dirty="0"/>
          </a:p>
        </p:txBody>
      </p:sp>
      <p:sp>
        <p:nvSpPr>
          <p:cNvPr id="39" name="Text 37"/>
          <p:cNvSpPr/>
          <p:nvPr/>
        </p:nvSpPr>
        <p:spPr>
          <a:xfrm>
            <a:off x="1097280"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클러스터 7탭 드릴다운 · OpenCost</a:t>
            </a:r>
            <a:endParaRPr lang="en-US" sz="850" dirty="0"/>
          </a:p>
        </p:txBody>
      </p:sp>
      <p:sp>
        <p:nvSpPr>
          <p:cNvPr id="40" name="Shape 38"/>
          <p:cNvSpPr/>
          <p:nvPr/>
        </p:nvSpPr>
        <p:spPr>
          <a:xfrm>
            <a:off x="3509696" y="3877056"/>
            <a:ext cx="2503856" cy="841248"/>
          </a:xfrm>
          <a:prstGeom prst="roundRect">
            <a:avLst>
              <a:gd name="adj" fmla="val 10870"/>
            </a:avLst>
          </a:prstGeom>
          <a:solidFill>
            <a:srgbClr val="F4F4F8"/>
          </a:solidFill>
          <a:ln/>
        </p:spPr>
      </p:sp>
      <p:sp>
        <p:nvSpPr>
          <p:cNvPr id="41" name="Shape 39"/>
          <p:cNvSpPr/>
          <p:nvPr/>
        </p:nvSpPr>
        <p:spPr>
          <a:xfrm>
            <a:off x="3582848" y="3986784"/>
            <a:ext cx="64008" cy="621792"/>
          </a:xfrm>
          <a:prstGeom prst="roundRect">
            <a:avLst>
              <a:gd name="adj" fmla="val 42857"/>
            </a:avLst>
          </a:prstGeom>
          <a:solidFill>
            <a:srgbClr val="3B82F6"/>
          </a:solidFill>
          <a:ln/>
        </p:spPr>
      </p:sp>
      <p:sp>
        <p:nvSpPr>
          <p:cNvPr id="42" name="Text 40"/>
          <p:cNvSpPr/>
          <p:nvPr/>
        </p:nvSpPr>
        <p:spPr>
          <a:xfrm>
            <a:off x="3765728"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통합 모니터링</a:t>
            </a:r>
            <a:endParaRPr lang="en-US" sz="1150" dirty="0"/>
          </a:p>
        </p:txBody>
      </p:sp>
      <p:sp>
        <p:nvSpPr>
          <p:cNvPr id="43" name="Text 41"/>
          <p:cNvSpPr/>
          <p:nvPr/>
        </p:nvSpPr>
        <p:spPr>
          <a:xfrm>
            <a:off x="3765728"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EC2/RDS 플릿 라이브 메트릭</a:t>
            </a:r>
            <a:endParaRPr lang="en-US" sz="850" dirty="0"/>
          </a:p>
        </p:txBody>
      </p:sp>
      <p:sp>
        <p:nvSpPr>
          <p:cNvPr id="44" name="Shape 42"/>
          <p:cNvSpPr/>
          <p:nvPr/>
        </p:nvSpPr>
        <p:spPr>
          <a:xfrm>
            <a:off x="6178144" y="3877056"/>
            <a:ext cx="2503856" cy="841248"/>
          </a:xfrm>
          <a:prstGeom prst="roundRect">
            <a:avLst>
              <a:gd name="adj" fmla="val 10870"/>
            </a:avLst>
          </a:prstGeom>
          <a:solidFill>
            <a:srgbClr val="F4F4F8"/>
          </a:solidFill>
          <a:ln/>
        </p:spPr>
      </p:sp>
      <p:sp>
        <p:nvSpPr>
          <p:cNvPr id="45" name="Shape 43"/>
          <p:cNvSpPr/>
          <p:nvPr/>
        </p:nvSpPr>
        <p:spPr>
          <a:xfrm>
            <a:off x="6251296" y="3986784"/>
            <a:ext cx="64008" cy="621792"/>
          </a:xfrm>
          <a:prstGeom prst="roundRect">
            <a:avLst>
              <a:gd name="adj" fmla="val 42857"/>
            </a:avLst>
          </a:prstGeom>
          <a:solidFill>
            <a:srgbClr val="41B3FF"/>
          </a:solidFill>
          <a:ln/>
        </p:spPr>
      </p:sp>
      <p:sp>
        <p:nvSpPr>
          <p:cNvPr id="46" name="Text 44"/>
          <p:cNvSpPr/>
          <p:nvPr/>
        </p:nvSpPr>
        <p:spPr>
          <a:xfrm>
            <a:off x="6434176"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연동</a:t>
            </a:r>
            <a:endParaRPr lang="en-US" sz="1150" dirty="0"/>
          </a:p>
        </p:txBody>
      </p:sp>
      <p:sp>
        <p:nvSpPr>
          <p:cNvPr id="47" name="Text 45"/>
          <p:cNvSpPr/>
          <p:nvPr/>
        </p:nvSpPr>
        <p:spPr>
          <a:xfrm>
            <a:off x="6434176"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데이터소스 8종 · 커넥터 · 스킬</a:t>
            </a:r>
            <a:endParaRPr lang="en-US" sz="850" dirty="0"/>
          </a:p>
        </p:txBody>
      </p:sp>
      <p:sp>
        <p:nvSpPr>
          <p:cNvPr id="48" name="Shape 46"/>
          <p:cNvSpPr/>
          <p:nvPr/>
        </p:nvSpPr>
        <p:spPr>
          <a:xfrm>
            <a:off x="8846591" y="3877056"/>
            <a:ext cx="2503856" cy="841248"/>
          </a:xfrm>
          <a:prstGeom prst="roundRect">
            <a:avLst>
              <a:gd name="adj" fmla="val 10870"/>
            </a:avLst>
          </a:prstGeom>
          <a:solidFill>
            <a:srgbClr val="F4F4F8"/>
          </a:solidFill>
          <a:ln/>
        </p:spPr>
      </p:sp>
      <p:sp>
        <p:nvSpPr>
          <p:cNvPr id="49" name="Shape 47"/>
          <p:cNvSpPr/>
          <p:nvPr/>
        </p:nvSpPr>
        <p:spPr>
          <a:xfrm>
            <a:off x="8919743" y="3986784"/>
            <a:ext cx="64008" cy="621792"/>
          </a:xfrm>
          <a:prstGeom prst="roundRect">
            <a:avLst>
              <a:gd name="adj" fmla="val 42857"/>
            </a:avLst>
          </a:prstGeom>
          <a:solidFill>
            <a:srgbClr val="41B3FF"/>
          </a:solidFill>
          <a:ln/>
        </p:spPr>
      </p:sp>
      <p:sp>
        <p:nvSpPr>
          <p:cNvPr id="50" name="Text 48"/>
          <p:cNvSpPr/>
          <p:nvPr/>
        </p:nvSpPr>
        <p:spPr>
          <a:xfrm>
            <a:off x="9102623"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계정 관리</a:t>
            </a:r>
            <a:endParaRPr lang="en-US" sz="1150" dirty="0"/>
          </a:p>
        </p:txBody>
      </p:sp>
      <p:sp>
        <p:nvSpPr>
          <p:cNvPr id="51" name="Text 49"/>
          <p:cNvSpPr/>
          <p:nvPr/>
        </p:nvSpPr>
        <p:spPr>
          <a:xfrm>
            <a:off x="9102623"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크로스계정 등록 + 즉시 검증</a:t>
            </a:r>
            <a:endParaRPr lang="en-US" sz="850" dirty="0"/>
          </a:p>
        </p:txBody>
      </p:sp>
      <p:sp>
        <p:nvSpPr>
          <p:cNvPr id="52" name="Shape 50"/>
          <p:cNvSpPr/>
          <p:nvPr/>
        </p:nvSpPr>
        <p:spPr>
          <a:xfrm>
            <a:off x="841248" y="5687568"/>
            <a:ext cx="10509199" cy="0"/>
          </a:xfrm>
          <a:prstGeom prst="line">
            <a:avLst/>
          </a:prstGeom>
          <a:noFill/>
          <a:ln w="12700">
            <a:solidFill>
              <a:srgbClr val="D2D2D5"/>
            </a:solidFill>
            <a:prstDash val="solid"/>
          </a:ln>
        </p:spPr>
      </p:sp>
      <p:sp>
        <p:nvSpPr>
          <p:cNvPr id="53" name="Text 5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a:t>
            </a:r>
            <a:endParaRPr lang="en-US" sz="1600" dirty="0"/>
          </a:p>
        </p:txBody>
      </p:sp>
      <p:sp>
        <p:nvSpPr>
          <p:cNvPr id="54" name="Text 5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상단 고정 메뉴 수</a:t>
            </a:r>
            <a:endParaRPr lang="en-US" sz="900" dirty="0"/>
          </a:p>
        </p:txBody>
      </p:sp>
      <p:sp>
        <p:nvSpPr>
          <p:cNvPr id="55" name="Text 5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5종</a:t>
            </a:r>
            <a:endParaRPr lang="en-US" sz="1600" dirty="0"/>
          </a:p>
        </p:txBody>
      </p:sp>
      <p:sp>
        <p:nvSpPr>
          <p:cNvPr id="56" name="Text 5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네트워크 분석 메뉴 (NFM · DNS · IP …)</a:t>
            </a:r>
            <a:endParaRPr lang="en-US" sz="900" dirty="0"/>
          </a:p>
        </p:txBody>
      </p:sp>
      <p:sp>
        <p:nvSpPr>
          <p:cNvPr id="57" name="Text 5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7탭</a:t>
            </a:r>
            <a:endParaRPr lang="en-US" sz="1600" dirty="0"/>
          </a:p>
        </p:txBody>
      </p:sp>
      <p:sp>
        <p:nvSpPr>
          <p:cNvPr id="58" name="Text 5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EKS 클러스터 드릴다운 탭</a:t>
            </a:r>
            <a:endParaRPr lang="en-US" sz="900" dirty="0"/>
          </a:p>
        </p:txBody>
      </p:sp>
      <p:sp>
        <p:nvSpPr>
          <p:cNvPr id="59" name="Text 5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Cmd-K</a:t>
            </a:r>
            <a:endParaRPr lang="en-US" sz="1600" dirty="0"/>
          </a:p>
        </p:txBody>
      </p:sp>
      <p:sp>
        <p:nvSpPr>
          <p:cNvPr id="60" name="Text 5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페이지·리소스 유형 즉시 이동 팔레트</a:t>
            </a:r>
            <a:endParaRPr lang="en-US" sz="900" dirty="0"/>
          </a:p>
        </p:txBody>
      </p:sp>
      <p:sp>
        <p:nvSpPr>
          <p:cNvPr id="61" name="Text 5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63" name="Text 6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03</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Architecture Deep Dive</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프라이빗 엣지 · AgentCore · 비동기 워커</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한 장으로 보는 AWSops</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프라이빗 엣지 → thin-BFF → Aurora, 그리고 AI 레이어·워커의 분리 구조</a:t>
            </a:r>
            <a:endParaRPr lang="en-US" sz="1400" dirty="0"/>
          </a:p>
        </p:txBody>
      </p:sp>
      <p:sp>
        <p:nvSpPr>
          <p:cNvPr id="4" name="Shape 2"/>
          <p:cNvSpPr/>
          <p:nvPr/>
        </p:nvSpPr>
        <p:spPr>
          <a:xfrm>
            <a:off x="841248" y="1783080"/>
            <a:ext cx="5897880" cy="3703320"/>
          </a:xfrm>
          <a:prstGeom prst="roundRect">
            <a:avLst>
              <a:gd name="adj" fmla="val 2469"/>
            </a:avLst>
          </a:prstGeom>
          <a:solidFill>
            <a:srgbClr val="F7F7FB"/>
          </a:solidFill>
          <a:ln w="12700">
            <a:solidFill>
              <a:srgbClr val="D2D2D5"/>
            </a:solidFill>
            <a:prstDash val="solid"/>
          </a:ln>
        </p:spPr>
      </p:sp>
      <p:sp>
        <p:nvSpPr>
          <p:cNvPr id="5" name="Shape 3"/>
          <p:cNvSpPr/>
          <p:nvPr/>
        </p:nvSpPr>
        <p:spPr>
          <a:xfrm>
            <a:off x="978408" y="1993392"/>
            <a:ext cx="993038" cy="566928"/>
          </a:xfrm>
          <a:prstGeom prst="roundRect">
            <a:avLst>
              <a:gd name="adj" fmla="val 9677"/>
            </a:avLst>
          </a:prstGeom>
          <a:solidFill>
            <a:srgbClr val="FFFFFF"/>
          </a:solidFill>
          <a:ln w="15875">
            <a:solidFill>
              <a:srgbClr val="6B7280"/>
            </a:solidFill>
            <a:prstDash val="solid"/>
          </a:ln>
        </p:spPr>
      </p:sp>
      <p:sp>
        <p:nvSpPr>
          <p:cNvPr id="6" name="Text 4"/>
          <p:cNvSpPr/>
          <p:nvPr/>
        </p:nvSpPr>
        <p:spPr>
          <a:xfrm>
            <a:off x="97840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운영자</a:t>
            </a:r>
            <a:endParaRPr lang="en-US" sz="850" dirty="0"/>
          </a:p>
        </p:txBody>
      </p:sp>
      <p:sp>
        <p:nvSpPr>
          <p:cNvPr id="7" name="Shape 5"/>
          <p:cNvSpPr/>
          <p:nvPr/>
        </p:nvSpPr>
        <p:spPr>
          <a:xfrm>
            <a:off x="1989734" y="2276856"/>
            <a:ext cx="128016" cy="0"/>
          </a:xfrm>
          <a:prstGeom prst="line">
            <a:avLst/>
          </a:prstGeom>
          <a:noFill/>
          <a:ln w="22225">
            <a:solidFill>
              <a:srgbClr val="6B7280"/>
            </a:solidFill>
            <a:prstDash val="solid"/>
            <a:tailEnd type="triangle"/>
          </a:ln>
        </p:spPr>
      </p:sp>
      <p:sp>
        <p:nvSpPr>
          <p:cNvPr id="8" name="Shape 6"/>
          <p:cNvSpPr/>
          <p:nvPr/>
        </p:nvSpPr>
        <p:spPr>
          <a:xfrm>
            <a:off x="2136038" y="1993392"/>
            <a:ext cx="993038" cy="566928"/>
          </a:xfrm>
          <a:prstGeom prst="roundRect">
            <a:avLst>
              <a:gd name="adj" fmla="val 9677"/>
            </a:avLst>
          </a:prstGeom>
          <a:solidFill>
            <a:srgbClr val="FFFFFF"/>
          </a:solidFill>
          <a:ln w="15875">
            <a:solidFill>
              <a:srgbClr val="8B5CF6"/>
            </a:solidFill>
            <a:prstDash val="solid"/>
          </a:ln>
        </p:spPr>
      </p:sp>
      <p:sp>
        <p:nvSpPr>
          <p:cNvPr id="9" name="Text 7"/>
          <p:cNvSpPr/>
          <p:nvPr/>
        </p:nvSpPr>
        <p:spPr>
          <a:xfrm>
            <a:off x="213603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CloudFront</a:t>
            </a:r>
            <a:endParaRPr lang="en-US" sz="850" dirty="0"/>
          </a:p>
          <a:p>
            <a:pPr algn="ctr" indent="0" marL="0">
              <a:buNone/>
            </a:pPr>
            <a:r>
              <a:rPr lang="en-US" sz="850" b="1" dirty="0">
                <a:solidFill>
                  <a:srgbClr val="161D26"/>
                </a:solidFill>
                <a:latin typeface="Pretendard" pitchFamily="34" charset="0"/>
                <a:ea typeface="Pretendard" pitchFamily="34" charset="-122"/>
                <a:cs typeface="Pretendard" pitchFamily="34" charset="-120"/>
              </a:rPr>
              <a:t>엣지 인증</a:t>
            </a:r>
            <a:endParaRPr lang="en-US" sz="850" dirty="0"/>
          </a:p>
        </p:txBody>
      </p:sp>
      <p:sp>
        <p:nvSpPr>
          <p:cNvPr id="10" name="Shape 8"/>
          <p:cNvSpPr/>
          <p:nvPr/>
        </p:nvSpPr>
        <p:spPr>
          <a:xfrm>
            <a:off x="3147365" y="2276856"/>
            <a:ext cx="128016" cy="0"/>
          </a:xfrm>
          <a:prstGeom prst="line">
            <a:avLst/>
          </a:prstGeom>
          <a:noFill/>
          <a:ln w="22225">
            <a:solidFill>
              <a:srgbClr val="6B7280"/>
            </a:solidFill>
            <a:prstDash val="solid"/>
            <a:tailEnd type="triangle"/>
          </a:ln>
        </p:spPr>
      </p:sp>
      <p:sp>
        <p:nvSpPr>
          <p:cNvPr id="11" name="Shape 9"/>
          <p:cNvSpPr/>
          <p:nvPr/>
        </p:nvSpPr>
        <p:spPr>
          <a:xfrm>
            <a:off x="3293669" y="1993392"/>
            <a:ext cx="993038" cy="566928"/>
          </a:xfrm>
          <a:prstGeom prst="roundRect">
            <a:avLst>
              <a:gd name="adj" fmla="val 9677"/>
            </a:avLst>
          </a:prstGeom>
          <a:solidFill>
            <a:srgbClr val="FFFFFF"/>
          </a:solidFill>
          <a:ln w="15875">
            <a:solidFill>
              <a:srgbClr val="3B82F6"/>
            </a:solidFill>
            <a:prstDash val="solid"/>
          </a:ln>
        </p:spPr>
      </p:sp>
      <p:sp>
        <p:nvSpPr>
          <p:cNvPr id="12" name="Text 10"/>
          <p:cNvSpPr/>
          <p:nvPr/>
        </p:nvSpPr>
        <p:spPr>
          <a:xfrm>
            <a:off x="329366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내부 ALB</a:t>
            </a:r>
            <a:endParaRPr lang="en-US" sz="850" dirty="0"/>
          </a:p>
        </p:txBody>
      </p:sp>
      <p:sp>
        <p:nvSpPr>
          <p:cNvPr id="13" name="Shape 11"/>
          <p:cNvSpPr/>
          <p:nvPr/>
        </p:nvSpPr>
        <p:spPr>
          <a:xfrm>
            <a:off x="4304995" y="2276856"/>
            <a:ext cx="128016" cy="0"/>
          </a:xfrm>
          <a:prstGeom prst="line">
            <a:avLst/>
          </a:prstGeom>
          <a:noFill/>
          <a:ln w="22225">
            <a:solidFill>
              <a:srgbClr val="6B7280"/>
            </a:solidFill>
            <a:prstDash val="solid"/>
            <a:tailEnd type="triangle"/>
          </a:ln>
        </p:spPr>
      </p:sp>
      <p:sp>
        <p:nvSpPr>
          <p:cNvPr id="14" name="Shape 12"/>
          <p:cNvSpPr/>
          <p:nvPr/>
        </p:nvSpPr>
        <p:spPr>
          <a:xfrm>
            <a:off x="4451299" y="1993392"/>
            <a:ext cx="993038" cy="566928"/>
          </a:xfrm>
          <a:prstGeom prst="roundRect">
            <a:avLst>
              <a:gd name="adj" fmla="val 9677"/>
            </a:avLst>
          </a:prstGeom>
          <a:solidFill>
            <a:srgbClr val="FFFFFF"/>
          </a:solidFill>
          <a:ln w="15875">
            <a:solidFill>
              <a:srgbClr val="00B341"/>
            </a:solidFill>
            <a:prstDash val="solid"/>
          </a:ln>
        </p:spPr>
      </p:sp>
      <p:sp>
        <p:nvSpPr>
          <p:cNvPr id="15" name="Text 13"/>
          <p:cNvSpPr/>
          <p:nvPr/>
        </p:nvSpPr>
        <p:spPr>
          <a:xfrm>
            <a:off x="445129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Fargate 웹</a:t>
            </a:r>
            <a:endParaRPr lang="en-US" sz="850" dirty="0"/>
          </a:p>
        </p:txBody>
      </p:sp>
      <p:sp>
        <p:nvSpPr>
          <p:cNvPr id="16" name="Shape 14"/>
          <p:cNvSpPr/>
          <p:nvPr/>
        </p:nvSpPr>
        <p:spPr>
          <a:xfrm>
            <a:off x="5462626" y="2276856"/>
            <a:ext cx="128016" cy="0"/>
          </a:xfrm>
          <a:prstGeom prst="line">
            <a:avLst/>
          </a:prstGeom>
          <a:noFill/>
          <a:ln w="22225">
            <a:solidFill>
              <a:srgbClr val="6B7280"/>
            </a:solidFill>
            <a:prstDash val="solid"/>
            <a:tailEnd type="triangle"/>
          </a:ln>
        </p:spPr>
      </p:sp>
      <p:sp>
        <p:nvSpPr>
          <p:cNvPr id="17" name="Shape 15"/>
          <p:cNvSpPr/>
          <p:nvPr/>
        </p:nvSpPr>
        <p:spPr>
          <a:xfrm>
            <a:off x="5608930" y="1993392"/>
            <a:ext cx="993038" cy="566928"/>
          </a:xfrm>
          <a:prstGeom prst="roundRect">
            <a:avLst>
              <a:gd name="adj" fmla="val 9677"/>
            </a:avLst>
          </a:prstGeom>
          <a:solidFill>
            <a:srgbClr val="FFFFFF"/>
          </a:solidFill>
          <a:ln w="15875">
            <a:solidFill>
              <a:srgbClr val="00B341"/>
            </a:solidFill>
            <a:prstDash val="solid"/>
          </a:ln>
        </p:spPr>
      </p:sp>
      <p:sp>
        <p:nvSpPr>
          <p:cNvPr id="18" name="Text 16"/>
          <p:cNvSpPr/>
          <p:nvPr/>
        </p:nvSpPr>
        <p:spPr>
          <a:xfrm>
            <a:off x="5608930"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Aurora</a:t>
            </a:r>
            <a:endParaRPr lang="en-US" sz="850" dirty="0"/>
          </a:p>
        </p:txBody>
      </p:sp>
      <p:sp>
        <p:nvSpPr>
          <p:cNvPr id="19" name="Text 17"/>
          <p:cNvSpPr/>
          <p:nvPr/>
        </p:nvSpPr>
        <p:spPr>
          <a:xfrm>
            <a:off x="978408" y="2633472"/>
            <a:ext cx="5577840" cy="219456"/>
          </a:xfrm>
          <a:prstGeom prst="rect">
            <a:avLst/>
          </a:prstGeom>
          <a:noFill/>
          <a:ln/>
        </p:spPr>
        <p:txBody>
          <a:bodyPr wrap="square" lIns="0" tIns="0" rIns="0" bIns="0" rtlCol="0" anchor="ctr"/>
          <a:lstStyle/>
          <a:p>
            <a:pPr indent="0" marL="0">
              <a:buNone/>
            </a:pPr>
            <a:r>
              <a:rPr lang="en-US" sz="850" dirty="0">
                <a:solidFill>
                  <a:srgbClr val="6B7280"/>
                </a:solidFill>
                <a:latin typeface="Pretendard" pitchFamily="34" charset="0"/>
                <a:ea typeface="Pretendard" pitchFamily="34" charset="-122"/>
                <a:cs typeface="Pretendard" pitchFamily="34" charset="-120"/>
              </a:rPr>
              <a:t>프라이빗 엣지 — 퍼블릭 ALB 없음 (VPC Origin 전용)</a:t>
            </a:r>
            <a:endParaRPr lang="en-US" sz="850" dirty="0"/>
          </a:p>
        </p:txBody>
      </p:sp>
      <p:sp>
        <p:nvSpPr>
          <p:cNvPr id="20" name="Shape 18"/>
          <p:cNvSpPr/>
          <p:nvPr/>
        </p:nvSpPr>
        <p:spPr>
          <a:xfrm>
            <a:off x="1854708" y="2953512"/>
            <a:ext cx="0" cy="256032"/>
          </a:xfrm>
          <a:prstGeom prst="line">
            <a:avLst/>
          </a:prstGeom>
          <a:noFill/>
          <a:ln w="19050">
            <a:solidFill>
              <a:srgbClr val="6B7280"/>
            </a:solidFill>
            <a:prstDash val="solid"/>
            <a:tailEnd type="triangle"/>
          </a:ln>
        </p:spPr>
      </p:sp>
      <p:sp>
        <p:nvSpPr>
          <p:cNvPr id="21" name="Shape 19"/>
          <p:cNvSpPr/>
          <p:nvPr/>
        </p:nvSpPr>
        <p:spPr>
          <a:xfrm>
            <a:off x="978408" y="3246120"/>
            <a:ext cx="1752600" cy="1298448"/>
          </a:xfrm>
          <a:prstGeom prst="roundRect">
            <a:avLst>
              <a:gd name="adj" fmla="val 4225"/>
            </a:avLst>
          </a:prstGeom>
          <a:solidFill>
            <a:srgbClr val="FFFFFF"/>
          </a:solidFill>
          <a:ln w="15875">
            <a:solidFill>
              <a:srgbClr val="8B5CF6"/>
            </a:solidFill>
            <a:prstDash val="solid"/>
          </a:ln>
        </p:spPr>
      </p:sp>
      <p:sp>
        <p:nvSpPr>
          <p:cNvPr id="22" name="Text 20"/>
          <p:cNvSpPr/>
          <p:nvPr/>
        </p:nvSpPr>
        <p:spPr>
          <a:xfrm>
            <a:off x="105156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AI — AgentCore</a:t>
            </a:r>
            <a:endParaRPr lang="en-US" sz="950" dirty="0"/>
          </a:p>
        </p:txBody>
      </p:sp>
      <p:sp>
        <p:nvSpPr>
          <p:cNvPr id="23" name="Text 21"/>
          <p:cNvSpPr/>
          <p:nvPr/>
        </p:nvSpPr>
        <p:spPr>
          <a:xfrm>
            <a:off x="105156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게이트웨이 9종 + Bedrock</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멀티계정 Read-Only 조회</a:t>
            </a:r>
            <a:endParaRPr lang="en-US" sz="850" dirty="0"/>
          </a:p>
        </p:txBody>
      </p:sp>
      <p:sp>
        <p:nvSpPr>
          <p:cNvPr id="24" name="Shape 22"/>
          <p:cNvSpPr/>
          <p:nvPr/>
        </p:nvSpPr>
        <p:spPr>
          <a:xfrm>
            <a:off x="3790188" y="2953512"/>
            <a:ext cx="0" cy="256032"/>
          </a:xfrm>
          <a:prstGeom prst="line">
            <a:avLst/>
          </a:prstGeom>
          <a:noFill/>
          <a:ln w="19050">
            <a:solidFill>
              <a:srgbClr val="6B7280"/>
            </a:solidFill>
            <a:prstDash val="solid"/>
            <a:tailEnd type="triangle"/>
          </a:ln>
        </p:spPr>
      </p:sp>
      <p:sp>
        <p:nvSpPr>
          <p:cNvPr id="25" name="Shape 23"/>
          <p:cNvSpPr/>
          <p:nvPr/>
        </p:nvSpPr>
        <p:spPr>
          <a:xfrm>
            <a:off x="2913888" y="3246120"/>
            <a:ext cx="1752600" cy="1298448"/>
          </a:xfrm>
          <a:prstGeom prst="roundRect">
            <a:avLst>
              <a:gd name="adj" fmla="val 4225"/>
            </a:avLst>
          </a:prstGeom>
          <a:solidFill>
            <a:srgbClr val="FFFFFF"/>
          </a:solidFill>
          <a:ln w="15875">
            <a:solidFill>
              <a:srgbClr val="E91E63"/>
            </a:solidFill>
            <a:prstDash val="solid"/>
          </a:ln>
        </p:spPr>
      </p:sp>
      <p:sp>
        <p:nvSpPr>
          <p:cNvPr id="26" name="Text 24"/>
          <p:cNvSpPr/>
          <p:nvPr/>
        </p:nvSpPr>
        <p:spPr>
          <a:xfrm>
            <a:off x="298704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비동기 워커</a:t>
            </a:r>
            <a:endParaRPr lang="en-US" sz="950" dirty="0"/>
          </a:p>
        </p:txBody>
      </p:sp>
      <p:sp>
        <p:nvSpPr>
          <p:cNvPr id="27" name="Text 25"/>
          <p:cNvSpPr/>
          <p:nvPr/>
        </p:nvSpPr>
        <p:spPr>
          <a:xfrm>
            <a:off x="298704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SQS + Step Functions</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Lambda / Fargate 분석</a:t>
            </a:r>
            <a:endParaRPr lang="en-US" sz="850" dirty="0"/>
          </a:p>
        </p:txBody>
      </p:sp>
      <p:sp>
        <p:nvSpPr>
          <p:cNvPr id="28" name="Shape 26"/>
          <p:cNvSpPr/>
          <p:nvPr/>
        </p:nvSpPr>
        <p:spPr>
          <a:xfrm>
            <a:off x="5725668" y="2953512"/>
            <a:ext cx="0" cy="256032"/>
          </a:xfrm>
          <a:prstGeom prst="line">
            <a:avLst/>
          </a:prstGeom>
          <a:noFill/>
          <a:ln w="19050">
            <a:solidFill>
              <a:srgbClr val="6B7280"/>
            </a:solidFill>
            <a:prstDash val="solid"/>
            <a:tailEnd type="triangle"/>
          </a:ln>
        </p:spPr>
      </p:sp>
      <p:sp>
        <p:nvSpPr>
          <p:cNvPr id="29" name="Shape 27"/>
          <p:cNvSpPr/>
          <p:nvPr/>
        </p:nvSpPr>
        <p:spPr>
          <a:xfrm>
            <a:off x="4849368" y="3246120"/>
            <a:ext cx="1752600" cy="1298448"/>
          </a:xfrm>
          <a:prstGeom prst="roundRect">
            <a:avLst>
              <a:gd name="adj" fmla="val 4225"/>
            </a:avLst>
          </a:prstGeom>
          <a:solidFill>
            <a:srgbClr val="FFFFFF"/>
          </a:solidFill>
          <a:ln w="15875">
            <a:solidFill>
              <a:srgbClr val="41B3FF"/>
            </a:solidFill>
            <a:prstDash val="solid"/>
          </a:ln>
        </p:spPr>
      </p:sp>
      <p:sp>
        <p:nvSpPr>
          <p:cNvPr id="30" name="Text 28"/>
          <p:cNvSpPr/>
          <p:nvPr/>
        </p:nvSpPr>
        <p:spPr>
          <a:xfrm>
            <a:off x="492252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외부 관측 연동</a:t>
            </a:r>
            <a:endParaRPr lang="en-US" sz="950" dirty="0"/>
          </a:p>
        </p:txBody>
      </p:sp>
      <p:sp>
        <p:nvSpPr>
          <p:cNvPr id="31" name="Text 29"/>
          <p:cNvSpPr/>
          <p:nvPr/>
        </p:nvSpPr>
        <p:spPr>
          <a:xfrm>
            <a:off x="492252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Prometheus · ClickHouse</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등 8종 read-only</a:t>
            </a:r>
            <a:endParaRPr lang="en-US" sz="850" dirty="0"/>
          </a:p>
        </p:txBody>
      </p:sp>
      <p:sp>
        <p:nvSpPr>
          <p:cNvPr id="32" name="Text 30"/>
          <p:cNvSpPr/>
          <p:nvPr/>
        </p:nvSpPr>
        <p:spPr>
          <a:xfrm>
            <a:off x="978408" y="5074920"/>
            <a:ext cx="5577840" cy="237744"/>
          </a:xfrm>
          <a:prstGeom prst="rect">
            <a:avLst/>
          </a:prstGeom>
          <a:noFill/>
          <a:ln/>
        </p:spPr>
        <p:txBody>
          <a:bodyPr wrap="square" lIns="0" tIns="0" rIns="0" bIns="0" rtlCol="0" anchor="ctr"/>
          <a:lstStyle/>
          <a:p>
            <a:pPr indent="0" marL="0">
              <a:buNone/>
            </a:pPr>
            <a:r>
              <a:rPr lang="en-US" sz="850" b="1" dirty="0">
                <a:solidFill>
                  <a:srgbClr val="3F4858"/>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850" dirty="0"/>
          </a:p>
        </p:txBody>
      </p:sp>
      <p:sp>
        <p:nvSpPr>
          <p:cNvPr id="33" name="Shape 31"/>
          <p:cNvSpPr/>
          <p:nvPr/>
        </p:nvSpPr>
        <p:spPr>
          <a:xfrm>
            <a:off x="7013448" y="1783080"/>
            <a:ext cx="4336999" cy="822960"/>
          </a:xfrm>
          <a:prstGeom prst="roundRect">
            <a:avLst>
              <a:gd name="adj" fmla="val 11111"/>
            </a:avLst>
          </a:prstGeom>
          <a:solidFill>
            <a:srgbClr val="F4F4F8"/>
          </a:solidFill>
          <a:ln/>
        </p:spPr>
      </p:sp>
      <p:sp>
        <p:nvSpPr>
          <p:cNvPr id="34" name="Shape 32"/>
          <p:cNvSpPr/>
          <p:nvPr/>
        </p:nvSpPr>
        <p:spPr>
          <a:xfrm>
            <a:off x="7086600" y="1892808"/>
            <a:ext cx="64008" cy="603504"/>
          </a:xfrm>
          <a:prstGeom prst="roundRect">
            <a:avLst>
              <a:gd name="adj" fmla="val 42857"/>
            </a:avLst>
          </a:prstGeom>
          <a:solidFill>
            <a:srgbClr val="3B82F6"/>
          </a:solidFill>
          <a:ln/>
        </p:spPr>
      </p:sp>
      <p:sp>
        <p:nvSpPr>
          <p:cNvPr id="35" name="Text 33"/>
          <p:cNvSpPr/>
          <p:nvPr/>
        </p:nvSpPr>
        <p:spPr>
          <a:xfrm>
            <a:off x="7287768" y="189280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엣지</a:t>
            </a:r>
            <a:endParaRPr lang="en-US" sz="1200" dirty="0"/>
          </a:p>
        </p:txBody>
      </p:sp>
      <p:sp>
        <p:nvSpPr>
          <p:cNvPr id="36" name="Text 34"/>
          <p:cNvSpPr/>
          <p:nvPr/>
        </p:nvSpPr>
        <p:spPr>
          <a:xfrm>
            <a:off x="7287768" y="216712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CloudFront VPC Origin → 내부 ALB → Fargate. 퍼블릭 ALB 없음</a:t>
            </a:r>
            <a:endParaRPr lang="en-US" sz="950" dirty="0"/>
          </a:p>
        </p:txBody>
      </p:sp>
      <p:sp>
        <p:nvSpPr>
          <p:cNvPr id="37" name="Shape 35"/>
          <p:cNvSpPr/>
          <p:nvPr/>
        </p:nvSpPr>
        <p:spPr>
          <a:xfrm>
            <a:off x="7013448" y="2743200"/>
            <a:ext cx="4336999" cy="822960"/>
          </a:xfrm>
          <a:prstGeom prst="roundRect">
            <a:avLst>
              <a:gd name="adj" fmla="val 11111"/>
            </a:avLst>
          </a:prstGeom>
          <a:solidFill>
            <a:srgbClr val="F4F4F8"/>
          </a:solidFill>
          <a:ln/>
        </p:spPr>
      </p:sp>
      <p:sp>
        <p:nvSpPr>
          <p:cNvPr id="38" name="Shape 36"/>
          <p:cNvSpPr/>
          <p:nvPr/>
        </p:nvSpPr>
        <p:spPr>
          <a:xfrm>
            <a:off x="7086600" y="2852928"/>
            <a:ext cx="64008" cy="603504"/>
          </a:xfrm>
          <a:prstGeom prst="roundRect">
            <a:avLst>
              <a:gd name="adj" fmla="val 42857"/>
            </a:avLst>
          </a:prstGeom>
          <a:solidFill>
            <a:srgbClr val="00B341"/>
          </a:solidFill>
          <a:ln/>
        </p:spPr>
      </p:sp>
      <p:sp>
        <p:nvSpPr>
          <p:cNvPr id="39" name="Text 37"/>
          <p:cNvSpPr/>
          <p:nvPr/>
        </p:nvSpPr>
        <p:spPr>
          <a:xfrm>
            <a:off x="7287768" y="285292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웹 · 데이터</a:t>
            </a:r>
            <a:endParaRPr lang="en-US" sz="1200" dirty="0"/>
          </a:p>
        </p:txBody>
      </p:sp>
      <p:sp>
        <p:nvSpPr>
          <p:cNvPr id="40" name="Text 38"/>
          <p:cNvSpPr/>
          <p:nvPr/>
        </p:nvSpPr>
        <p:spPr>
          <a:xfrm>
            <a:off x="7287768" y="312724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Next.js thin-BFF + Aurora Serverless v2. 무거운 일은 큐로</a:t>
            </a:r>
            <a:endParaRPr lang="en-US" sz="950" dirty="0"/>
          </a:p>
        </p:txBody>
      </p:sp>
      <p:sp>
        <p:nvSpPr>
          <p:cNvPr id="41" name="Shape 39"/>
          <p:cNvSpPr/>
          <p:nvPr/>
        </p:nvSpPr>
        <p:spPr>
          <a:xfrm>
            <a:off x="7013448" y="3703320"/>
            <a:ext cx="4336999" cy="822960"/>
          </a:xfrm>
          <a:prstGeom prst="roundRect">
            <a:avLst>
              <a:gd name="adj" fmla="val 11111"/>
            </a:avLst>
          </a:prstGeom>
          <a:solidFill>
            <a:srgbClr val="F4F4F8"/>
          </a:solidFill>
          <a:ln/>
        </p:spPr>
      </p:sp>
      <p:sp>
        <p:nvSpPr>
          <p:cNvPr id="42" name="Shape 40"/>
          <p:cNvSpPr/>
          <p:nvPr/>
        </p:nvSpPr>
        <p:spPr>
          <a:xfrm>
            <a:off x="7086600" y="3813048"/>
            <a:ext cx="64008" cy="603504"/>
          </a:xfrm>
          <a:prstGeom prst="roundRect">
            <a:avLst>
              <a:gd name="adj" fmla="val 42857"/>
            </a:avLst>
          </a:prstGeom>
          <a:solidFill>
            <a:srgbClr val="8B5CF6"/>
          </a:solidFill>
          <a:ln/>
        </p:spPr>
      </p:sp>
      <p:sp>
        <p:nvSpPr>
          <p:cNvPr id="43" name="Text 41"/>
          <p:cNvSpPr/>
          <p:nvPr/>
        </p:nvSpPr>
        <p:spPr>
          <a:xfrm>
            <a:off x="7287768" y="381304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AI</a:t>
            </a:r>
            <a:endParaRPr lang="en-US" sz="1200" dirty="0"/>
          </a:p>
        </p:txBody>
      </p:sp>
      <p:sp>
        <p:nvSpPr>
          <p:cNvPr id="44" name="Text 42"/>
          <p:cNvSpPr/>
          <p:nvPr/>
        </p:nvSpPr>
        <p:spPr>
          <a:xfrm>
            <a:off x="7287768" y="408736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Bedrock AgentCore — 게이트웨이 9종이 라이브 AWS 조회</a:t>
            </a:r>
            <a:endParaRPr lang="en-US" sz="950" dirty="0"/>
          </a:p>
        </p:txBody>
      </p:sp>
      <p:sp>
        <p:nvSpPr>
          <p:cNvPr id="45" name="Shape 43"/>
          <p:cNvSpPr/>
          <p:nvPr/>
        </p:nvSpPr>
        <p:spPr>
          <a:xfrm>
            <a:off x="7013448" y="4663440"/>
            <a:ext cx="4336999" cy="822960"/>
          </a:xfrm>
          <a:prstGeom prst="roundRect">
            <a:avLst>
              <a:gd name="adj" fmla="val 11111"/>
            </a:avLst>
          </a:prstGeom>
          <a:solidFill>
            <a:srgbClr val="F4F4F8"/>
          </a:solidFill>
          <a:ln/>
        </p:spPr>
      </p:sp>
      <p:sp>
        <p:nvSpPr>
          <p:cNvPr id="46" name="Shape 44"/>
          <p:cNvSpPr/>
          <p:nvPr/>
        </p:nvSpPr>
        <p:spPr>
          <a:xfrm>
            <a:off x="7086600" y="4773168"/>
            <a:ext cx="64008" cy="603504"/>
          </a:xfrm>
          <a:prstGeom prst="roundRect">
            <a:avLst>
              <a:gd name="adj" fmla="val 42857"/>
            </a:avLst>
          </a:prstGeom>
          <a:solidFill>
            <a:srgbClr val="E91E63"/>
          </a:solidFill>
          <a:ln/>
        </p:spPr>
      </p:sp>
      <p:sp>
        <p:nvSpPr>
          <p:cNvPr id="47" name="Text 45"/>
          <p:cNvSpPr/>
          <p:nvPr/>
        </p:nvSpPr>
        <p:spPr>
          <a:xfrm>
            <a:off x="7287768" y="477316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워커</a:t>
            </a:r>
            <a:endParaRPr lang="en-US" sz="1200" dirty="0"/>
          </a:p>
        </p:txBody>
      </p:sp>
      <p:sp>
        <p:nvSpPr>
          <p:cNvPr id="48" name="Text 46"/>
          <p:cNvSpPr/>
          <p:nvPr/>
        </p:nvSpPr>
        <p:spPr>
          <a:xfrm>
            <a:off x="7287768" y="504748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SQS + Step Functions — Lambda/Fargate 비동기 분석</a:t>
            </a:r>
            <a:endParaRPr lang="en-US" sz="950" dirty="0"/>
          </a:p>
        </p:txBody>
      </p:sp>
      <p:sp>
        <p:nvSpPr>
          <p:cNvPr id="49" name="Shape 47"/>
          <p:cNvSpPr/>
          <p:nvPr/>
        </p:nvSpPr>
        <p:spPr>
          <a:xfrm>
            <a:off x="841248" y="5687568"/>
            <a:ext cx="10509199" cy="0"/>
          </a:xfrm>
          <a:prstGeom prst="line">
            <a:avLst/>
          </a:prstGeom>
          <a:noFill/>
          <a:ln w="12700">
            <a:solidFill>
              <a:srgbClr val="D2D2D5"/>
            </a:solidFill>
            <a:prstDash val="solid"/>
          </a:ln>
        </p:spPr>
      </p:sp>
      <p:sp>
        <p:nvSpPr>
          <p:cNvPr id="50" name="Text 4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51" name="Text 4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퍼블릭 로드밸런서 (진입은 CloudFront만)</a:t>
            </a:r>
            <a:endParaRPr lang="en-US" sz="900" dirty="0"/>
          </a:p>
        </p:txBody>
      </p:sp>
      <p:sp>
        <p:nvSpPr>
          <p:cNvPr id="52" name="Text 5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53" name="Text 5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도메인 게이트웨이 (MCP 도구)</a:t>
            </a:r>
            <a:endParaRPr lang="en-US" sz="900" dirty="0"/>
          </a:p>
        </p:txBody>
      </p:sp>
      <p:sp>
        <p:nvSpPr>
          <p:cNvPr id="54" name="Text 5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2-tier</a:t>
            </a:r>
            <a:endParaRPr lang="en-US" sz="1600" dirty="0"/>
          </a:p>
        </p:txBody>
      </p:sp>
      <p:sp>
        <p:nvSpPr>
          <p:cNvPr id="55" name="Text 5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56" name="Text 5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IaC</a:t>
            </a:r>
            <a:endParaRPr lang="en-US" sz="1600" dirty="0"/>
          </a:p>
        </p:txBody>
      </p:sp>
      <p:sp>
        <p:nvSpPr>
          <p:cNvPr id="57" name="Text 5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Terraform 단일 루트 + 멱등 프로비저너 · 플래그 게이트</a:t>
            </a:r>
            <a:endParaRPr lang="en-US" sz="900" dirty="0"/>
          </a:p>
        </p:txBody>
      </p:sp>
      <p:sp>
        <p:nvSpPr>
          <p:cNvPr id="58" name="Text 5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5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60" name="Text 5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퍼블릭 로드밸런서가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400" dirty="0"/>
          </a:p>
        </p:txBody>
      </p:sp>
      <p:sp>
        <p:nvSpPr>
          <p:cNvPr id="4" name="Shape 2"/>
          <p:cNvSpPr/>
          <p:nvPr/>
        </p:nvSpPr>
        <p:spPr>
          <a:xfrm>
            <a:off x="841248" y="1828800"/>
            <a:ext cx="2250110" cy="960120"/>
          </a:xfrm>
          <a:prstGeom prst="roundRect">
            <a:avLst>
              <a:gd name="adj" fmla="val 7619"/>
            </a:avLst>
          </a:prstGeom>
          <a:solidFill>
            <a:srgbClr val="F2EEFF"/>
          </a:solidFill>
          <a:ln w="15875">
            <a:solidFill>
              <a:srgbClr val="8B5CF6"/>
            </a:solidFill>
            <a:prstDash val="solid"/>
          </a:ln>
        </p:spPr>
      </p:sp>
      <p:sp>
        <p:nvSpPr>
          <p:cNvPr id="5" name="Text 3"/>
          <p:cNvSpPr/>
          <p:nvPr/>
        </p:nvSpPr>
        <p:spPr>
          <a:xfrm>
            <a:off x="89611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CloudFront</a:t>
            </a:r>
            <a:endParaRPr lang="en-US" sz="1100" dirty="0"/>
          </a:p>
        </p:txBody>
      </p:sp>
      <p:sp>
        <p:nvSpPr>
          <p:cNvPr id="6" name="Text 4"/>
          <p:cNvSpPr/>
          <p:nvPr/>
        </p:nvSpPr>
        <p:spPr>
          <a:xfrm>
            <a:off x="89611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TLS 종단 + Lambda@Edge</a:t>
            </a:r>
            <a:endParaRPr lang="en-US" sz="850" dirty="0"/>
          </a:p>
        </p:txBody>
      </p:sp>
      <p:sp>
        <p:nvSpPr>
          <p:cNvPr id="7" name="Shape 5"/>
          <p:cNvSpPr/>
          <p:nvPr/>
        </p:nvSpPr>
        <p:spPr>
          <a:xfrm>
            <a:off x="3164510" y="2304288"/>
            <a:ext cx="356616" cy="0"/>
          </a:xfrm>
          <a:prstGeom prst="line">
            <a:avLst/>
          </a:prstGeom>
          <a:noFill/>
          <a:ln w="22225">
            <a:solidFill>
              <a:srgbClr val="6B7280"/>
            </a:solidFill>
            <a:prstDash val="solid"/>
            <a:tailEnd type="triangle"/>
          </a:ln>
        </p:spPr>
      </p:sp>
      <p:sp>
        <p:nvSpPr>
          <p:cNvPr id="8" name="Shape 6"/>
          <p:cNvSpPr/>
          <p:nvPr/>
        </p:nvSpPr>
        <p:spPr>
          <a:xfrm>
            <a:off x="3594278" y="1828800"/>
            <a:ext cx="2250110"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64914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VPC Origin</a:t>
            </a:r>
            <a:endParaRPr lang="en-US" sz="1100" dirty="0"/>
          </a:p>
        </p:txBody>
      </p:sp>
      <p:sp>
        <p:nvSpPr>
          <p:cNvPr id="10" name="Text 8"/>
          <p:cNvSpPr/>
          <p:nvPr/>
        </p:nvSpPr>
        <p:spPr>
          <a:xfrm>
            <a:off x="364914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https-only 비공개 통로</a:t>
            </a:r>
            <a:endParaRPr lang="en-US" sz="850" dirty="0"/>
          </a:p>
        </p:txBody>
      </p:sp>
      <p:sp>
        <p:nvSpPr>
          <p:cNvPr id="11" name="Shape 9"/>
          <p:cNvSpPr/>
          <p:nvPr/>
        </p:nvSpPr>
        <p:spPr>
          <a:xfrm>
            <a:off x="5917540" y="2304288"/>
            <a:ext cx="356616" cy="0"/>
          </a:xfrm>
          <a:prstGeom prst="line">
            <a:avLst/>
          </a:prstGeom>
          <a:noFill/>
          <a:ln w="22225">
            <a:solidFill>
              <a:srgbClr val="6B7280"/>
            </a:solidFill>
            <a:prstDash val="solid"/>
            <a:tailEnd type="triangle"/>
          </a:ln>
        </p:spPr>
      </p:sp>
      <p:sp>
        <p:nvSpPr>
          <p:cNvPr id="12" name="Shape 10"/>
          <p:cNvSpPr/>
          <p:nvPr/>
        </p:nvSpPr>
        <p:spPr>
          <a:xfrm>
            <a:off x="6347308" y="1828800"/>
            <a:ext cx="2250110"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640217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내부 ALB</a:t>
            </a:r>
            <a:endParaRPr lang="en-US" sz="1100" dirty="0"/>
          </a:p>
        </p:txBody>
      </p:sp>
      <p:sp>
        <p:nvSpPr>
          <p:cNvPr id="14" name="Text 12"/>
          <p:cNvSpPr/>
          <p:nvPr/>
        </p:nvSpPr>
        <p:spPr>
          <a:xfrm>
            <a:off x="640217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CloudFront SG만 허용</a:t>
            </a:r>
            <a:endParaRPr lang="en-US" sz="850" dirty="0"/>
          </a:p>
        </p:txBody>
      </p:sp>
      <p:sp>
        <p:nvSpPr>
          <p:cNvPr id="15" name="Shape 13"/>
          <p:cNvSpPr/>
          <p:nvPr/>
        </p:nvSpPr>
        <p:spPr>
          <a:xfrm>
            <a:off x="8670569" y="2304288"/>
            <a:ext cx="356616" cy="0"/>
          </a:xfrm>
          <a:prstGeom prst="line">
            <a:avLst/>
          </a:prstGeom>
          <a:noFill/>
          <a:ln w="22225">
            <a:solidFill>
              <a:srgbClr val="6B7280"/>
            </a:solidFill>
            <a:prstDash val="solid"/>
            <a:tailEnd type="triangle"/>
          </a:ln>
        </p:spPr>
      </p:sp>
      <p:sp>
        <p:nvSpPr>
          <p:cNvPr id="16" name="Shape 14"/>
          <p:cNvSpPr/>
          <p:nvPr/>
        </p:nvSpPr>
        <p:spPr>
          <a:xfrm>
            <a:off x="9100337" y="1828800"/>
            <a:ext cx="2250110" cy="960120"/>
          </a:xfrm>
          <a:prstGeom prst="roundRect">
            <a:avLst>
              <a:gd name="adj" fmla="val 7619"/>
            </a:avLst>
          </a:prstGeom>
          <a:solidFill>
            <a:srgbClr val="FFFFFF"/>
          </a:solidFill>
          <a:ln w="15875">
            <a:solidFill>
              <a:srgbClr val="00B341"/>
            </a:solidFill>
            <a:prstDash val="solid"/>
          </a:ln>
        </p:spPr>
      </p:sp>
      <p:sp>
        <p:nvSpPr>
          <p:cNvPr id="17" name="Text 15"/>
          <p:cNvSpPr/>
          <p:nvPr/>
        </p:nvSpPr>
        <p:spPr>
          <a:xfrm>
            <a:off x="9155201"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Fargate 웹</a:t>
            </a:r>
            <a:endParaRPr lang="en-US" sz="1100" dirty="0"/>
          </a:p>
        </p:txBody>
      </p:sp>
      <p:sp>
        <p:nvSpPr>
          <p:cNvPr id="18" name="Text 16"/>
          <p:cNvSpPr/>
          <p:nvPr/>
        </p:nvSpPr>
        <p:spPr>
          <a:xfrm>
            <a:off x="9155201"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thin-BFF :3000</a:t>
            </a:r>
            <a:endParaRPr lang="en-US" sz="850" dirty="0"/>
          </a:p>
        </p:txBody>
      </p:sp>
      <p:sp>
        <p:nvSpPr>
          <p:cNvPr id="19" name="Shape 17"/>
          <p:cNvSpPr/>
          <p:nvPr/>
        </p:nvSpPr>
        <p:spPr>
          <a:xfrm>
            <a:off x="859536" y="3255264"/>
            <a:ext cx="128016" cy="128016"/>
          </a:xfrm>
          <a:prstGeom prst="ellipse">
            <a:avLst/>
          </a:prstGeom>
          <a:solidFill>
            <a:srgbClr val="8B5CF6"/>
          </a:solidFill>
          <a:ln/>
        </p:spPr>
      </p:sp>
      <p:sp>
        <p:nvSpPr>
          <p:cNvPr id="20" name="Text 18"/>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엣지에서 끝나는 인증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200" dirty="0"/>
          </a:p>
        </p:txBody>
      </p:sp>
      <p:sp>
        <p:nvSpPr>
          <p:cNvPr id="21" name="Shape 19"/>
          <p:cNvSpPr/>
          <p:nvPr/>
        </p:nvSpPr>
        <p:spPr>
          <a:xfrm>
            <a:off x="859536" y="4032504"/>
            <a:ext cx="128016" cy="128016"/>
          </a:xfrm>
          <a:prstGeom prst="ellipse">
            <a:avLst/>
          </a:prstGeom>
          <a:solidFill>
            <a:srgbClr val="8B5CF6"/>
          </a:solidFill>
          <a:ln/>
        </p:spPr>
      </p:sp>
      <p:sp>
        <p:nvSpPr>
          <p:cNvPr id="22" name="Text 20"/>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자체 /login 폼 로그인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200" dirty="0"/>
          </a:p>
        </p:txBody>
      </p:sp>
      <p:sp>
        <p:nvSpPr>
          <p:cNvPr id="23" name="Shape 21"/>
          <p:cNvSpPr/>
          <p:nvPr/>
        </p:nvSpPr>
        <p:spPr>
          <a:xfrm>
            <a:off x="859536" y="4809744"/>
            <a:ext cx="128016" cy="128016"/>
          </a:xfrm>
          <a:prstGeom prst="ellipse">
            <a:avLst/>
          </a:prstGeom>
          <a:solidFill>
            <a:srgbClr val="8B5CF6"/>
          </a:solidFill>
          <a:ln/>
        </p:spPr>
      </p:sp>
      <p:sp>
        <p:nvSpPr>
          <p:cNvPr id="24" name="Text 22"/>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저장 데이터 보호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Aurora는 KMS CMK 암호화 + RDS 관리형 시크릿. 자격증명 하드코딩 없음</a:t>
            </a:r>
            <a:endParaRPr lang="en-US" sz="1200" dirty="0"/>
          </a:p>
        </p:txBody>
      </p:sp>
      <p:sp>
        <p:nvSpPr>
          <p:cNvPr id="25" name="Shape 23"/>
          <p:cNvSpPr/>
          <p:nvPr/>
        </p:nvSpPr>
        <p:spPr>
          <a:xfrm>
            <a:off x="841248" y="5687568"/>
            <a:ext cx="10509199" cy="0"/>
          </a:xfrm>
          <a:prstGeom prst="line">
            <a:avLst/>
          </a:prstGeom>
          <a:noFill/>
          <a:ln w="12700">
            <a:solidFill>
              <a:srgbClr val="D2D2D5"/>
            </a:solidFill>
            <a:prstDash val="solid"/>
          </a:ln>
        </p:spPr>
      </p:sp>
      <p:sp>
        <p:nvSpPr>
          <p:cNvPr id="26" name="Text 2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인터넷 노출 로드밸런서</a:t>
            </a:r>
            <a:endParaRPr lang="en-US" sz="900" dirty="0"/>
          </a:p>
        </p:txBody>
      </p:sp>
      <p:sp>
        <p:nvSpPr>
          <p:cNvPr id="28" name="Text 2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엣지 토큰 서명 검증 알고리즘</a:t>
            </a:r>
            <a:endParaRPr lang="en-US" sz="900" dirty="0"/>
          </a:p>
        </p:txBody>
      </p:sp>
      <p:sp>
        <p:nvSpPr>
          <p:cNvPr id="30" name="Text 2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세션 토큰 유효 시간</a:t>
            </a:r>
            <a:endParaRPr lang="en-US" sz="900" dirty="0"/>
          </a:p>
        </p:txBody>
      </p:sp>
      <p:sp>
        <p:nvSpPr>
          <p:cNvPr id="32" name="Text 3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Aurora 저장 데이터 암호화</a:t>
            </a:r>
            <a:endParaRPr lang="en-US" sz="900" dirty="0"/>
          </a:p>
        </p:txBody>
      </p:sp>
      <p:sp>
        <p:nvSpPr>
          <p:cNvPr id="34" name="Text 3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5"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6" name="Text 3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범용 챗봇이 아니라, 전문 에이전트 9팀</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Bedrock AgentCore 게이트웨이 9종 + 챗 섹션 16키의 도메인 분업 구조</a:t>
            </a:r>
            <a:endParaRPr lang="en-US" sz="1400" dirty="0"/>
          </a:p>
        </p:txBody>
      </p:sp>
      <p:sp>
        <p:nvSpPr>
          <p:cNvPr id="4" name="Text 2"/>
          <p:cNvSpPr/>
          <p:nvPr/>
        </p:nvSpPr>
        <p:spPr>
          <a:xfrm>
            <a:off x="841248" y="1755648"/>
            <a:ext cx="10509199" cy="237744"/>
          </a:xfrm>
          <a:prstGeom prst="rect">
            <a:avLst/>
          </a:prstGeom>
          <a:noFill/>
          <a:ln/>
        </p:spPr>
        <p:txBody>
          <a:bodyPr wrap="square" lIns="0" tIns="0" rIns="0" bIns="0" rtlCol="0" anchor="ctr"/>
          <a:lstStyle/>
          <a:p>
            <a:pPr indent="0" marL="0">
              <a:buNone/>
            </a:pPr>
            <a:r>
              <a:rPr lang="en-US" sz="1150" b="1" dirty="0">
                <a:solidFill>
                  <a:srgbClr val="3F4858"/>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150" dirty="0"/>
          </a:p>
        </p:txBody>
      </p:sp>
      <p:sp>
        <p:nvSpPr>
          <p:cNvPr id="5" name="Shape 3"/>
          <p:cNvSpPr/>
          <p:nvPr/>
        </p:nvSpPr>
        <p:spPr>
          <a:xfrm>
            <a:off x="841248" y="2048256"/>
            <a:ext cx="1070153" cy="502920"/>
          </a:xfrm>
          <a:prstGeom prst="roundRect">
            <a:avLst>
              <a:gd name="adj" fmla="val 10909"/>
            </a:avLst>
          </a:prstGeom>
          <a:solidFill>
            <a:srgbClr val="F2EEFF"/>
          </a:solidFill>
          <a:ln w="12700">
            <a:solidFill>
              <a:srgbClr val="8B5CF6"/>
            </a:solidFill>
            <a:prstDash val="solid"/>
          </a:ln>
        </p:spPr>
      </p:sp>
      <p:sp>
        <p:nvSpPr>
          <p:cNvPr id="6" name="Text 4"/>
          <p:cNvSpPr/>
          <p:nvPr/>
        </p:nvSpPr>
        <p:spPr>
          <a:xfrm>
            <a:off x="841248"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Network</a:t>
            </a:r>
            <a:endParaRPr lang="en-US" sz="900" dirty="0"/>
          </a:p>
        </p:txBody>
      </p:sp>
      <p:sp>
        <p:nvSpPr>
          <p:cNvPr id="7" name="Shape 5"/>
          <p:cNvSpPr/>
          <p:nvPr/>
        </p:nvSpPr>
        <p:spPr>
          <a:xfrm>
            <a:off x="2021129" y="2048256"/>
            <a:ext cx="1070153" cy="502920"/>
          </a:xfrm>
          <a:prstGeom prst="roundRect">
            <a:avLst>
              <a:gd name="adj" fmla="val 10909"/>
            </a:avLst>
          </a:prstGeom>
          <a:solidFill>
            <a:srgbClr val="F2EEFF"/>
          </a:solidFill>
          <a:ln w="12700">
            <a:solidFill>
              <a:srgbClr val="8B5CF6"/>
            </a:solidFill>
            <a:prstDash val="solid"/>
          </a:ln>
        </p:spPr>
      </p:sp>
      <p:sp>
        <p:nvSpPr>
          <p:cNvPr id="8" name="Text 6"/>
          <p:cNvSpPr/>
          <p:nvPr/>
        </p:nvSpPr>
        <p:spPr>
          <a:xfrm>
            <a:off x="2021129"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Container</a:t>
            </a:r>
            <a:endParaRPr lang="en-US" sz="900" dirty="0"/>
          </a:p>
        </p:txBody>
      </p:sp>
      <p:sp>
        <p:nvSpPr>
          <p:cNvPr id="9" name="Shape 7"/>
          <p:cNvSpPr/>
          <p:nvPr/>
        </p:nvSpPr>
        <p:spPr>
          <a:xfrm>
            <a:off x="3201010" y="2048256"/>
            <a:ext cx="1070153" cy="502920"/>
          </a:xfrm>
          <a:prstGeom prst="roundRect">
            <a:avLst>
              <a:gd name="adj" fmla="val 10909"/>
            </a:avLst>
          </a:prstGeom>
          <a:solidFill>
            <a:srgbClr val="F2EEFF"/>
          </a:solidFill>
          <a:ln w="12700">
            <a:solidFill>
              <a:srgbClr val="8B5CF6"/>
            </a:solidFill>
            <a:prstDash val="solid"/>
          </a:ln>
        </p:spPr>
      </p:sp>
      <p:sp>
        <p:nvSpPr>
          <p:cNvPr id="10" name="Text 8"/>
          <p:cNvSpPr/>
          <p:nvPr/>
        </p:nvSpPr>
        <p:spPr>
          <a:xfrm>
            <a:off x="320101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Data</a:t>
            </a:r>
            <a:endParaRPr lang="en-US" sz="900" dirty="0"/>
          </a:p>
        </p:txBody>
      </p:sp>
      <p:sp>
        <p:nvSpPr>
          <p:cNvPr id="11" name="Shape 9"/>
          <p:cNvSpPr/>
          <p:nvPr/>
        </p:nvSpPr>
        <p:spPr>
          <a:xfrm>
            <a:off x="4380890" y="2048256"/>
            <a:ext cx="1070153" cy="502920"/>
          </a:xfrm>
          <a:prstGeom prst="roundRect">
            <a:avLst>
              <a:gd name="adj" fmla="val 10909"/>
            </a:avLst>
          </a:prstGeom>
          <a:solidFill>
            <a:srgbClr val="F2EEFF"/>
          </a:solidFill>
          <a:ln w="12700">
            <a:solidFill>
              <a:srgbClr val="8B5CF6"/>
            </a:solidFill>
            <a:prstDash val="solid"/>
          </a:ln>
        </p:spPr>
      </p:sp>
      <p:sp>
        <p:nvSpPr>
          <p:cNvPr id="12" name="Text 10"/>
          <p:cNvSpPr/>
          <p:nvPr/>
        </p:nvSpPr>
        <p:spPr>
          <a:xfrm>
            <a:off x="438089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Security</a:t>
            </a:r>
            <a:endParaRPr lang="en-US" sz="900" dirty="0"/>
          </a:p>
        </p:txBody>
      </p:sp>
      <p:sp>
        <p:nvSpPr>
          <p:cNvPr id="13" name="Shape 11"/>
          <p:cNvSpPr/>
          <p:nvPr/>
        </p:nvSpPr>
        <p:spPr>
          <a:xfrm>
            <a:off x="5560771" y="2048256"/>
            <a:ext cx="1070153" cy="502920"/>
          </a:xfrm>
          <a:prstGeom prst="roundRect">
            <a:avLst>
              <a:gd name="adj" fmla="val 10909"/>
            </a:avLst>
          </a:prstGeom>
          <a:solidFill>
            <a:srgbClr val="F2EEFF"/>
          </a:solidFill>
          <a:ln w="12700">
            <a:solidFill>
              <a:srgbClr val="8B5CF6"/>
            </a:solidFill>
            <a:prstDash val="solid"/>
          </a:ln>
        </p:spPr>
      </p:sp>
      <p:sp>
        <p:nvSpPr>
          <p:cNvPr id="14" name="Text 12"/>
          <p:cNvSpPr/>
          <p:nvPr/>
        </p:nvSpPr>
        <p:spPr>
          <a:xfrm>
            <a:off x="5560771"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Cost</a:t>
            </a:r>
            <a:endParaRPr lang="en-US" sz="900" dirty="0"/>
          </a:p>
        </p:txBody>
      </p:sp>
      <p:sp>
        <p:nvSpPr>
          <p:cNvPr id="15" name="Shape 13"/>
          <p:cNvSpPr/>
          <p:nvPr/>
        </p:nvSpPr>
        <p:spPr>
          <a:xfrm>
            <a:off x="6740652" y="2048256"/>
            <a:ext cx="1070153" cy="502920"/>
          </a:xfrm>
          <a:prstGeom prst="roundRect">
            <a:avLst>
              <a:gd name="adj" fmla="val 10909"/>
            </a:avLst>
          </a:prstGeom>
          <a:solidFill>
            <a:srgbClr val="F2EEFF"/>
          </a:solidFill>
          <a:ln w="12700">
            <a:solidFill>
              <a:srgbClr val="8B5CF6"/>
            </a:solidFill>
            <a:prstDash val="solid"/>
          </a:ln>
        </p:spPr>
      </p:sp>
      <p:sp>
        <p:nvSpPr>
          <p:cNvPr id="16" name="Text 14"/>
          <p:cNvSpPr/>
          <p:nvPr/>
        </p:nvSpPr>
        <p:spPr>
          <a:xfrm>
            <a:off x="6740652"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Monitoring</a:t>
            </a:r>
            <a:endParaRPr lang="en-US" sz="900" dirty="0"/>
          </a:p>
        </p:txBody>
      </p:sp>
      <p:sp>
        <p:nvSpPr>
          <p:cNvPr id="17" name="Shape 15"/>
          <p:cNvSpPr/>
          <p:nvPr/>
        </p:nvSpPr>
        <p:spPr>
          <a:xfrm>
            <a:off x="7920533" y="2048256"/>
            <a:ext cx="1070153" cy="502920"/>
          </a:xfrm>
          <a:prstGeom prst="roundRect">
            <a:avLst>
              <a:gd name="adj" fmla="val 10909"/>
            </a:avLst>
          </a:prstGeom>
          <a:solidFill>
            <a:srgbClr val="F2EEFF"/>
          </a:solidFill>
          <a:ln w="12700">
            <a:solidFill>
              <a:srgbClr val="8B5CF6"/>
            </a:solidFill>
            <a:prstDash val="solid"/>
          </a:ln>
        </p:spPr>
      </p:sp>
      <p:sp>
        <p:nvSpPr>
          <p:cNvPr id="18" name="Text 16"/>
          <p:cNvSpPr/>
          <p:nvPr/>
        </p:nvSpPr>
        <p:spPr>
          <a:xfrm>
            <a:off x="7920533"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IaC</a:t>
            </a:r>
            <a:endParaRPr lang="en-US" sz="900" dirty="0"/>
          </a:p>
        </p:txBody>
      </p:sp>
      <p:sp>
        <p:nvSpPr>
          <p:cNvPr id="19" name="Shape 17"/>
          <p:cNvSpPr/>
          <p:nvPr/>
        </p:nvSpPr>
        <p:spPr>
          <a:xfrm>
            <a:off x="9100414" y="2048256"/>
            <a:ext cx="1070153" cy="502920"/>
          </a:xfrm>
          <a:prstGeom prst="roundRect">
            <a:avLst>
              <a:gd name="adj" fmla="val 10909"/>
            </a:avLst>
          </a:prstGeom>
          <a:solidFill>
            <a:srgbClr val="F2EEFF"/>
          </a:solidFill>
          <a:ln w="12700">
            <a:solidFill>
              <a:srgbClr val="8B5CF6"/>
            </a:solidFill>
            <a:prstDash val="solid"/>
          </a:ln>
        </p:spPr>
      </p:sp>
      <p:sp>
        <p:nvSpPr>
          <p:cNvPr id="20" name="Text 18"/>
          <p:cNvSpPr/>
          <p:nvPr/>
        </p:nvSpPr>
        <p:spPr>
          <a:xfrm>
            <a:off x="910041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Ops</a:t>
            </a:r>
            <a:endParaRPr lang="en-US" sz="900" dirty="0"/>
          </a:p>
        </p:txBody>
      </p:sp>
      <p:sp>
        <p:nvSpPr>
          <p:cNvPr id="21" name="Shape 19"/>
          <p:cNvSpPr/>
          <p:nvPr/>
        </p:nvSpPr>
        <p:spPr>
          <a:xfrm>
            <a:off x="10280294" y="2048256"/>
            <a:ext cx="1070153" cy="502920"/>
          </a:xfrm>
          <a:prstGeom prst="roundRect">
            <a:avLst>
              <a:gd name="adj" fmla="val 10909"/>
            </a:avLst>
          </a:prstGeom>
          <a:solidFill>
            <a:srgbClr val="F2EEFF"/>
          </a:solidFill>
          <a:ln w="12700">
            <a:solidFill>
              <a:srgbClr val="8B5CF6"/>
            </a:solidFill>
            <a:prstDash val="solid"/>
          </a:ln>
        </p:spPr>
      </p:sp>
      <p:sp>
        <p:nvSpPr>
          <p:cNvPr id="22" name="Text 20"/>
          <p:cNvSpPr/>
          <p:nvPr/>
        </p:nvSpPr>
        <p:spPr>
          <a:xfrm>
            <a:off x="1028029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External-Obs</a:t>
            </a:r>
            <a:endParaRPr lang="en-US" sz="900" dirty="0"/>
          </a:p>
        </p:txBody>
      </p:sp>
      <p:sp>
        <p:nvSpPr>
          <p:cNvPr id="23" name="Shape 21"/>
          <p:cNvSpPr/>
          <p:nvPr/>
        </p:nvSpPr>
        <p:spPr>
          <a:xfrm>
            <a:off x="841248"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4" name="Shape 22"/>
          <p:cNvSpPr/>
          <p:nvPr/>
        </p:nvSpPr>
        <p:spPr>
          <a:xfrm>
            <a:off x="932688" y="2990088"/>
            <a:ext cx="64008" cy="2386584"/>
          </a:xfrm>
          <a:prstGeom prst="roundRect">
            <a:avLst>
              <a:gd name="adj" fmla="val 42857"/>
            </a:avLst>
          </a:prstGeom>
          <a:solidFill>
            <a:srgbClr val="3B82F6"/>
          </a:solidFill>
          <a:ln/>
        </p:spPr>
      </p:sp>
      <p:pic>
        <p:nvPicPr>
          <p:cNvPr id="25" name="Image 0" descr="ai_agent icon">    </p:cNvPr>
          <p:cNvPicPr>
            <a:picLocks noChangeAspect="1"/>
          </p:cNvPicPr>
          <p:nvPr/>
        </p:nvPicPr>
        <p:blipFill>
          <a:blip r:embed="rId1"/>
          <a:stretch>
            <a:fillRect/>
          </a:stretch>
        </p:blipFill>
        <p:spPr>
          <a:xfrm>
            <a:off x="1115568" y="3099816"/>
            <a:ext cx="438912" cy="438912"/>
          </a:xfrm>
          <a:prstGeom prst="rect">
            <a:avLst/>
          </a:prstGeom>
        </p:spPr>
      </p:pic>
      <p:sp>
        <p:nvSpPr>
          <p:cNvPr id="26" name="Text 23"/>
          <p:cNvSpPr/>
          <p:nvPr/>
        </p:nvSpPr>
        <p:spPr>
          <a:xfrm>
            <a:off x="1682496"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대화형 어시스턴트</a:t>
            </a:r>
            <a:endParaRPr lang="en-US" sz="1250" dirty="0"/>
          </a:p>
        </p:txBody>
      </p:sp>
      <p:sp>
        <p:nvSpPr>
          <p:cNvPr id="27" name="Text 24"/>
          <p:cNvSpPr/>
          <p:nvPr/>
        </p:nvSpPr>
        <p:spPr>
          <a:xfrm>
            <a:off x="1115568"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1000" dirty="0"/>
          </a:p>
        </p:txBody>
      </p:sp>
      <p:sp>
        <p:nvSpPr>
          <p:cNvPr id="28" name="Shape 25"/>
          <p:cNvSpPr/>
          <p:nvPr/>
        </p:nvSpPr>
        <p:spPr>
          <a:xfrm>
            <a:off x="4450994"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9" name="Shape 26"/>
          <p:cNvSpPr/>
          <p:nvPr/>
        </p:nvSpPr>
        <p:spPr>
          <a:xfrm>
            <a:off x="4542434" y="2990088"/>
            <a:ext cx="64008" cy="2386584"/>
          </a:xfrm>
          <a:prstGeom prst="roundRect">
            <a:avLst>
              <a:gd name="adj" fmla="val 42857"/>
            </a:avLst>
          </a:prstGeom>
          <a:solidFill>
            <a:srgbClr val="00B341"/>
          </a:solidFill>
          <a:ln/>
        </p:spPr>
      </p:sp>
      <p:pic>
        <p:nvPicPr>
          <p:cNvPr id="30" name="Image 1" descr="gateway icon">    </p:cNvPr>
          <p:cNvPicPr>
            <a:picLocks noChangeAspect="1"/>
          </p:cNvPicPr>
          <p:nvPr/>
        </p:nvPicPr>
        <p:blipFill>
          <a:blip r:embed="rId2"/>
          <a:stretch>
            <a:fillRect/>
          </a:stretch>
        </p:blipFill>
        <p:spPr>
          <a:xfrm>
            <a:off x="4725314" y="3099816"/>
            <a:ext cx="438912" cy="438912"/>
          </a:xfrm>
          <a:prstGeom prst="rect">
            <a:avLst/>
          </a:prstGeom>
        </p:spPr>
      </p:pic>
      <p:sp>
        <p:nvSpPr>
          <p:cNvPr id="31" name="Text 27"/>
          <p:cNvSpPr/>
          <p:nvPr/>
        </p:nvSpPr>
        <p:spPr>
          <a:xfrm>
            <a:off x="5292242"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aws-data — 리소스 질의 섹션</a:t>
            </a:r>
            <a:endParaRPr lang="en-US" sz="1250" dirty="0"/>
          </a:p>
        </p:txBody>
      </p:sp>
      <p:sp>
        <p:nvSpPr>
          <p:cNvPr id="32" name="Text 28"/>
          <p:cNvSpPr/>
          <p:nvPr/>
        </p:nvSpPr>
        <p:spPr>
          <a:xfrm>
            <a:off x="4725314"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1000" dirty="0"/>
          </a:p>
        </p:txBody>
      </p:sp>
      <p:sp>
        <p:nvSpPr>
          <p:cNvPr id="33" name="Shape 29"/>
          <p:cNvSpPr/>
          <p:nvPr/>
        </p:nvSpPr>
        <p:spPr>
          <a:xfrm>
            <a:off x="8060741"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34" name="Shape 30"/>
          <p:cNvSpPr/>
          <p:nvPr/>
        </p:nvSpPr>
        <p:spPr>
          <a:xfrm>
            <a:off x="8152181" y="2990088"/>
            <a:ext cx="64008" cy="2386584"/>
          </a:xfrm>
          <a:prstGeom prst="roundRect">
            <a:avLst>
              <a:gd name="adj" fmla="val 42857"/>
            </a:avLst>
          </a:prstGeom>
          <a:solidFill>
            <a:srgbClr val="E91E63"/>
          </a:solidFill>
          <a:ln/>
        </p:spPr>
      </p:sp>
      <p:pic>
        <p:nvPicPr>
          <p:cNvPr id="35" name="Image 2" descr="memory icon">    </p:cNvPr>
          <p:cNvPicPr>
            <a:picLocks noChangeAspect="1"/>
          </p:cNvPicPr>
          <p:nvPr/>
        </p:nvPicPr>
        <p:blipFill>
          <a:blip r:embed="rId3"/>
          <a:stretch>
            <a:fillRect/>
          </a:stretch>
        </p:blipFill>
        <p:spPr>
          <a:xfrm>
            <a:off x="8335061" y="3099816"/>
            <a:ext cx="438912" cy="438912"/>
          </a:xfrm>
          <a:prstGeom prst="rect">
            <a:avLst/>
          </a:prstGeom>
        </p:spPr>
      </p:pic>
      <p:sp>
        <p:nvSpPr>
          <p:cNvPr id="36" name="Text 31"/>
          <p:cNvSpPr/>
          <p:nvPr/>
        </p:nvSpPr>
        <p:spPr>
          <a:xfrm>
            <a:off x="8901989"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전문 섹션 6종 (자동 수집형 설계)</a:t>
            </a:r>
            <a:endParaRPr lang="en-US" sz="1250" dirty="0"/>
          </a:p>
        </p:txBody>
      </p:sp>
      <p:sp>
        <p:nvSpPr>
          <p:cNvPr id="37" name="Text 32"/>
          <p:cNvSpPr/>
          <p:nvPr/>
        </p:nvSpPr>
        <p:spPr>
          <a:xfrm>
            <a:off x="8335061"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 현재는 설계 원칙(ADR-001/010)에 따라 비활성, 표준 라우팅으로 대응. 총 16개 챗 섹션 구성</a:t>
            </a:r>
            <a:endParaRPr lang="en-US" sz="1000" dirty="0"/>
          </a:p>
        </p:txBody>
      </p:sp>
      <p:sp>
        <p:nvSpPr>
          <p:cNvPr id="38" name="Shape 33"/>
          <p:cNvSpPr/>
          <p:nvPr/>
        </p:nvSpPr>
        <p:spPr>
          <a:xfrm>
            <a:off x="841248" y="5687568"/>
            <a:ext cx="10509199" cy="0"/>
          </a:xfrm>
          <a:prstGeom prst="line">
            <a:avLst/>
          </a:prstGeom>
          <a:noFill/>
          <a:ln w="12700">
            <a:solidFill>
              <a:srgbClr val="D2D2D5"/>
            </a:solidFill>
            <a:prstDash val="solid"/>
          </a:ln>
        </p:spPr>
      </p:sp>
      <p:sp>
        <p:nvSpPr>
          <p:cNvPr id="39" name="Text 3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40" name="Text 3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AgentCore 게이트웨이 (MCP 도구)</a:t>
            </a:r>
            <a:endParaRPr lang="en-US" sz="900" dirty="0"/>
          </a:p>
        </p:txBody>
      </p:sp>
      <p:sp>
        <p:nvSpPr>
          <p:cNvPr id="41" name="Text 3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42" name="Text 3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챗 섹션 키 (게이트웨이 9 + 로컬 7)</a:t>
            </a:r>
            <a:endParaRPr lang="en-US" sz="900" dirty="0"/>
          </a:p>
        </p:txBody>
      </p:sp>
      <p:sp>
        <p:nvSpPr>
          <p:cNvPr id="43" name="Text 3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a:t>
            </a:r>
            <a:endParaRPr lang="en-US" sz="1600" dirty="0"/>
          </a:p>
        </p:txBody>
      </p:sp>
      <p:sp>
        <p:nvSpPr>
          <p:cNvPr id="44" name="Text 3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모델 티어 (상위·표준·경량)</a:t>
            </a:r>
            <a:endParaRPr lang="en-US" sz="900" dirty="0"/>
          </a:p>
        </p:txBody>
      </p:sp>
      <p:sp>
        <p:nvSpPr>
          <p:cNvPr id="45" name="Text 4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in-account</a:t>
            </a:r>
            <a:endParaRPr lang="en-US" sz="1600" dirty="0"/>
          </a:p>
        </p:txBody>
      </p:sp>
      <p:sp>
        <p:nvSpPr>
          <p:cNvPr id="46" name="Text 4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계정 내 AI 호출 — 외부 AI SaaS 없음</a:t>
            </a:r>
            <a:endParaRPr lang="en-US" sz="900" dirty="0"/>
          </a:p>
        </p:txBody>
      </p:sp>
      <p:sp>
        <p:nvSpPr>
          <p:cNvPr id="47" name="Text 4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8" name="Image 3" descr="AWS logo">    </p:cNvPr>
          <p:cNvPicPr>
            <a:picLocks noChangeAspect="1"/>
          </p:cNvPicPr>
          <p:nvPr/>
        </p:nvPicPr>
        <p:blipFill>
          <a:blip r:embed="rId4"/>
          <a:stretch>
            <a:fillRect/>
          </a:stretch>
        </p:blipFill>
        <p:spPr>
          <a:xfrm>
            <a:off x="10561320" y="6364224"/>
            <a:ext cx="396561" cy="237744"/>
          </a:xfrm>
          <a:prstGeom prst="rect">
            <a:avLst/>
          </a:prstGeom>
        </p:spPr>
      </p:pic>
      <p:sp>
        <p:nvSpPr>
          <p:cNvPr id="49" name="Text 4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무거운 진단이 화면을 죽이지 않는다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400" dirty="0"/>
          </a:p>
        </p:txBody>
      </p:sp>
      <p:sp>
        <p:nvSpPr>
          <p:cNvPr id="4" name="Shape 2"/>
          <p:cNvSpPr/>
          <p:nvPr/>
        </p:nvSpPr>
        <p:spPr>
          <a:xfrm>
            <a:off x="841248" y="1828800"/>
            <a:ext cx="1794601" cy="960120"/>
          </a:xfrm>
          <a:prstGeom prst="roundRect">
            <a:avLst>
              <a:gd name="adj" fmla="val 7619"/>
            </a:avLst>
          </a:prstGeom>
          <a:solidFill>
            <a:srgbClr val="FFFFFF"/>
          </a:solidFill>
          <a:ln w="15875">
            <a:solidFill>
              <a:srgbClr val="00B341"/>
            </a:solidFill>
            <a:prstDash val="solid"/>
          </a:ln>
        </p:spPr>
      </p:sp>
      <p:sp>
        <p:nvSpPr>
          <p:cNvPr id="5" name="Text 3"/>
          <p:cNvSpPr/>
          <p:nvPr/>
        </p:nvSpPr>
        <p:spPr>
          <a:xfrm>
            <a:off x="896112"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웹 BFF</a:t>
            </a:r>
            <a:endParaRPr lang="en-US" sz="1100" dirty="0"/>
          </a:p>
        </p:txBody>
      </p:sp>
      <p:sp>
        <p:nvSpPr>
          <p:cNvPr id="6" name="Text 4"/>
          <p:cNvSpPr/>
          <p:nvPr/>
        </p:nvSpPr>
        <p:spPr>
          <a:xfrm>
            <a:off x="896112"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작업 접수 즉시 응답</a:t>
            </a:r>
            <a:endParaRPr lang="en-US" sz="850" dirty="0"/>
          </a:p>
        </p:txBody>
      </p:sp>
      <p:sp>
        <p:nvSpPr>
          <p:cNvPr id="7" name="Shape 5"/>
          <p:cNvSpPr/>
          <p:nvPr/>
        </p:nvSpPr>
        <p:spPr>
          <a:xfrm>
            <a:off x="2699857" y="2304288"/>
            <a:ext cx="256032" cy="0"/>
          </a:xfrm>
          <a:prstGeom prst="line">
            <a:avLst/>
          </a:prstGeom>
          <a:noFill/>
          <a:ln w="22225">
            <a:solidFill>
              <a:srgbClr val="6B7280"/>
            </a:solidFill>
            <a:prstDash val="solid"/>
            <a:tailEnd type="triangle"/>
          </a:ln>
        </p:spPr>
      </p:sp>
      <p:sp>
        <p:nvSpPr>
          <p:cNvPr id="8" name="Shape 6"/>
          <p:cNvSpPr/>
          <p:nvPr/>
        </p:nvSpPr>
        <p:spPr>
          <a:xfrm>
            <a:off x="3019897" y="1828800"/>
            <a:ext cx="1794601"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07476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SQS</a:t>
            </a:r>
            <a:endParaRPr lang="en-US" sz="1100" dirty="0"/>
          </a:p>
        </p:txBody>
      </p:sp>
      <p:sp>
        <p:nvSpPr>
          <p:cNvPr id="10" name="Text 8"/>
          <p:cNvSpPr/>
          <p:nvPr/>
        </p:nvSpPr>
        <p:spPr>
          <a:xfrm>
            <a:off x="307476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큐잉 + 킬스위치</a:t>
            </a:r>
            <a:endParaRPr lang="en-US" sz="850" dirty="0"/>
          </a:p>
        </p:txBody>
      </p:sp>
      <p:sp>
        <p:nvSpPr>
          <p:cNvPr id="11" name="Shape 9"/>
          <p:cNvSpPr/>
          <p:nvPr/>
        </p:nvSpPr>
        <p:spPr>
          <a:xfrm>
            <a:off x="4878507" y="2304288"/>
            <a:ext cx="256032" cy="0"/>
          </a:xfrm>
          <a:prstGeom prst="line">
            <a:avLst/>
          </a:prstGeom>
          <a:noFill/>
          <a:ln w="22225">
            <a:solidFill>
              <a:srgbClr val="6B7280"/>
            </a:solidFill>
            <a:prstDash val="solid"/>
            <a:tailEnd type="triangle"/>
          </a:ln>
        </p:spPr>
      </p:sp>
      <p:sp>
        <p:nvSpPr>
          <p:cNvPr id="12" name="Shape 10"/>
          <p:cNvSpPr/>
          <p:nvPr/>
        </p:nvSpPr>
        <p:spPr>
          <a:xfrm>
            <a:off x="5198547" y="1828800"/>
            <a:ext cx="1794601"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525341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Dispatcher</a:t>
            </a:r>
            <a:endParaRPr lang="en-US" sz="1100" dirty="0"/>
          </a:p>
        </p:txBody>
      </p:sp>
      <p:sp>
        <p:nvSpPr>
          <p:cNvPr id="14" name="Text 12"/>
          <p:cNvSpPr/>
          <p:nvPr/>
        </p:nvSpPr>
        <p:spPr>
          <a:xfrm>
            <a:off x="525341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멱등 디스패치</a:t>
            </a:r>
            <a:endParaRPr lang="en-US" sz="850" dirty="0"/>
          </a:p>
        </p:txBody>
      </p:sp>
      <p:sp>
        <p:nvSpPr>
          <p:cNvPr id="15" name="Shape 13"/>
          <p:cNvSpPr/>
          <p:nvPr/>
        </p:nvSpPr>
        <p:spPr>
          <a:xfrm>
            <a:off x="7057156" y="2304288"/>
            <a:ext cx="256032" cy="0"/>
          </a:xfrm>
          <a:prstGeom prst="line">
            <a:avLst/>
          </a:prstGeom>
          <a:noFill/>
          <a:ln w="22225">
            <a:solidFill>
              <a:srgbClr val="6B7280"/>
            </a:solidFill>
            <a:prstDash val="solid"/>
            <a:tailEnd type="triangle"/>
          </a:ln>
        </p:spPr>
      </p:sp>
      <p:sp>
        <p:nvSpPr>
          <p:cNvPr id="16" name="Shape 14"/>
          <p:cNvSpPr/>
          <p:nvPr/>
        </p:nvSpPr>
        <p:spPr>
          <a:xfrm>
            <a:off x="7377196" y="1828800"/>
            <a:ext cx="1794601" cy="960120"/>
          </a:xfrm>
          <a:prstGeom prst="roundRect">
            <a:avLst>
              <a:gd name="adj" fmla="val 7619"/>
            </a:avLst>
          </a:prstGeom>
          <a:solidFill>
            <a:srgbClr val="F2EEFF"/>
          </a:solidFill>
          <a:ln w="15875">
            <a:solidFill>
              <a:srgbClr val="8B5CF6"/>
            </a:solidFill>
            <a:prstDash val="solid"/>
          </a:ln>
        </p:spPr>
      </p:sp>
      <p:sp>
        <p:nvSpPr>
          <p:cNvPr id="17" name="Text 15"/>
          <p:cNvSpPr/>
          <p:nvPr/>
        </p:nvSpPr>
        <p:spPr>
          <a:xfrm>
            <a:off x="743206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Step Functions</a:t>
            </a:r>
            <a:endParaRPr lang="en-US" sz="1100" dirty="0"/>
          </a:p>
        </p:txBody>
      </p:sp>
      <p:sp>
        <p:nvSpPr>
          <p:cNvPr id="18" name="Text 16"/>
          <p:cNvSpPr/>
          <p:nvPr/>
        </p:nvSpPr>
        <p:spPr>
          <a:xfrm>
            <a:off x="743206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런타임 선택 분기</a:t>
            </a:r>
            <a:endParaRPr lang="en-US" sz="850" dirty="0"/>
          </a:p>
        </p:txBody>
      </p:sp>
      <p:sp>
        <p:nvSpPr>
          <p:cNvPr id="19" name="Shape 17"/>
          <p:cNvSpPr/>
          <p:nvPr/>
        </p:nvSpPr>
        <p:spPr>
          <a:xfrm>
            <a:off x="9235806" y="2304288"/>
            <a:ext cx="256032" cy="0"/>
          </a:xfrm>
          <a:prstGeom prst="line">
            <a:avLst/>
          </a:prstGeom>
          <a:noFill/>
          <a:ln w="22225">
            <a:solidFill>
              <a:srgbClr val="6B7280"/>
            </a:solidFill>
            <a:prstDash val="solid"/>
            <a:tailEnd type="triangle"/>
          </a:ln>
        </p:spPr>
      </p:sp>
      <p:sp>
        <p:nvSpPr>
          <p:cNvPr id="20" name="Shape 18"/>
          <p:cNvSpPr/>
          <p:nvPr/>
        </p:nvSpPr>
        <p:spPr>
          <a:xfrm>
            <a:off x="9555846" y="1828800"/>
            <a:ext cx="1794601" cy="960120"/>
          </a:xfrm>
          <a:prstGeom prst="roundRect">
            <a:avLst>
              <a:gd name="adj" fmla="val 7619"/>
            </a:avLst>
          </a:prstGeom>
          <a:solidFill>
            <a:srgbClr val="FFFFFF"/>
          </a:solidFill>
          <a:ln w="15875">
            <a:solidFill>
              <a:srgbClr val="E91E63"/>
            </a:solidFill>
            <a:prstDash val="solid"/>
          </a:ln>
        </p:spPr>
      </p:sp>
      <p:sp>
        <p:nvSpPr>
          <p:cNvPr id="21" name="Text 19"/>
          <p:cNvSpPr/>
          <p:nvPr/>
        </p:nvSpPr>
        <p:spPr>
          <a:xfrm>
            <a:off x="961071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Lambda / Fargate</a:t>
            </a:r>
            <a:endParaRPr lang="en-US" sz="1100" dirty="0"/>
          </a:p>
        </p:txBody>
      </p:sp>
      <p:sp>
        <p:nvSpPr>
          <p:cNvPr id="22" name="Text 20"/>
          <p:cNvSpPr/>
          <p:nvPr/>
        </p:nvSpPr>
        <p:spPr>
          <a:xfrm>
            <a:off x="961071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짧은 작업 / 긴·무거운 작업</a:t>
            </a:r>
            <a:endParaRPr lang="en-US" sz="850" dirty="0"/>
          </a:p>
        </p:txBody>
      </p:sp>
      <p:sp>
        <p:nvSpPr>
          <p:cNvPr id="23" name="Shape 21"/>
          <p:cNvSpPr/>
          <p:nvPr/>
        </p:nvSpPr>
        <p:spPr>
          <a:xfrm>
            <a:off x="859536" y="3255264"/>
            <a:ext cx="128016" cy="128016"/>
          </a:xfrm>
          <a:prstGeom prst="ellipse">
            <a:avLst/>
          </a:prstGeom>
          <a:solidFill>
            <a:srgbClr val="E91E63"/>
          </a:solidFill>
          <a:ln/>
        </p:spPr>
      </p:sp>
      <p:sp>
        <p:nvSpPr>
          <p:cNvPr id="24" name="Text 22"/>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장애 격리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200" dirty="0"/>
          </a:p>
        </p:txBody>
      </p:sp>
      <p:sp>
        <p:nvSpPr>
          <p:cNvPr id="25" name="Shape 23"/>
          <p:cNvSpPr/>
          <p:nvPr/>
        </p:nvSpPr>
        <p:spPr>
          <a:xfrm>
            <a:off x="859536" y="4032504"/>
            <a:ext cx="128016" cy="128016"/>
          </a:xfrm>
          <a:prstGeom prst="ellipse">
            <a:avLst/>
          </a:prstGeom>
          <a:solidFill>
            <a:srgbClr val="E91E63"/>
          </a:solidFill>
          <a:ln/>
        </p:spPr>
      </p:sp>
      <p:sp>
        <p:nvSpPr>
          <p:cNvPr id="26" name="Text 24"/>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끝까지 정합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200" dirty="0"/>
          </a:p>
        </p:txBody>
      </p:sp>
      <p:sp>
        <p:nvSpPr>
          <p:cNvPr id="27" name="Shape 25"/>
          <p:cNvSpPr/>
          <p:nvPr/>
        </p:nvSpPr>
        <p:spPr>
          <a:xfrm>
            <a:off x="859536" y="4809744"/>
            <a:ext cx="128016" cy="128016"/>
          </a:xfrm>
          <a:prstGeom prst="ellipse">
            <a:avLst/>
          </a:prstGeom>
          <a:solidFill>
            <a:srgbClr val="E91E63"/>
          </a:solidFill>
          <a:ln/>
        </p:spPr>
      </p:sp>
      <p:sp>
        <p:nvSpPr>
          <p:cNvPr id="28" name="Text 26"/>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이중 런타임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2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reaper 상태 정합화 주기</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진단 리포트 섹션 수 (의도 대비 실제 포함)</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장애의 웹 가용성 영향</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읽기 전용은 제약이 아니라 신뢰다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400" dirty="0"/>
          </a:p>
        </p:txBody>
      </p:sp>
      <p:sp>
        <p:nvSpPr>
          <p:cNvPr id="4" name="Shape 2"/>
          <p:cNvSpPr/>
          <p:nvPr/>
        </p:nvSpPr>
        <p:spPr>
          <a:xfrm>
            <a:off x="841248"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2112264"/>
          </a:xfrm>
          <a:prstGeom prst="roundRect">
            <a:avLst>
              <a:gd name="adj" fmla="val 42857"/>
            </a:avLst>
          </a:prstGeom>
          <a:solidFill>
            <a:srgbClr val="8B5CF6"/>
          </a:solidFill>
          <a:ln/>
        </p:spPr>
      </p:sp>
      <p:sp>
        <p:nvSpPr>
          <p:cNvPr id="6" name="Text 4"/>
          <p:cNvSpPr/>
          <p:nvPr/>
        </p:nvSpPr>
        <p:spPr>
          <a:xfrm>
            <a:off x="1115568"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거버넌스로 동결</a:t>
            </a:r>
            <a:endParaRPr lang="en-US" sz="1350" dirty="0"/>
          </a:p>
        </p:txBody>
      </p:sp>
      <p:sp>
        <p:nvSpPr>
          <p:cNvPr id="7" name="Text 5"/>
          <p:cNvSpPr/>
          <p:nvPr/>
        </p:nvSpPr>
        <p:spPr>
          <a:xfrm>
            <a:off x="1115568"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1000" dirty="0"/>
          </a:p>
        </p:txBody>
      </p:sp>
      <p:sp>
        <p:nvSpPr>
          <p:cNvPr id="8" name="Shape 6"/>
          <p:cNvSpPr/>
          <p:nvPr/>
        </p:nvSpPr>
        <p:spPr>
          <a:xfrm>
            <a:off x="4450994"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2112264"/>
          </a:xfrm>
          <a:prstGeom prst="roundRect">
            <a:avLst>
              <a:gd name="adj" fmla="val 42857"/>
            </a:avLst>
          </a:prstGeom>
          <a:solidFill>
            <a:srgbClr val="00B341"/>
          </a:solidFill>
          <a:ln/>
        </p:spPr>
      </p:sp>
      <p:sp>
        <p:nvSpPr>
          <p:cNvPr id="10" name="Text 8"/>
          <p:cNvSpPr/>
          <p:nvPr/>
        </p:nvSpPr>
        <p:spPr>
          <a:xfrm>
            <a:off x="4725314"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K8s는 읽기 verb만</a:t>
            </a:r>
            <a:endParaRPr lang="en-US" sz="1350" dirty="0"/>
          </a:p>
        </p:txBody>
      </p:sp>
      <p:sp>
        <p:nvSpPr>
          <p:cNvPr id="11" name="Text 9"/>
          <p:cNvSpPr/>
          <p:nvPr/>
        </p:nvSpPr>
        <p:spPr>
          <a:xfrm>
            <a:off x="4725314"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1000" dirty="0"/>
          </a:p>
        </p:txBody>
      </p:sp>
      <p:sp>
        <p:nvSpPr>
          <p:cNvPr id="12" name="Shape 10"/>
          <p:cNvSpPr/>
          <p:nvPr/>
        </p:nvSpPr>
        <p:spPr>
          <a:xfrm>
            <a:off x="8060741"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2112264"/>
          </a:xfrm>
          <a:prstGeom prst="roundRect">
            <a:avLst>
              <a:gd name="adj" fmla="val 42857"/>
            </a:avLst>
          </a:prstGeom>
          <a:solidFill>
            <a:srgbClr val="3B82F6"/>
          </a:solidFill>
          <a:ln/>
        </p:spPr>
      </p:sp>
      <p:sp>
        <p:nvSpPr>
          <p:cNvPr id="14" name="Text 12"/>
          <p:cNvSpPr/>
          <p:nvPr/>
        </p:nvSpPr>
        <p:spPr>
          <a:xfrm>
            <a:off x="8335061"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계정 연결 = 역할 1개</a:t>
            </a:r>
            <a:endParaRPr lang="en-US" sz="1350" dirty="0"/>
          </a:p>
        </p:txBody>
      </p:sp>
      <p:sp>
        <p:nvSpPr>
          <p:cNvPr id="15" name="Text 13"/>
          <p:cNvSpPr/>
          <p:nvPr/>
        </p:nvSpPr>
        <p:spPr>
          <a:xfrm>
            <a:off x="8335061"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1000" dirty="0"/>
          </a:p>
        </p:txBody>
      </p:sp>
      <p:sp>
        <p:nvSpPr>
          <p:cNvPr id="16" name="Shape 14"/>
          <p:cNvSpPr/>
          <p:nvPr/>
        </p:nvSpPr>
        <p:spPr>
          <a:xfrm>
            <a:off x="841248" y="4434840"/>
            <a:ext cx="10509199" cy="1005840"/>
          </a:xfrm>
          <a:prstGeom prst="roundRect">
            <a:avLst>
              <a:gd name="adj" fmla="val 9091"/>
            </a:avLst>
          </a:prstGeom>
          <a:solidFill>
            <a:srgbClr val="F2EEFF"/>
          </a:solidFill>
          <a:ln/>
        </p:spPr>
      </p:sp>
      <p:sp>
        <p:nvSpPr>
          <p:cNvPr id="17" name="Text 15"/>
          <p:cNvSpPr/>
          <p:nvPr/>
        </p:nvSpPr>
        <p:spPr>
          <a:xfrm>
            <a:off x="1161288" y="4544568"/>
            <a:ext cx="9869119" cy="786384"/>
          </a:xfrm>
          <a:prstGeom prst="rect">
            <a:avLst/>
          </a:prstGeom>
          <a:noFill/>
          <a:ln/>
        </p:spPr>
        <p:txBody>
          <a:bodyPr wrap="square" lIns="0" tIns="0" rIns="0" bIns="0" rtlCol="0" anchor="ctr"/>
          <a:lstStyle/>
          <a:p>
            <a:pPr indent="0" marL="0">
              <a:lnSpc>
                <a:spcPct val="125000"/>
              </a:lnSpc>
              <a:buNone/>
            </a:pPr>
            <a:r>
              <a:rPr lang="en-US" sz="1250" b="1" i="1" dirty="0">
                <a:solidFill>
                  <a:srgbClr val="161D26"/>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50" dirty="0"/>
          </a:p>
        </p:txBody>
      </p:sp>
      <p:sp>
        <p:nvSpPr>
          <p:cNvPr id="18" name="Shape 16"/>
          <p:cNvSpPr/>
          <p:nvPr/>
        </p:nvSpPr>
        <p:spPr>
          <a:xfrm>
            <a:off x="841248" y="5687568"/>
            <a:ext cx="10509199" cy="0"/>
          </a:xfrm>
          <a:prstGeom prst="line">
            <a:avLst/>
          </a:prstGeom>
          <a:noFill/>
          <a:ln w="12700">
            <a:solidFill>
              <a:srgbClr val="D2D2D5"/>
            </a:solidFill>
            <a:prstDash val="solid"/>
          </a:ln>
        </p:spPr>
      </p:sp>
      <p:sp>
        <p:nvSpPr>
          <p:cNvPr id="19"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20"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IAM 역할 (ReadOnly)</a:t>
            </a:r>
            <a:endParaRPr lang="en-US" sz="900" dirty="0"/>
          </a:p>
        </p:txBody>
      </p:sp>
      <p:sp>
        <p:nvSpPr>
          <p:cNvPr id="21"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get·list·watch</a:t>
            </a:r>
            <a:endParaRPr lang="en-US" sz="1600" dirty="0"/>
          </a:p>
        </p:txBody>
      </p:sp>
      <p:sp>
        <p:nvSpPr>
          <p:cNvPr id="22"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K8s에 발행하는 읽기 verb (BFF kind 허용목록)</a:t>
            </a:r>
            <a:endParaRPr lang="en-US" sz="900" dirty="0"/>
          </a:p>
        </p:txBody>
      </p:sp>
      <p:sp>
        <p:nvSpPr>
          <p:cNvPr id="23"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24"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문서화된 예외 — 자기 웹 재시작 (ADR-015 · 기본 off)</a:t>
            </a:r>
            <a:endParaRPr lang="en-US" sz="900" dirty="0"/>
          </a:p>
        </p:txBody>
      </p:sp>
      <p:sp>
        <p:nvSpPr>
          <p:cNvPr id="25"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근거 필수</a:t>
            </a:r>
            <a:endParaRPr lang="en-US" sz="1600" dirty="0"/>
          </a:p>
        </p:txBody>
      </p:sp>
      <p:sp>
        <p:nvSpPr>
          <p:cNvPr id="26"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발견마다 근거(소스) 첨부 — 프롬프트 강제 설계</a:t>
            </a:r>
            <a:endParaRPr lang="en-US" sz="900" dirty="0"/>
          </a:p>
        </p:txBody>
      </p:sp>
      <p:sp>
        <p:nvSpPr>
          <p:cNvPr id="27"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8"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9"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04</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핵심 가치 4</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페인과 1:1 대응</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계정이 열 개라도, 화면은 하나다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멀티계정 · 멀티리전 통합</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계정별 조회는 병렬 fan-out — 계정이 늘어도 대기 시간은 완만</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 추가는 ReadOnly 역할 등록 + 즉시 검증으로 수 분 내 완료</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41B3FF"/>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외부 관측 자산 연동 — 대체가 아니라 승격</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Prometheus · Mimir · Loki · Tempo · ClickHouse · Jaeger · Datadog · Dynatrace — 8종 read-only 등록 지원(라이브 라우팅은 Prometheus·ClickHouse 중심, 단계적 확대)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네이티브 쿼리 콘솔(PromQL·LogQL·SQL)로 등록 즉시 탐색 가능</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기존 대시보드는 그대로 — 그 위에 '조합하는 층'을 얹는 개념</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동시 조회 가능한 계정 스코프</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1클릭</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계정·리전 스코프 전환</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4개 언어</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UI 지원 — KO · EN · JA · ZH</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원인이 있는 화면까지, 세 걸음</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① 토폴로지에서 좁히고</a:t>
            </a:r>
            <a:endParaRPr lang="en-US" sz="1350" dirty="0"/>
          </a:p>
        </p:txBody>
      </p:sp>
      <p:sp>
        <p:nvSpPr>
          <p:cNvPr id="7" name="Text 5"/>
          <p:cNvSpPr/>
          <p:nvPr/>
        </p:nvSpPr>
        <p:spPr>
          <a:xfrm>
            <a:off x="1115568"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00B341"/>
          </a:solidFill>
          <a:ln/>
        </p:spPr>
      </p:sp>
      <p:sp>
        <p:nvSpPr>
          <p:cNvPr id="10" name="Text 8"/>
          <p:cNvSpPr/>
          <p:nvPr/>
        </p:nvSpPr>
        <p:spPr>
          <a:xfrm>
            <a:off x="4725314"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② 플로우로 확인하고</a:t>
            </a:r>
            <a:endParaRPr lang="en-US" sz="1350" dirty="0"/>
          </a:p>
        </p:txBody>
      </p:sp>
      <p:sp>
        <p:nvSpPr>
          <p:cNvPr id="11" name="Text 9"/>
          <p:cNvSpPr/>
          <p:nvPr/>
        </p:nvSpPr>
        <p:spPr>
          <a:xfrm>
            <a:off x="4725314"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8B5CF6"/>
          </a:solidFill>
          <a:ln/>
        </p:spPr>
      </p:sp>
      <p:sp>
        <p:nvSpPr>
          <p:cNvPr id="14" name="Text 12"/>
          <p:cNvSpPr/>
          <p:nvPr/>
        </p:nvSpPr>
        <p:spPr>
          <a:xfrm>
            <a:off x="8335061"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③ AI로 종합한다</a:t>
            </a:r>
            <a:endParaRPr lang="en-US" sz="1350" dirty="0"/>
          </a:p>
        </p:txBody>
      </p:sp>
      <p:sp>
        <p:nvSpPr>
          <p:cNvPr id="15" name="Text 13"/>
          <p:cNvSpPr/>
          <p:nvPr/>
        </p:nvSpPr>
        <p:spPr>
          <a:xfrm>
            <a:off x="8335061"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그래프에서 'AI에 질문'을 누르면 챗이 해당 리소스 컨텍스트를 물고 열림. 인시던트 질문에는 에이전트가 알람·변경 이력을 라이브 조회해 원인 후보를 서술 — 신호 조합을 AI가 대신</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활성 경고 → 조치 방법 도달</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E2E</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NAT·TGW 경유 포함 홉 경로 시각화</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 타깃 이름 실시간 해석</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질문을 받는 AI 섹션 수</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청구서는 결과만, 원인은 여기서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400" dirty="0"/>
          </a:p>
        </p:txBody>
      </p:sp>
      <p:sp>
        <p:nvSpPr>
          <p:cNvPr id="4" name="Shape 2"/>
          <p:cNvSpPr/>
          <p:nvPr/>
        </p:nvSpPr>
        <p:spPr>
          <a:xfrm>
            <a:off x="841248" y="1828800"/>
            <a:ext cx="2339264" cy="1188720"/>
          </a:xfrm>
          <a:prstGeom prst="roundRect">
            <a:avLst>
              <a:gd name="adj" fmla="val 6154"/>
            </a:avLst>
          </a:prstGeom>
          <a:solidFill>
            <a:srgbClr val="F2EEFF"/>
          </a:solidFill>
          <a:ln w="15875">
            <a:solidFill>
              <a:srgbClr val="8B5CF6"/>
            </a:solidFill>
            <a:prstDash val="solid"/>
          </a:ln>
        </p:spPr>
      </p:sp>
      <p:sp>
        <p:nvSpPr>
          <p:cNvPr id="5" name="Text 3"/>
          <p:cNvSpPr/>
          <p:nvPr/>
        </p:nvSpPr>
        <p:spPr>
          <a:xfrm>
            <a:off x="896112"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① 감지</a:t>
            </a:r>
            <a:endParaRPr lang="en-US" sz="1100" dirty="0"/>
          </a:p>
        </p:txBody>
      </p:sp>
      <p:sp>
        <p:nvSpPr>
          <p:cNvPr id="6" name="Text 4"/>
          <p:cNvSpPr/>
          <p:nvPr/>
        </p:nvSpPr>
        <p:spPr>
          <a:xfrm>
            <a:off x="896112"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전월 대비(MoM) 배지가 급증·급감을 먼저 포착</a:t>
            </a:r>
            <a:endParaRPr lang="en-US" sz="850" dirty="0"/>
          </a:p>
        </p:txBody>
      </p:sp>
      <p:sp>
        <p:nvSpPr>
          <p:cNvPr id="7" name="Shape 5"/>
          <p:cNvSpPr/>
          <p:nvPr/>
        </p:nvSpPr>
        <p:spPr>
          <a:xfrm>
            <a:off x="3244520" y="2423160"/>
            <a:ext cx="256032" cy="0"/>
          </a:xfrm>
          <a:prstGeom prst="line">
            <a:avLst/>
          </a:prstGeom>
          <a:noFill/>
          <a:ln w="22225">
            <a:solidFill>
              <a:srgbClr val="6B7280"/>
            </a:solidFill>
            <a:prstDash val="solid"/>
            <a:tailEnd type="triangle"/>
          </a:ln>
        </p:spPr>
      </p:sp>
      <p:sp>
        <p:nvSpPr>
          <p:cNvPr id="8" name="Shape 6"/>
          <p:cNvSpPr/>
          <p:nvPr/>
        </p:nvSpPr>
        <p:spPr>
          <a:xfrm>
            <a:off x="3564560" y="1828800"/>
            <a:ext cx="2339264" cy="1188720"/>
          </a:xfrm>
          <a:prstGeom prst="roundRect">
            <a:avLst>
              <a:gd name="adj" fmla="val 6154"/>
            </a:avLst>
          </a:prstGeom>
          <a:solidFill>
            <a:srgbClr val="FFFFFF"/>
          </a:solidFill>
          <a:ln w="15875">
            <a:solidFill>
              <a:srgbClr val="3B82F6"/>
            </a:solidFill>
            <a:prstDash val="solid"/>
          </a:ln>
        </p:spPr>
      </p:sp>
      <p:sp>
        <p:nvSpPr>
          <p:cNvPr id="9" name="Text 7"/>
          <p:cNvSpPr/>
          <p:nvPr/>
        </p:nvSpPr>
        <p:spPr>
          <a:xfrm>
            <a:off x="3619424"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② 지목</a:t>
            </a:r>
            <a:endParaRPr lang="en-US" sz="1100" dirty="0"/>
          </a:p>
        </p:txBody>
      </p:sp>
      <p:sp>
        <p:nvSpPr>
          <p:cNvPr id="10" name="Text 8"/>
          <p:cNvSpPr/>
          <p:nvPr/>
        </p:nvSpPr>
        <p:spPr>
          <a:xfrm>
            <a:off x="3619424"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서비스별 변화율 정렬로 '무엇이' 올랐는지</a:t>
            </a:r>
            <a:endParaRPr lang="en-US" sz="850" dirty="0"/>
          </a:p>
        </p:txBody>
      </p:sp>
      <p:sp>
        <p:nvSpPr>
          <p:cNvPr id="11" name="Shape 9"/>
          <p:cNvSpPr/>
          <p:nvPr/>
        </p:nvSpPr>
        <p:spPr>
          <a:xfrm>
            <a:off x="5967832" y="2423160"/>
            <a:ext cx="256032" cy="0"/>
          </a:xfrm>
          <a:prstGeom prst="line">
            <a:avLst/>
          </a:prstGeom>
          <a:noFill/>
          <a:ln w="22225">
            <a:solidFill>
              <a:srgbClr val="6B7280"/>
            </a:solidFill>
            <a:prstDash val="solid"/>
            <a:tailEnd type="triangle"/>
          </a:ln>
        </p:spPr>
      </p:sp>
      <p:sp>
        <p:nvSpPr>
          <p:cNvPr id="12" name="Shape 10"/>
          <p:cNvSpPr/>
          <p:nvPr/>
        </p:nvSpPr>
        <p:spPr>
          <a:xfrm>
            <a:off x="6287872" y="1828800"/>
            <a:ext cx="2339264" cy="1188720"/>
          </a:xfrm>
          <a:prstGeom prst="roundRect">
            <a:avLst>
              <a:gd name="adj" fmla="val 6154"/>
            </a:avLst>
          </a:prstGeom>
          <a:solidFill>
            <a:srgbClr val="FFFFFF"/>
          </a:solidFill>
          <a:ln w="15875">
            <a:solidFill>
              <a:srgbClr val="3B82F6"/>
            </a:solidFill>
            <a:prstDash val="solid"/>
          </a:ln>
        </p:spPr>
      </p:sp>
      <p:sp>
        <p:nvSpPr>
          <p:cNvPr id="13" name="Text 11"/>
          <p:cNvSpPr/>
          <p:nvPr/>
        </p:nvSpPr>
        <p:spPr>
          <a:xfrm>
            <a:off x="6342736"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③ 원인</a:t>
            </a:r>
            <a:endParaRPr lang="en-US" sz="1100" dirty="0"/>
          </a:p>
        </p:txBody>
      </p:sp>
      <p:sp>
        <p:nvSpPr>
          <p:cNvPr id="14" name="Text 12"/>
          <p:cNvSpPr/>
          <p:nvPr/>
        </p:nvSpPr>
        <p:spPr>
          <a:xfrm>
            <a:off x="6342736"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usage-type 드릴다운 — '어떤 사용'이 올랐는지</a:t>
            </a:r>
            <a:endParaRPr lang="en-US" sz="850" dirty="0"/>
          </a:p>
        </p:txBody>
      </p:sp>
      <p:sp>
        <p:nvSpPr>
          <p:cNvPr id="15" name="Shape 13"/>
          <p:cNvSpPr/>
          <p:nvPr/>
        </p:nvSpPr>
        <p:spPr>
          <a:xfrm>
            <a:off x="8691143" y="2423160"/>
            <a:ext cx="256032" cy="0"/>
          </a:xfrm>
          <a:prstGeom prst="line">
            <a:avLst/>
          </a:prstGeom>
          <a:noFill/>
          <a:ln w="22225">
            <a:solidFill>
              <a:srgbClr val="6B7280"/>
            </a:solidFill>
            <a:prstDash val="solid"/>
            <a:tailEnd type="triangle"/>
          </a:ln>
        </p:spPr>
      </p:sp>
      <p:sp>
        <p:nvSpPr>
          <p:cNvPr id="16" name="Shape 14"/>
          <p:cNvSpPr/>
          <p:nvPr/>
        </p:nvSpPr>
        <p:spPr>
          <a:xfrm>
            <a:off x="9011183" y="1828800"/>
            <a:ext cx="2339264" cy="1188720"/>
          </a:xfrm>
          <a:prstGeom prst="roundRect">
            <a:avLst>
              <a:gd name="adj" fmla="val 6154"/>
            </a:avLst>
          </a:prstGeom>
          <a:solidFill>
            <a:srgbClr val="FFFFFF"/>
          </a:solidFill>
          <a:ln w="15875">
            <a:solidFill>
              <a:srgbClr val="00B341"/>
            </a:solidFill>
            <a:prstDash val="solid"/>
          </a:ln>
        </p:spPr>
      </p:sp>
      <p:sp>
        <p:nvSpPr>
          <p:cNvPr id="17" name="Text 15"/>
          <p:cNvSpPr/>
          <p:nvPr/>
        </p:nvSpPr>
        <p:spPr>
          <a:xfrm>
            <a:off x="9066047"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④ 절감</a:t>
            </a:r>
            <a:endParaRPr lang="en-US" sz="1100" dirty="0"/>
          </a:p>
        </p:txBody>
      </p:sp>
      <p:sp>
        <p:nvSpPr>
          <p:cNvPr id="18" name="Text 16"/>
          <p:cNvSpPr/>
          <p:nvPr/>
        </p:nvSpPr>
        <p:spPr>
          <a:xfrm>
            <a:off x="9066047"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AI 비용 섹션이 절감 후보를 금액 추정과 함께 서술</a:t>
            </a:r>
            <a:endParaRPr lang="en-US" sz="850" dirty="0"/>
          </a:p>
        </p:txBody>
      </p:sp>
      <p:sp>
        <p:nvSpPr>
          <p:cNvPr id="19" name="Shape 17"/>
          <p:cNvSpPr/>
          <p:nvPr/>
        </p:nvSpPr>
        <p:spPr>
          <a:xfrm>
            <a:off x="841248" y="3383280"/>
            <a:ext cx="10509199" cy="1874520"/>
          </a:xfrm>
          <a:prstGeom prst="roundRect">
            <a:avLst>
              <a:gd name="adj" fmla="val 4878"/>
            </a:avLst>
          </a:prstGeom>
          <a:solidFill>
            <a:srgbClr val="F4F4F8"/>
          </a:solidFill>
          <a:ln/>
          <a:effectLst>
            <a:outerShdw sx="100000" sy="100000" kx="0" ky="0" algn="bl" rotWithShape="0" blurRad="127000" dist="38100" dir="5400000">
              <a:srgbClr val="9AA0B0">
                <a:alpha val="18000"/>
              </a:srgbClr>
            </a:outerShdw>
          </a:effectLst>
        </p:spPr>
      </p:sp>
      <p:sp>
        <p:nvSpPr>
          <p:cNvPr id="20" name="Text 18"/>
          <p:cNvSpPr/>
          <p:nvPr/>
        </p:nvSpPr>
        <p:spPr>
          <a:xfrm>
            <a:off x="1115568" y="3584448"/>
            <a:ext cx="9960559" cy="1536192"/>
          </a:xfrm>
          <a:prstGeom prst="rect">
            <a:avLst/>
          </a:prstGeom>
          <a:noFill/>
          <a:ln/>
        </p:spPr>
        <p:txBody>
          <a:bodyPr wrap="square" lIns="0" tIns="0" rIns="0" bIns="0" rtlCol="0" anchor="t"/>
          <a:lstStyle/>
          <a:p>
            <a:pPr indent="0" marL="0">
              <a:lnSpc>
                <a:spcPct val="130000"/>
              </a:lnSpc>
              <a:buNone/>
            </a:pPr>
            <a:r>
              <a:rPr lang="en-US" sz="1300" b="1" dirty="0">
                <a:solidFill>
                  <a:srgbClr val="161D26"/>
                </a:solidFill>
                <a:latin typeface="Pretendard" pitchFamily="34" charset="0"/>
                <a:ea typeface="Pretendard" pitchFamily="34" charset="-122"/>
                <a:cs typeface="Pretendard" pitchFamily="34" charset="-120"/>
              </a:rPr>
              <a:t>컨테이너 안까지 내려가는 비용 분해
</a:t>
            </a:r>
            <a:endParaRPr lang="en-US" sz="1300" dirty="0"/>
          </a:p>
          <a:p>
            <a:pPr indent="0" marL="0">
              <a:lnSpc>
                <a:spcPct val="130000"/>
              </a:lnSpc>
              <a:buNone/>
            </a:pPr>
            <a:r>
              <a:rPr lang="en-US" sz="1150" dirty="0">
                <a:solidFill>
                  <a:srgbClr val="3F4858"/>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300" dirty="0"/>
          </a:p>
        </p:txBody>
      </p:sp>
      <p:sp>
        <p:nvSpPr>
          <p:cNvPr id="21" name="Shape 19"/>
          <p:cNvSpPr/>
          <p:nvPr/>
        </p:nvSpPr>
        <p:spPr>
          <a:xfrm>
            <a:off x="841248" y="5687568"/>
            <a:ext cx="10509199" cy="0"/>
          </a:xfrm>
          <a:prstGeom prst="line">
            <a:avLst/>
          </a:prstGeom>
          <a:noFill/>
          <a:ln w="12700">
            <a:solidFill>
              <a:srgbClr val="D2D2D5"/>
            </a:solidFill>
            <a:prstDash val="solid"/>
          </a:ln>
        </p:spPr>
      </p:sp>
      <p:sp>
        <p:nvSpPr>
          <p:cNvPr id="22" name="Text 20"/>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MoM</a:t>
            </a:r>
            <a:endParaRPr lang="en-US" sz="1600" dirty="0"/>
          </a:p>
        </p:txBody>
      </p:sp>
      <p:sp>
        <p:nvSpPr>
          <p:cNvPr id="23" name="Text 21"/>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전월 대비 + 일평균 변화 상시 감시</a:t>
            </a:r>
            <a:endParaRPr lang="en-US" sz="900" dirty="0"/>
          </a:p>
        </p:txBody>
      </p:sp>
      <p:sp>
        <p:nvSpPr>
          <p:cNvPr id="24" name="Text 22"/>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usage-type</a:t>
            </a:r>
            <a:endParaRPr lang="en-US" sz="1600" dirty="0"/>
          </a:p>
        </p:txBody>
      </p:sp>
      <p:sp>
        <p:nvSpPr>
          <p:cNvPr id="25" name="Text 23"/>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드릴다운 최하위 원인 단위</a:t>
            </a:r>
            <a:endParaRPr lang="en-US" sz="900" dirty="0"/>
          </a:p>
        </p:txBody>
      </p:sp>
      <p:sp>
        <p:nvSpPr>
          <p:cNvPr id="26" name="Text 24"/>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pod 단위</a:t>
            </a:r>
            <a:endParaRPr lang="en-US" sz="1600" dirty="0"/>
          </a:p>
        </p:txBody>
      </p:sp>
      <p:sp>
        <p:nvSpPr>
          <p:cNvPr id="27" name="Text 25"/>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OpenCost 기반 K8s 비용 분해</a:t>
            </a:r>
            <a:endParaRPr lang="en-US" sz="900" dirty="0"/>
          </a:p>
        </p:txBody>
      </p:sp>
      <p:sp>
        <p:nvSpPr>
          <p:cNvPr id="28" name="Text 26"/>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 추정</a:t>
            </a:r>
            <a:endParaRPr lang="en-US" sz="1600" dirty="0"/>
          </a:p>
        </p:txBody>
      </p:sp>
      <p:sp>
        <p:nvSpPr>
          <p:cNvPr id="29" name="Text 27"/>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절감 제안의 금액 첨부</a:t>
            </a:r>
            <a:endParaRPr lang="en-US" sz="900" dirty="0"/>
          </a:p>
        </p:txBody>
      </p:sp>
      <p:sp>
        <p:nvSpPr>
          <p:cNvPr id="30" name="Text 28"/>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2" name="Text 29"/>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Well-Architected 리뷰를, 자동 반복으로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6기둥 건강 점수·심각도·공수·절감액을 담은 15+1섹션 AI 진단 리포트</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8B5C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리포트가 담는 것</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비용 발견에는 절감액 추정 첨부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00B341"/>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운영에 녹아드는 방식</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티어 선택: Light / Mid / Deep(15+1섹션) + 모델 선택(표준·상위)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MD · DOCX · PDF 원클릭 내보내기 — 경영 보고서로 바로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비동기 워커 실행이라 진단이 돌아도 대시보드는 그대로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일회성 컨설팅이 아니라 '리뷰와 리뷰 사이'를 메우는 상시 관리</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0~100</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인프라 건강 점수 (6기둥 가중)</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분석 섹션 (의도 대비 실제 포함)</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diff</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리포트 간 변화 추적 (위반 중심)</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3형식</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MD · DOCX · PDF 내보내기</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05</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Live Demo &amp; Q&amp;A</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실제 운영 환경</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25분, 네 개의 실전 시나리오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통합 투어부터 WA 리포트까지 — 라이브 운영 환경 시연 로드맵</a:t>
            </a:r>
            <a:endParaRPr lang="en-US" sz="1400" dirty="0"/>
          </a:p>
        </p:txBody>
      </p:sp>
      <p:sp>
        <p:nvSpPr>
          <p:cNvPr id="4" name="Shape 2"/>
          <p:cNvSpPr/>
          <p:nvPr/>
        </p:nvSpPr>
        <p:spPr>
          <a:xfrm>
            <a:off x="841248" y="1828800"/>
            <a:ext cx="10509199" cy="621792"/>
          </a:xfrm>
          <a:prstGeom prst="roundRect">
            <a:avLst>
              <a:gd name="adj" fmla="val 14706"/>
            </a:avLst>
          </a:prstGeom>
          <a:solidFill>
            <a:srgbClr val="F4F4F8"/>
          </a:solidFill>
          <a:ln/>
        </p:spPr>
      </p:sp>
      <p:sp>
        <p:nvSpPr>
          <p:cNvPr id="5" name="Shape 3"/>
          <p:cNvSpPr/>
          <p:nvPr/>
        </p:nvSpPr>
        <p:spPr>
          <a:xfrm>
            <a:off x="914400" y="1938528"/>
            <a:ext cx="64008" cy="402336"/>
          </a:xfrm>
          <a:prstGeom prst="roundRect">
            <a:avLst>
              <a:gd name="adj" fmla="val 42857"/>
            </a:avLst>
          </a:prstGeom>
          <a:solidFill>
            <a:srgbClr val="3B82F6"/>
          </a:solidFill>
          <a:ln/>
        </p:spPr>
      </p:sp>
      <p:sp>
        <p:nvSpPr>
          <p:cNvPr id="6" name="Text 4"/>
          <p:cNvSpPr/>
          <p:nvPr/>
        </p:nvSpPr>
        <p:spPr>
          <a:xfrm>
            <a:off x="1078992" y="1828800"/>
            <a:ext cx="457200" cy="621792"/>
          </a:xfrm>
          <a:prstGeom prst="rect">
            <a:avLst/>
          </a:prstGeom>
          <a:noFill/>
          <a:ln/>
        </p:spPr>
        <p:txBody>
          <a:bodyPr wrap="square" lIns="0" tIns="0" rIns="0" bIns="0" rtlCol="0" anchor="ctr"/>
          <a:lstStyle/>
          <a:p>
            <a:pPr indent="0" marL="0">
              <a:buNone/>
            </a:pPr>
            <a:r>
              <a:rPr lang="en-US" sz="1600" b="1" dirty="0">
                <a:solidFill>
                  <a:srgbClr val="3B82F6"/>
                </a:solidFill>
                <a:latin typeface="Pretendard" pitchFamily="34" charset="0"/>
                <a:ea typeface="Pretendard" pitchFamily="34" charset="-122"/>
                <a:cs typeface="Pretendard" pitchFamily="34" charset="-120"/>
              </a:rPr>
              <a:t>⓪</a:t>
            </a:r>
            <a:endParaRPr lang="en-US" sz="1600" dirty="0"/>
          </a:p>
        </p:txBody>
      </p:sp>
      <p:sp>
        <p:nvSpPr>
          <p:cNvPr id="7" name="Text 5"/>
          <p:cNvSpPr/>
          <p:nvPr/>
        </p:nvSpPr>
        <p:spPr>
          <a:xfrm>
            <a:off x="1609344" y="1828800"/>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통합 대시보드 투어</a:t>
            </a:r>
            <a:endParaRPr lang="en-US" sz="1300" dirty="0"/>
          </a:p>
        </p:txBody>
      </p:sp>
      <p:sp>
        <p:nvSpPr>
          <p:cNvPr id="8" name="Text 6"/>
          <p:cNvSpPr/>
          <p:nvPr/>
        </p:nvSpPr>
        <p:spPr>
          <a:xfrm>
            <a:off x="4270248" y="1828800"/>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4′</a:t>
            </a:r>
            <a:endParaRPr lang="en-US" sz="1300" dirty="0"/>
          </a:p>
        </p:txBody>
      </p:sp>
      <p:sp>
        <p:nvSpPr>
          <p:cNvPr id="9" name="Text 7"/>
          <p:cNvSpPr/>
          <p:nvPr/>
        </p:nvSpPr>
        <p:spPr>
          <a:xfrm>
            <a:off x="4910328" y="1828800"/>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1050" dirty="0"/>
          </a:p>
        </p:txBody>
      </p:sp>
      <p:sp>
        <p:nvSpPr>
          <p:cNvPr id="10" name="Shape 8"/>
          <p:cNvSpPr/>
          <p:nvPr/>
        </p:nvSpPr>
        <p:spPr>
          <a:xfrm>
            <a:off x="841248" y="2578608"/>
            <a:ext cx="10509199" cy="621792"/>
          </a:xfrm>
          <a:prstGeom prst="roundRect">
            <a:avLst>
              <a:gd name="adj" fmla="val 14706"/>
            </a:avLst>
          </a:prstGeom>
          <a:solidFill>
            <a:srgbClr val="F4F4F8"/>
          </a:solidFill>
          <a:ln/>
        </p:spPr>
      </p:sp>
      <p:sp>
        <p:nvSpPr>
          <p:cNvPr id="11" name="Shape 9"/>
          <p:cNvSpPr/>
          <p:nvPr/>
        </p:nvSpPr>
        <p:spPr>
          <a:xfrm>
            <a:off x="914400" y="2688336"/>
            <a:ext cx="64008" cy="402336"/>
          </a:xfrm>
          <a:prstGeom prst="roundRect">
            <a:avLst>
              <a:gd name="adj" fmla="val 42857"/>
            </a:avLst>
          </a:prstGeom>
          <a:solidFill>
            <a:srgbClr val="8B5CF6"/>
          </a:solidFill>
          <a:ln/>
        </p:spPr>
      </p:sp>
      <p:sp>
        <p:nvSpPr>
          <p:cNvPr id="12" name="Text 10"/>
          <p:cNvSpPr/>
          <p:nvPr/>
        </p:nvSpPr>
        <p:spPr>
          <a:xfrm>
            <a:off x="1078992" y="2578608"/>
            <a:ext cx="457200" cy="621792"/>
          </a:xfrm>
          <a:prstGeom prst="rect">
            <a:avLst/>
          </a:prstGeom>
          <a:noFill/>
          <a:ln/>
        </p:spPr>
        <p:txBody>
          <a:bodyPr wrap="square" lIns="0" tIns="0" rIns="0" bIns="0" rtlCol="0" anchor="ctr"/>
          <a:lstStyle/>
          <a:p>
            <a:pPr indent="0" marL="0">
              <a:buNone/>
            </a:pPr>
            <a:r>
              <a:rPr lang="en-US" sz="1600" b="1" dirty="0">
                <a:solidFill>
                  <a:srgbClr val="8B5CF6"/>
                </a:solidFill>
                <a:latin typeface="Pretendard" pitchFamily="34" charset="0"/>
                <a:ea typeface="Pretendard" pitchFamily="34" charset="-122"/>
                <a:cs typeface="Pretendard" pitchFamily="34" charset="-120"/>
              </a:rPr>
              <a:t>①</a:t>
            </a:r>
            <a:endParaRPr lang="en-US" sz="1600" dirty="0"/>
          </a:p>
        </p:txBody>
      </p:sp>
      <p:sp>
        <p:nvSpPr>
          <p:cNvPr id="13" name="Text 11"/>
          <p:cNvSpPr/>
          <p:nvPr/>
        </p:nvSpPr>
        <p:spPr>
          <a:xfrm>
            <a:off x="1609344" y="2578608"/>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장애 원인 추적</a:t>
            </a:r>
            <a:endParaRPr lang="en-US" sz="1300" dirty="0"/>
          </a:p>
        </p:txBody>
      </p:sp>
      <p:sp>
        <p:nvSpPr>
          <p:cNvPr id="14" name="Text 12"/>
          <p:cNvSpPr/>
          <p:nvPr/>
        </p:nvSpPr>
        <p:spPr>
          <a:xfrm>
            <a:off x="4270248" y="2578608"/>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8′</a:t>
            </a:r>
            <a:endParaRPr lang="en-US" sz="1300" dirty="0"/>
          </a:p>
        </p:txBody>
      </p:sp>
      <p:sp>
        <p:nvSpPr>
          <p:cNvPr id="15" name="Text 13"/>
          <p:cNvSpPr/>
          <p:nvPr/>
        </p:nvSpPr>
        <p:spPr>
          <a:xfrm>
            <a:off x="4910328" y="2578608"/>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토폴로지 포커스 모드 → NFM E2E 홉 경로 → AI 인시던트 분석</a:t>
            </a:r>
            <a:endParaRPr lang="en-US" sz="1050" dirty="0"/>
          </a:p>
        </p:txBody>
      </p:sp>
      <p:sp>
        <p:nvSpPr>
          <p:cNvPr id="16" name="Shape 14"/>
          <p:cNvSpPr/>
          <p:nvPr/>
        </p:nvSpPr>
        <p:spPr>
          <a:xfrm>
            <a:off x="841248" y="3328416"/>
            <a:ext cx="10509199" cy="621792"/>
          </a:xfrm>
          <a:prstGeom prst="roundRect">
            <a:avLst>
              <a:gd name="adj" fmla="val 14706"/>
            </a:avLst>
          </a:prstGeom>
          <a:solidFill>
            <a:srgbClr val="F4F4F8"/>
          </a:solidFill>
          <a:ln/>
        </p:spPr>
      </p:sp>
      <p:sp>
        <p:nvSpPr>
          <p:cNvPr id="17" name="Shape 15"/>
          <p:cNvSpPr/>
          <p:nvPr/>
        </p:nvSpPr>
        <p:spPr>
          <a:xfrm>
            <a:off x="914400" y="3438144"/>
            <a:ext cx="64008" cy="402336"/>
          </a:xfrm>
          <a:prstGeom prst="roundRect">
            <a:avLst>
              <a:gd name="adj" fmla="val 42857"/>
            </a:avLst>
          </a:prstGeom>
          <a:solidFill>
            <a:srgbClr val="00B341"/>
          </a:solidFill>
          <a:ln/>
        </p:spPr>
      </p:sp>
      <p:sp>
        <p:nvSpPr>
          <p:cNvPr id="18" name="Text 16"/>
          <p:cNvSpPr/>
          <p:nvPr/>
        </p:nvSpPr>
        <p:spPr>
          <a:xfrm>
            <a:off x="1078992" y="3328416"/>
            <a:ext cx="457200" cy="621792"/>
          </a:xfrm>
          <a:prstGeom prst="rect">
            <a:avLst/>
          </a:prstGeom>
          <a:noFill/>
          <a:ln/>
        </p:spPr>
        <p:txBody>
          <a:bodyPr wrap="square" lIns="0" tIns="0" rIns="0" bIns="0" rtlCol="0" anchor="ctr"/>
          <a:lstStyle/>
          <a:p>
            <a:pPr indent="0" marL="0">
              <a:buNone/>
            </a:pPr>
            <a:r>
              <a:rPr lang="en-US" sz="1600" b="1" dirty="0">
                <a:solidFill>
                  <a:srgbClr val="00B341"/>
                </a:solidFill>
                <a:latin typeface="Pretendard" pitchFamily="34" charset="0"/>
                <a:ea typeface="Pretendard" pitchFamily="34" charset="-122"/>
                <a:cs typeface="Pretendard" pitchFamily="34" charset="-120"/>
              </a:rPr>
              <a:t>②</a:t>
            </a:r>
            <a:endParaRPr lang="en-US" sz="1600" dirty="0"/>
          </a:p>
        </p:txBody>
      </p:sp>
      <p:sp>
        <p:nvSpPr>
          <p:cNvPr id="19" name="Text 17"/>
          <p:cNvSpPr/>
          <p:nvPr/>
        </p:nvSpPr>
        <p:spPr>
          <a:xfrm>
            <a:off x="1609344" y="3328416"/>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비용 급증 원인 분석</a:t>
            </a:r>
            <a:endParaRPr lang="en-US" sz="1300" dirty="0"/>
          </a:p>
        </p:txBody>
      </p:sp>
      <p:sp>
        <p:nvSpPr>
          <p:cNvPr id="20" name="Text 18"/>
          <p:cNvSpPr/>
          <p:nvPr/>
        </p:nvSpPr>
        <p:spPr>
          <a:xfrm>
            <a:off x="4270248" y="3328416"/>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6′</a:t>
            </a:r>
            <a:endParaRPr lang="en-US" sz="1300" dirty="0"/>
          </a:p>
        </p:txBody>
      </p:sp>
      <p:sp>
        <p:nvSpPr>
          <p:cNvPr id="21" name="Text 19"/>
          <p:cNvSpPr/>
          <p:nvPr/>
        </p:nvSpPr>
        <p:spPr>
          <a:xfrm>
            <a:off x="4910328" y="3328416"/>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MoM 감지 → 서비스 변화율 → usage-type 드릴다운 → AI 비용 절감 분석</a:t>
            </a:r>
            <a:endParaRPr lang="en-US" sz="1050" dirty="0"/>
          </a:p>
        </p:txBody>
      </p:sp>
      <p:sp>
        <p:nvSpPr>
          <p:cNvPr id="22" name="Shape 20"/>
          <p:cNvSpPr/>
          <p:nvPr/>
        </p:nvSpPr>
        <p:spPr>
          <a:xfrm>
            <a:off x="841248" y="4078224"/>
            <a:ext cx="10509199" cy="621792"/>
          </a:xfrm>
          <a:prstGeom prst="roundRect">
            <a:avLst>
              <a:gd name="adj" fmla="val 14706"/>
            </a:avLst>
          </a:prstGeom>
          <a:solidFill>
            <a:srgbClr val="F4F4F8"/>
          </a:solidFill>
          <a:ln/>
        </p:spPr>
      </p:sp>
      <p:sp>
        <p:nvSpPr>
          <p:cNvPr id="23" name="Shape 21"/>
          <p:cNvSpPr/>
          <p:nvPr/>
        </p:nvSpPr>
        <p:spPr>
          <a:xfrm>
            <a:off x="914400" y="4187952"/>
            <a:ext cx="64008" cy="402336"/>
          </a:xfrm>
          <a:prstGeom prst="roundRect">
            <a:avLst>
              <a:gd name="adj" fmla="val 42857"/>
            </a:avLst>
          </a:prstGeom>
          <a:solidFill>
            <a:srgbClr val="E91E63"/>
          </a:solidFill>
          <a:ln/>
        </p:spPr>
      </p:sp>
      <p:sp>
        <p:nvSpPr>
          <p:cNvPr id="24" name="Text 22"/>
          <p:cNvSpPr/>
          <p:nvPr/>
        </p:nvSpPr>
        <p:spPr>
          <a:xfrm>
            <a:off x="1078992" y="4078224"/>
            <a:ext cx="457200" cy="621792"/>
          </a:xfrm>
          <a:prstGeom prst="rect">
            <a:avLst/>
          </a:prstGeom>
          <a:noFill/>
          <a:ln/>
        </p:spPr>
        <p:txBody>
          <a:bodyPr wrap="square" lIns="0" tIns="0" rIns="0" bIns="0" rtlCol="0" anchor="ctr"/>
          <a:lstStyle/>
          <a:p>
            <a:pPr indent="0" marL="0">
              <a:buNone/>
            </a:pPr>
            <a:r>
              <a:rPr lang="en-US" sz="1600" b="1" dirty="0">
                <a:solidFill>
                  <a:srgbClr val="E91E63"/>
                </a:solidFill>
                <a:latin typeface="Pretendard" pitchFamily="34" charset="0"/>
                <a:ea typeface="Pretendard" pitchFamily="34" charset="-122"/>
                <a:cs typeface="Pretendard" pitchFamily="34" charset="-120"/>
              </a:rPr>
              <a:t>③</a:t>
            </a:r>
            <a:endParaRPr lang="en-US" sz="1600" dirty="0"/>
          </a:p>
        </p:txBody>
      </p:sp>
      <p:sp>
        <p:nvSpPr>
          <p:cNvPr id="25" name="Text 23"/>
          <p:cNvSpPr/>
          <p:nvPr/>
        </p:nvSpPr>
        <p:spPr>
          <a:xfrm>
            <a:off x="1609344" y="4078224"/>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WA 6기둥 AI 리포트</a:t>
            </a:r>
            <a:endParaRPr lang="en-US" sz="1300" dirty="0"/>
          </a:p>
        </p:txBody>
      </p:sp>
      <p:sp>
        <p:nvSpPr>
          <p:cNvPr id="26" name="Text 24"/>
          <p:cNvSpPr/>
          <p:nvPr/>
        </p:nvSpPr>
        <p:spPr>
          <a:xfrm>
            <a:off x="4270248" y="4078224"/>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5′</a:t>
            </a:r>
            <a:endParaRPr lang="en-US" sz="1300" dirty="0"/>
          </a:p>
        </p:txBody>
      </p:sp>
      <p:sp>
        <p:nvSpPr>
          <p:cNvPr id="27" name="Text 25"/>
          <p:cNvSpPr/>
          <p:nvPr/>
        </p:nvSpPr>
        <p:spPr>
          <a:xfrm>
            <a:off x="4910328" y="4078224"/>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건강 점수 + 리포트 간 변화 + PDF 내보내기 + 라이브 실행(진행 패널)</a:t>
            </a:r>
            <a:endParaRPr lang="en-US" sz="1050" dirty="0"/>
          </a:p>
        </p:txBody>
      </p:sp>
      <p:sp>
        <p:nvSpPr>
          <p:cNvPr id="28" name="Shape 26"/>
          <p:cNvSpPr/>
          <p:nvPr/>
        </p:nvSpPr>
        <p:spPr>
          <a:xfrm>
            <a:off x="841248" y="4828032"/>
            <a:ext cx="10509199" cy="621792"/>
          </a:xfrm>
          <a:prstGeom prst="roundRect">
            <a:avLst>
              <a:gd name="adj" fmla="val 14706"/>
            </a:avLst>
          </a:prstGeom>
          <a:solidFill>
            <a:srgbClr val="F4F4F8"/>
          </a:solidFill>
          <a:ln/>
        </p:spPr>
      </p:sp>
      <p:sp>
        <p:nvSpPr>
          <p:cNvPr id="29" name="Shape 27"/>
          <p:cNvSpPr/>
          <p:nvPr/>
        </p:nvSpPr>
        <p:spPr>
          <a:xfrm>
            <a:off x="914400" y="4937760"/>
            <a:ext cx="64008" cy="402336"/>
          </a:xfrm>
          <a:prstGeom prst="roundRect">
            <a:avLst>
              <a:gd name="adj" fmla="val 42857"/>
            </a:avLst>
          </a:prstGeom>
          <a:solidFill>
            <a:srgbClr val="41B3FF"/>
          </a:solidFill>
          <a:ln/>
        </p:spPr>
      </p:sp>
      <p:sp>
        <p:nvSpPr>
          <p:cNvPr id="30" name="Text 28"/>
          <p:cNvSpPr/>
          <p:nvPr/>
        </p:nvSpPr>
        <p:spPr>
          <a:xfrm>
            <a:off x="1078992" y="4828032"/>
            <a:ext cx="457200" cy="621792"/>
          </a:xfrm>
          <a:prstGeom prst="rect">
            <a:avLst/>
          </a:prstGeom>
          <a:noFill/>
          <a:ln/>
        </p:spPr>
        <p:txBody>
          <a:bodyPr wrap="square" lIns="0" tIns="0" rIns="0" bIns="0" rtlCol="0" anchor="ctr"/>
          <a:lstStyle/>
          <a:p>
            <a:pPr indent="0" marL="0">
              <a:buNone/>
            </a:pPr>
            <a:r>
              <a:rPr lang="en-US" sz="1600" b="1" dirty="0">
                <a:solidFill>
                  <a:srgbClr val="41B3FF"/>
                </a:solidFill>
                <a:latin typeface="Pretendard" pitchFamily="34" charset="0"/>
                <a:ea typeface="Pretendard" pitchFamily="34" charset="-122"/>
                <a:cs typeface="Pretendard" pitchFamily="34" charset="-120"/>
              </a:rPr>
              <a:t>＋</a:t>
            </a:r>
            <a:endParaRPr lang="en-US" sz="1600" dirty="0"/>
          </a:p>
        </p:txBody>
      </p:sp>
      <p:sp>
        <p:nvSpPr>
          <p:cNvPr id="31" name="Text 29"/>
          <p:cNvSpPr/>
          <p:nvPr/>
        </p:nvSpPr>
        <p:spPr>
          <a:xfrm>
            <a:off x="1609344" y="4828032"/>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연동 · 계정 관리 클로징</a:t>
            </a:r>
            <a:endParaRPr lang="en-US" sz="1300" dirty="0"/>
          </a:p>
        </p:txBody>
      </p:sp>
      <p:sp>
        <p:nvSpPr>
          <p:cNvPr id="32" name="Text 30"/>
          <p:cNvSpPr/>
          <p:nvPr/>
        </p:nvSpPr>
        <p:spPr>
          <a:xfrm>
            <a:off x="4270248" y="4828032"/>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2′</a:t>
            </a:r>
            <a:endParaRPr lang="en-US" sz="1300" dirty="0"/>
          </a:p>
        </p:txBody>
      </p:sp>
      <p:sp>
        <p:nvSpPr>
          <p:cNvPr id="33" name="Text 31"/>
          <p:cNvSpPr/>
          <p:nvPr/>
        </p:nvSpPr>
        <p:spPr>
          <a:xfrm>
            <a:off x="4910328" y="4828032"/>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데이터소스 8종 등록 화면 + '추가 + 검증' — 읽기 전용 신뢰로 마무리</a:t>
            </a:r>
            <a:endParaRPr lang="en-US" sz="1050" dirty="0"/>
          </a:p>
        </p:txBody>
      </p:sp>
      <p:sp>
        <p:nvSpPr>
          <p:cNvPr id="34" name="Shape 32"/>
          <p:cNvSpPr/>
          <p:nvPr/>
        </p:nvSpPr>
        <p:spPr>
          <a:xfrm>
            <a:off x="841248" y="5687568"/>
            <a:ext cx="10509199" cy="0"/>
          </a:xfrm>
          <a:prstGeom prst="line">
            <a:avLst/>
          </a:prstGeom>
          <a:noFill/>
          <a:ln w="12700">
            <a:solidFill>
              <a:srgbClr val="D2D2D5"/>
            </a:solidFill>
            <a:prstDash val="solid"/>
          </a:ln>
        </p:spPr>
      </p:sp>
      <p:sp>
        <p:nvSpPr>
          <p:cNvPr id="35" name="Text 33"/>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25′</a:t>
            </a:r>
            <a:endParaRPr lang="en-US" sz="1600" dirty="0"/>
          </a:p>
        </p:txBody>
      </p:sp>
      <p:sp>
        <p:nvSpPr>
          <p:cNvPr id="36" name="Text 34"/>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총 데모 시간</a:t>
            </a:r>
            <a:endParaRPr lang="en-US" sz="900" dirty="0"/>
          </a:p>
        </p:txBody>
      </p:sp>
      <p:sp>
        <p:nvSpPr>
          <p:cNvPr id="37" name="Text 35"/>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4+1</a:t>
            </a:r>
            <a:endParaRPr lang="en-US" sz="1600" dirty="0"/>
          </a:p>
        </p:txBody>
      </p:sp>
      <p:sp>
        <p:nvSpPr>
          <p:cNvPr id="38" name="Text 36"/>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시나리오 수 (투어 + 클로징 포함)</a:t>
            </a:r>
            <a:endParaRPr lang="en-US" sz="900" dirty="0"/>
          </a:p>
        </p:txBody>
      </p:sp>
      <p:sp>
        <p:nvSpPr>
          <p:cNvPr id="39" name="Text 37"/>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40" name="Text 38"/>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실운영 환경 — 목업 없음</a:t>
            </a:r>
            <a:endParaRPr lang="en-US" sz="900" dirty="0"/>
          </a:p>
        </p:txBody>
      </p:sp>
      <p:sp>
        <p:nvSpPr>
          <p:cNvPr id="41" name="Text 39"/>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42" name="Text 40"/>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경고에서 조치 방법까지</a:t>
            </a:r>
            <a:endParaRPr lang="en-US" sz="900" dirty="0"/>
          </a:p>
        </p:txBody>
      </p:sp>
      <p:sp>
        <p:nvSpPr>
          <p:cNvPr id="43" name="Text 4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4"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5" name="Text 4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가장 많이 받는 질문, 셋</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"권한을 얼마나 줘야 하죠?"</a:t>
            </a:r>
            <a:endParaRPr lang="en-US" sz="1350" dirty="0"/>
          </a:p>
        </p:txBody>
      </p:sp>
      <p:sp>
        <p:nvSpPr>
          <p:cNvPr id="7" name="Text 5"/>
          <p:cNvSpPr/>
          <p:nvPr/>
        </p:nvSpPr>
        <p:spPr>
          <a:xfrm>
            <a:off x="1115568"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모니터링 대상 계정에는 쓰기 권한을 요구하지도, 받지도 않습니다(호스트 자신에 대한 단일 문서화 예외는 ADR-015 웹 재시작뿐).</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8B5CF6"/>
          </a:solidFill>
          <a:ln/>
        </p:spPr>
      </p:sp>
      <p:sp>
        <p:nvSpPr>
          <p:cNvPr id="10" name="Text 8"/>
          <p:cNvSpPr/>
          <p:nvPr/>
        </p:nvSpPr>
        <p:spPr>
          <a:xfrm>
            <a:off x="4725314"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"AI가 틀리면요?"</a:t>
            </a:r>
            <a:endParaRPr lang="en-US" sz="1350" dirty="0"/>
          </a:p>
        </p:txBody>
      </p:sp>
      <p:sp>
        <p:nvSpPr>
          <p:cNvPr id="11" name="Text 9"/>
          <p:cNvSpPr/>
          <p:nvPr/>
        </p:nvSpPr>
        <p:spPr>
          <a:xfrm>
            <a:off x="4725314"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00B341"/>
          </a:solidFill>
          <a:ln/>
        </p:spPr>
      </p:sp>
      <p:sp>
        <p:nvSpPr>
          <p:cNvPr id="14" name="Text 12"/>
          <p:cNvSpPr/>
          <p:nvPr/>
        </p:nvSpPr>
        <p:spPr>
          <a:xfrm>
            <a:off x="8335061"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"기존 도구는 버리나요?"</a:t>
            </a:r>
            <a:endParaRPr lang="en-US" sz="1350" dirty="0"/>
          </a:p>
        </p:txBody>
      </p:sp>
      <p:sp>
        <p:nvSpPr>
          <p:cNvPr id="15" name="Text 13"/>
          <p:cNvSpPr/>
          <p:nvPr/>
        </p:nvSpPr>
        <p:spPr>
          <a:xfrm>
            <a:off x="8335061"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역할 수 (ReadOnly)</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모델 학습에 쓰이는 고객 데이터</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그대로 유지되는 기존 관측 도구</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최악의 실패 모드 = 틀린 조언</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2743200"/>
            <a:ext cx="10058400" cy="1188720"/>
          </a:xfrm>
          <a:prstGeom prst="rect">
            <a:avLst/>
          </a:prstGeom>
          <a:noFill/>
          <a:ln/>
        </p:spPr>
        <p:txBody>
          <a:bodyPr wrap="square" rtlCol="0" anchor="ctr"/>
          <a:lstStyle/>
          <a:p>
            <a:pPr algn="l" indent="0" marL="0">
              <a:buNone/>
            </a:pPr>
            <a:r>
              <a:rPr lang="en-US" sz="5400" b="1" spc="-100" kern="0" dirty="0">
                <a:solidFill>
                  <a:srgbClr val="FFFFFF"/>
                </a:solidFill>
                <a:latin typeface="Pretendard" pitchFamily="34" charset="0"/>
                <a:ea typeface="Pretendard" pitchFamily="34" charset="-122"/>
                <a:cs typeface="Pretendard" pitchFamily="34" charset="-120"/>
              </a:rPr>
              <a:t>Thank you.</a:t>
            </a:r>
            <a:endParaRPr lang="en-US" sz="5400" dirty="0"/>
          </a:p>
        </p:txBody>
      </p:sp>
      <p:sp>
        <p:nvSpPr>
          <p:cNvPr id="3" name="Text 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5" name="Text 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2026-08-12T00:05:36Z</dcterms:created>
  <dcterms:modified xsi:type="dcterms:W3CDTF">2026-08-12T00:05:36Z</dcterms:modified>
</cp:coreProperties>
</file>